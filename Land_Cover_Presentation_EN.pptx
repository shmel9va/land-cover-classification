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782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day! My name is [Name], and together with [co-author] we are presenting our project "Land Cover Classification from Satellite Imagery using CNN and U-Net Architectures". The work was carried out at the Institute of Cybersecurity and Computer Science, Peter the Great St. Petersburg Polytechnic University, under the supervision of Mohamad Khalil. We designed and compared two convolutional neural networks on the EuroSAT dataset — a baseline SimpleCNN and a U-Net-based classifier. The talk will take around 20 to 25 minutes, and after that we will be happy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brief outline of our talk. First we will explain the practical motivation behind land cover classification and its connection to smart-city applications. Then we will briefly review existing approaches and their limitations, and present our own approach. Next we will describe the EuroSAT dataset in detail, followed by both neural network architectures — the baseline CNN and the U-Net classifier. We will cover the training procedure and the key hyperparameters. In the final part we will present numerical results, compare both models, and finish with conclusions and directions for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Automatic land cover classification is needed in several practical domains. </a:t>
            </a:r>
            <a:r>
              <a:rPr dirty="0"/>
              <a:t>In smart cities it supports monitoring of urban growth, transport infrastructure and green areas. In environmental science it helps track deforestation, water pollution and changes in river beds. In agriculture it is used to map crops and pastures in order to optimize yields. Thanks to the Copernicus mission and the Sentinel-2 satellites we now have a continuous stream of multispectral imagery with a 5-day revisit time. At this scale manual interpretation is simply not feasible, so automation is required. That is exactly the task we address: our dataset has 27,000 images, 10 classes, and a spatial resolution of 64 by 64 pixels.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goal is formulated as follows: to design and compare deep learning models capable of automatically classifying land cover types from Sentinel-2 imagery with high accuracy. To achieve this, we set three objectives. First, to build a baseline convolutional network — SimpleCNN — as a simple and fast reference point. Second, to adapt the U-Net architecture, which is usually used for segmentation, to the task of whole-scene classification. And third, to provide a fair comparison of both models on the same data split and the same metrics.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task of land cover classification has been studied extensively. The EuroSAT dataset we use was introduced by Helber and colleagues in 2019. In the same paper they show that deep networks such as ResNet, fine-tuned from ImageNet, can reach more than 98% accuracy on this benchmark. The U-Net architecture was proposed by Ronneberger in 2015 for biomedical image segmentation and has since been widely adopted in remote sensing thanks to its skip connections. Maggiori demonstrated that fully convolutional networks work well for pixel-wise labeling, and Nogueira carried out a detailed comparison of CNN architectures, emphasizing the importance of transfer learning. Separately, ResNet and attention mechanisms represent the main directions against which our work should be positioned.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Existing approaches face several important limitations. First, the most accurate models rely on very deep networks pre-trained on ImageNet, but there is a domain gap between natural photographs and satellite imagery. Second, multispectral methods require additional sensor hardware. Third, the majority of published work focuses on pixel-level segmentation rather than whole-scene classification. Finally, high computational cost and black-box behavior are barriers to deployment in smart cities. In our work we perform a systematic comparison between a lightweight CNN and a U-Net-based classifier. The key novelty is that we repurpose U-Net: instead of producing a pixel-wise map, we attach a global average pooling layer and a fully connected head, turning a segmentation architecture into a scene classifier. Both models are trained from scratch, without any ImageNet pre-training, and we use a fixed seed so that results are fully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our dataset we use EuroSAT — 27,000 patches acquired by the Sentinel-2 satellites as part of the European Copernicus programme. Sentinel-2 provides multispectral imagery with a spatial resolution of 10 to 60 meters per pixel and a revisit time of 5 days, which makes it a near-ideal source for land cover monitoring. Each patch is 64 by 64 pixels. In this work we use the RGB version of EuroSAT — that is, 3 of the 13 spectral bands — and normalize the images using ImageNet statistics. The dataset covers 10 classes: annual crop, forest, herbaceous vegetation, highway, industrial areas, pasture, permanent crop, residential, river, and sea / lake. The distribution is not perfectly balanced: some classes contain 3,000 samples, others 2,000 or 2,500.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fair training and evaluation we split the dataset 70 / 15 / 15 — about 19,000 images for training and 4,000 each for validation and test. The split is performed via torchvision's ImageFolder and torch.random_split with a fixed seed of 42. Because of this, train.py and evaluate.py always work with the same test subset, no matter how many times the pipeline is re-run. An important principle: the validation set is used only to select the best epoch by minimum validation loss. The test set is not used during training at all and is touched only once at the very end. This protects us from data leakage and gives an honest estimate of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model — SimpleCNN — is our baseline, deliberately kept simple. It consists of three convolutional blocks. Each block has a 3 by 3 convolution with padding of 1, followed by batch normalization, a ReLU activation, and a 2 by 2 max-pooling. The number of channels grows progressively: 3, 32, 64, 128, while the spatial size is halved at each step: 64, 32, 16, 8. After the third block we flatten the feature map into a vector of 8,192 features, which is then fed into two fully connected layers — first to 512 neurons with Dropout 0.5, and then to 10, one per class. In total the network has about 4.5 million parameters and occupies roughly 17 MB. Batch Normalization is critical here — in our preliminary experiments removing it dropped final accuracy by about 3%. Dropout protects the large fully connected layer from overfitting.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model — U-Net Classifier — is our main architecture. A classical U-Net has an encoder that progressively downsamples the image while increasing the number of channels, and a decoder that does the opposite — restoring spatial resolution while reducing channels. Between them, skip connections concatenate encoder features into the matching decoder level to recover fine details. Our encoder goes through 3 → 64 → 128 → 256 → 512 channels using DoubleConv blocks, which are two consecutive 3 by 3 convolutions with BatchNorm and ReLU. The decoder mirrors this: transposed convolutions, skip concatenation, then another DoubleConv. The key difference from the classical U-Net is the output: instead of a per-pixel probability map we add AdaptiveAvgPool to 1 by 1 and a single fully connected layer to 10 classes. In other words, a segmentation network is turned into a scene classifier. The model has about 8 million parameters and weighs roughly 31 MB — 1.8 times more than the baseline CNN, but as we will see this is well justified by the gain in accuracy.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models are trained under identical conditions: Adam optimizer with learning rate 0.001, cross-entropy loss, batch size 64, up to 50 epochs, on a GPU. The key element is early stopping. After each epoch we compute the validation loss. If it improves by more than min_delta we save the weights as the best checkpoint. If there is no improvement for five epochs in a row, we stop training. For SimpleCNN min_delta is 0.001, for U-Net it is 0.0, which means we accept any improvement. This gives us two useful effects. First, protection from overfitting — we do not keep training after validation starts to degrade. Second, a time saving — for SimpleCNN we saved 34 epochs, and 21 for U-Net. And once again, final metrics are computed only on the test set; the best epoch is chosen strictly on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our experiments we identified five hyperparameters that affect the result the most. The first is the learning rate. Adam with 0.001 converges stably for both models; a value of 0.01 caused instability in the early epochs. The second is the dropout of 0.5 in the fully connected layer of SimpleCNN. Without it, after the eighth epoch validation loss starts to rise while training loss keeps falling — a clear sign of overfitting. The third is the patience of 5 for early stopping. This is a compromise: shorter patience stopped training too early, longer patience did not help because the model had already started overfitting. The fourth is batch size 64. It balances gradient noise and GPU memory nicely. The fifth is batch normalization. This is a critical building block — without it, final accuracy dropped by roughly 3 percentage points in preliminary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results. First, SimpleCNN. It converged fairly quickly — the best validation loss of 0.31 was reached at epoch 11, and early stopping triggered at epoch 16. On the test set of 4,050 images the model achieves 89.23% accuracy, a weighted F1 of 0.893, precision of 0.896, and recall of 0.892. This is already a solid baseline. Per class, the best results are on visually distinctive types: forest at F1 0.954, sea/lake at 0.948, and residential at 0.939. The hardest classes are HerbaceousVegetation, PermanentCrop and River, with F1 around 0.82 to 0.84. This is expected: herbaceous vegetation and permanent crops look visually similar to each other and to pastures, while rivers are often confused with neighboring classes such as highways and agricultural fields. In the confusion matrix on the left you can see that most of the confusion is concentrated exactly in these groups.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U-Net. It takes longer to train — the best validation loss of 0.112 is reached at epoch 24, and training stops at epoch 29. But the results are substantially better. On the test set U-Net achieves 96.10% accuracy, a weighted F1 of 0.961, precision 0.961 and recall 0.961. What is particularly striking is that the improvement is uniform across all classes, not only the easy ones. The best class — Residential — goes from 0.94 to 0.99 in F1, meaning residential areas are recognized almost perfectly. Highway and SeaLake are around 0.98. And the hardest classes for the baseline — River and PermanentCrop — rise to 0.95 and 0.94 respectively. On the confusion matrix on the left you can see that it became notably cleaner: errors are concentrated along the main diagonal. This tells us that the architectural improvement gives a systematic gain, not a localized one.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put everything into a single table. U-Net outperforms SimpleCNN on essentially every key metric. Accuracy grows by almost 7 percentage points, from 89.23 to 96.10. F1 improves by 0.068, validation loss drops by 64 percent. The worst-class F1 — River — rises from 0.836 to 0.951, an absolute gain of 0.115, which is huge for a border class. The price of these gains is a model that is 1.8 times larger in parameters and takes roughly twice as many epochs to converge. But this is fully justified by quality. Why does U-Net win? First, skip connections pass fine detail from early layers to the decoder, in parallel with abstract context from deep layers. Second, DoubleConv blocks double the effective receptive field at each level. Third, the hierarchy itself is deeper — 4 encoder stages versus 3 in the baseline CNN.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We solved a multi-class land cover classification task on the EuroSAT dataset — 27,000 RGB Sentinel-2 images, 10 classes. The baseline SimpleCNN reached 89.23% accuracy — a solid reference point. The U-Net Classifier significantly improved on it, reaching 96.10%, an improvement of 6.87 percentage points, and crucially the improvement is consistent across all classes, with the biggest gains on the hardest ones. The architectural lesson: skip connections and hierarchical feature reuse are the key to quality on satellite imagery — they let the network simultaneously see global context and fine spatial detail. The engineering lesson: thanks to a fixed seed, a Docker container and a modular train.py → evaluate.py pipeline, the experiment is fully reproducible. Practically, the results are directly applicable to smart-city monitoring, environmental science and agriculture.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see several directions for future work. First — use all 13 Sentinel-2 spectral bands instead of just RGB. The near-infrared and short-wave infrared bands are especially informative for vegetation and soil moisture analysis. Second — data augmentation: random flips, rotations and spectral jitter. This should especially help the under-represented classes such as Pasture. Third — transfer learning: use ResNet-50 or EfficientNet pre-trained on ImageNet as the U-Net encoder. Fourth — temporal fusion: combine multiple observation dates from the same location to distinguish crops by their seasonal dynamics. And fifth — interpretability: Grad-CAM would let us show planners and decision makers which regions of the image influenced a particular prediction. This is an important step from a black-box model toward practical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concludes our talk. Thank you for your attention — we are now happy to take any questions you may have.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do you use only RGB bands and not all 13 spectral bands of Sentinel-2?</a:t>
            </a:r>
          </a:p>
          <a:p>
            <a:endParaRPr/>
          </a:p>
          <a:p>
            <a:r>
              <a:t>Answer: This is a deliberate simplification. First, the RGB version of EuroSAT is widely used as a standard benchmark and makes our results directly comparable with other published work. Second, we wanted to measure the contribution of the architecture itself, not of extra spectral information. Moving to all 13 bands is one of the key directions for our future work; it should especially help the vegetation-related classes thanks to the NIR and SWIR bands.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does U-Net, designed for segmentation, work as a classifier?</a:t>
            </a:r>
          </a:p>
          <a:p>
            <a:endParaRPr/>
          </a:p>
          <a:p>
            <a:r>
              <a:t>Answer: We adapted it: we removed the head that predicts a per-pixel mask and replaced it with AdaptiveAvgPool, which collapses all spatial features into a single 64-dimensional vector, plus a single fully connected layer to 10 classes. The encoder, decoder and skip connections remain — so the model still extracts multi-scale features, it just outputs one label per image instead of a map.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do you select the best epoch by val_loss and not val_accuracy?</a:t>
            </a:r>
          </a:p>
          <a:p>
            <a:endParaRPr/>
          </a:p>
          <a:p>
            <a:r>
              <a:t>Answer: val_loss is a more sensitive, continuous signal. Accuracy is stepwise — two networks can have identical accuracy but very different confidence. Loss captures that confidence and usually starts to degrade earlier than accuracy, meaning the overfitting signal appears in the loss before accuracy visibly drops. Selection by val_loss therefore typically yields more stable checkpoints.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is there no data augmentation in the training loop?</a:t>
            </a:r>
          </a:p>
          <a:p>
            <a:endParaRPr/>
          </a:p>
          <a:p>
            <a:r>
              <a:t>Answer: In this version we deliberately skipped augmentation to get a clean comparison of the two architectures under identical conditions, without extra factors that complicate interpretation. Augmentation is a natural next step and will likely help SimpleCNN more than U-Net, because the baseline has more room to under-fit and less built-in robustness.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Which classes are confused most often and why?</a:t>
            </a:r>
          </a:p>
          <a:p>
            <a:endParaRPr/>
          </a:p>
          <a:p>
            <a:r>
              <a:t>Answer: For SimpleCNN the hardest are River (F1 = 0.836) and PermanentCrop (F1 = 0.833). At 10 m per pixel a river often appears as a thin strip easily confused with a highway or the surrounding fields. PermanentCrop — orchards and vineyards — is visually very similar to AnnualCrop and HerbaceousVegetation in texture. For U-Net these are still relatively harder, but they rise to 0.95 and 0.94 — skip connections help exactly with such borderline cases.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U-Net is 1.8× larger and takes almost twice as long to train — is that worth it?</a:t>
            </a:r>
          </a:p>
          <a:p>
            <a:endParaRPr/>
          </a:p>
          <a:p>
            <a:r>
              <a:t>Answer: Yes: the accuracy gain is almost 7 percentage points, the validation loss drops by 64 percent, and the worst-class F1 improves by 0.115. This is not a marginal gain; it is a qualitative change for the hard classes. For inference the extra 30 MB is a very small cost, and training is a one-time expense.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How do you guard against data leakage between train, val and test?</a:t>
            </a:r>
          </a:p>
          <a:p>
            <a:endParaRPr/>
          </a:p>
          <a:p>
            <a:r>
              <a:t>Answer: We use torchvision.random_split with a fixed seed of 42. This guarantees that training and evaluation scripts see exactly the same split, even across independent runs. The test set is never used for hyperparameter or checkpoint selection — only for the final metrics. The validation set is used solely for early stopping. That gives us an honest, non-inflated estimate of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BatchNorm rather than LayerNorm or GroupNorm?</a:t>
            </a:r>
          </a:p>
          <a:p>
            <a:endParaRPr/>
          </a:p>
          <a:p>
            <a:r>
              <a:t>Answer: Batch Normalization is the standard, well-understood choice for convolutional networks with medium-sized batches (64 in our case). It normalizes activations within a batch, reducing internal covariate shift and accelerating convergence. In our preliminary experiments removing it dropped accuracy by about 3%. LayerNorm and GroupNorm would be more useful with very small batches or in transformer architectures, but here BN does the job.</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Why is F1 averaged with the 'weighted' setting?</a:t>
            </a:r>
          </a:p>
          <a:p>
            <a:endParaRPr/>
          </a:p>
          <a:p>
            <a:r>
              <a:t>Answer: 'Weighted' means each class's F1 is weighted by the number of samples in the test set. This correctly reflects the real class balance: we have 2,000 Pasture samples versus 3,000 Forest samples. Macro averaging would give rare and frequent classes equal weight, distorting the metric relative to the real distribution. Weighted gives a more realistic picture for practical use.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How do you ensure reproducibility of the experiments?</a:t>
            </a:r>
          </a:p>
          <a:p>
            <a:endParaRPr/>
          </a:p>
          <a:p>
            <a:r>
              <a:t>Answer: Through four measures. First, the fixed seed 42 in random_split ensures the same data partition across all runs. Second, pipeline.py launches train.py and evaluate.py with the same Python interpreter via sys.executable — no discrepancies between the venv and the system Python. Third, the Dockerfile pins the Python version and the requirements. Fourth, all hyperparameters are stored in results/*_training_summary.json and all metrics in *_metrics.json, so any run is fully reconstructible.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0"/>
            <a:ext cx="12191695"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698480" cy="457200"/>
          </a:xfrm>
          <a:prstGeom prst="rect">
            <a:avLst/>
          </a:prstGeom>
          <a:noFill/>
        </p:spPr>
        <p:txBody>
          <a:bodyPr wrap="square" lIns="45720" tIns="18288" rIns="45720" bIns="18288" anchor="t">
            <a:spAutoFit/>
          </a:bodyPr>
          <a:lstStyle/>
          <a:p>
            <a:pPr algn="l"/>
            <a:r>
              <a:rPr sz="1600" b="0">
                <a:solidFill>
                  <a:srgbClr val="FFFFFF"/>
                </a:solidFill>
                <a:latin typeface="Calibri"/>
              </a:rPr>
              <a:t>Peter the Great St. Petersburg Polytechnic University</a:t>
            </a:r>
          </a:p>
        </p:txBody>
      </p:sp>
      <p:sp>
        <p:nvSpPr>
          <p:cNvPr id="5" name="TextBox 4"/>
          <p:cNvSpPr txBox="1"/>
          <p:nvPr/>
        </p:nvSpPr>
        <p:spPr>
          <a:xfrm>
            <a:off x="731520" y="1234440"/>
            <a:ext cx="10698480" cy="365760"/>
          </a:xfrm>
          <a:prstGeom prst="rect">
            <a:avLst/>
          </a:prstGeom>
          <a:noFill/>
        </p:spPr>
        <p:txBody>
          <a:bodyPr wrap="square" lIns="45720" tIns="18288" rIns="45720" bIns="18288" anchor="t">
            <a:spAutoFit/>
          </a:bodyPr>
          <a:lstStyle/>
          <a:p>
            <a:pPr algn="l"/>
            <a:r>
              <a:rPr sz="1400" b="0">
                <a:solidFill>
                  <a:srgbClr val="F5F7FA"/>
                </a:solidFill>
                <a:latin typeface="Calibri"/>
              </a:rPr>
              <a:t>Institute of Cybersecurity and Computer Science</a:t>
            </a:r>
          </a:p>
        </p:txBody>
      </p:sp>
      <p:sp>
        <p:nvSpPr>
          <p:cNvPr id="6" name="TextBox 5"/>
          <p:cNvSpPr txBox="1"/>
          <p:nvPr/>
        </p:nvSpPr>
        <p:spPr>
          <a:xfrm>
            <a:off x="731520" y="2103120"/>
            <a:ext cx="10698480" cy="1188720"/>
          </a:xfrm>
          <a:prstGeom prst="rect">
            <a:avLst/>
          </a:prstGeom>
          <a:noFill/>
        </p:spPr>
        <p:txBody>
          <a:bodyPr wrap="square" lIns="45720" tIns="18288" rIns="45720" bIns="18288" anchor="t">
            <a:spAutoFit/>
          </a:bodyPr>
          <a:lstStyle/>
          <a:p>
            <a:pPr algn="l"/>
            <a:r>
              <a:rPr sz="4800" b="1">
                <a:solidFill>
                  <a:srgbClr val="FFFFFF"/>
                </a:solidFill>
                <a:latin typeface="Calibri"/>
              </a:rPr>
              <a:t>Land Cover Classification</a:t>
            </a:r>
          </a:p>
        </p:txBody>
      </p:sp>
      <p:sp>
        <p:nvSpPr>
          <p:cNvPr id="7" name="TextBox 6"/>
          <p:cNvSpPr txBox="1"/>
          <p:nvPr/>
        </p:nvSpPr>
        <p:spPr>
          <a:xfrm>
            <a:off x="731520" y="2926080"/>
            <a:ext cx="10698480" cy="914400"/>
          </a:xfrm>
          <a:prstGeom prst="rect">
            <a:avLst/>
          </a:prstGeom>
          <a:noFill/>
        </p:spPr>
        <p:txBody>
          <a:bodyPr wrap="square" lIns="45720" tIns="18288" rIns="45720" bIns="18288" anchor="t">
            <a:spAutoFit/>
          </a:bodyPr>
          <a:lstStyle/>
          <a:p>
            <a:pPr algn="l"/>
            <a:r>
              <a:rPr sz="3200" b="0">
                <a:solidFill>
                  <a:srgbClr val="F5F7FA"/>
                </a:solidFill>
                <a:latin typeface="Calibri"/>
              </a:rPr>
              <a:t>from Satellite Imagery using CNN and U-Net</a:t>
            </a:r>
          </a:p>
        </p:txBody>
      </p:sp>
      <p:sp>
        <p:nvSpPr>
          <p:cNvPr id="8" name="TextBox 7"/>
          <p:cNvSpPr txBox="1"/>
          <p:nvPr/>
        </p:nvSpPr>
        <p:spPr>
          <a:xfrm>
            <a:off x="731520" y="5029200"/>
            <a:ext cx="10698480" cy="313932"/>
          </a:xfrm>
          <a:prstGeom prst="rect">
            <a:avLst/>
          </a:prstGeom>
          <a:noFill/>
        </p:spPr>
        <p:txBody>
          <a:bodyPr wrap="square" lIns="45720" tIns="18288" rIns="45720" bIns="18288" anchor="t">
            <a:spAutoFit/>
          </a:bodyPr>
          <a:lstStyle/>
          <a:p>
            <a:pPr algn="l"/>
            <a:r>
              <a:rPr sz="1800" b="1" dirty="0">
                <a:solidFill>
                  <a:srgbClr val="FFFFFF"/>
                </a:solidFill>
                <a:latin typeface="Calibri"/>
              </a:rPr>
              <a:t>Authors:  </a:t>
            </a:r>
            <a:r>
              <a:rPr sz="1800" b="1" dirty="0" err="1">
                <a:solidFill>
                  <a:srgbClr val="FFFFFF"/>
                </a:solidFill>
                <a:latin typeface="Calibri"/>
              </a:rPr>
              <a:t>Khrest</a:t>
            </a:r>
            <a:r>
              <a:rPr lang="en-GB" b="1" dirty="0" err="1">
                <a:solidFill>
                  <a:srgbClr val="FFFFFF"/>
                </a:solidFill>
                <a:latin typeface="Calibri"/>
              </a:rPr>
              <a:t>ia</a:t>
            </a:r>
            <a:r>
              <a:rPr sz="1800" b="1" dirty="0" err="1">
                <a:solidFill>
                  <a:srgbClr val="FFFFFF"/>
                </a:solidFill>
                <a:latin typeface="Calibri"/>
              </a:rPr>
              <a:t>novski</a:t>
            </a:r>
            <a:r>
              <a:rPr lang="en-GB" sz="1800" b="1" dirty="0" err="1">
                <a:solidFill>
                  <a:srgbClr val="FFFFFF"/>
                </a:solidFill>
                <a:latin typeface="Calibri"/>
              </a:rPr>
              <a:t>i</a:t>
            </a:r>
            <a:r>
              <a:rPr sz="1800" b="1" dirty="0">
                <a:solidFill>
                  <a:srgbClr val="FFFFFF"/>
                </a:solidFill>
                <a:latin typeface="Calibri"/>
              </a:rPr>
              <a:t> Daniil,  Shmeleva Mariia</a:t>
            </a:r>
          </a:p>
        </p:txBody>
      </p:sp>
      <p:sp>
        <p:nvSpPr>
          <p:cNvPr id="9" name="TextBox 8"/>
          <p:cNvSpPr txBox="1"/>
          <p:nvPr/>
        </p:nvSpPr>
        <p:spPr>
          <a:xfrm>
            <a:off x="731520" y="5440680"/>
            <a:ext cx="10698480" cy="365760"/>
          </a:xfrm>
          <a:prstGeom prst="rect">
            <a:avLst/>
          </a:prstGeom>
          <a:noFill/>
        </p:spPr>
        <p:txBody>
          <a:bodyPr wrap="square" lIns="45720" tIns="18288" rIns="45720" bIns="18288" anchor="t">
            <a:spAutoFit/>
          </a:bodyPr>
          <a:lstStyle/>
          <a:p>
            <a:pPr algn="l"/>
            <a:r>
              <a:rPr sz="1600" b="0">
                <a:solidFill>
                  <a:srgbClr val="F5F7FA"/>
                </a:solidFill>
                <a:latin typeface="Calibri"/>
              </a:rPr>
              <a:t>Supervisor:  Mohamad Khalil</a:t>
            </a:r>
          </a:p>
        </p:txBody>
      </p:sp>
      <p:sp>
        <p:nvSpPr>
          <p:cNvPr id="10" name="TextBox 9"/>
          <p:cNvSpPr txBox="1"/>
          <p:nvPr/>
        </p:nvSpPr>
        <p:spPr>
          <a:xfrm>
            <a:off x="731520" y="5852160"/>
            <a:ext cx="10698480" cy="365760"/>
          </a:xfrm>
          <a:prstGeom prst="rect">
            <a:avLst/>
          </a:prstGeom>
          <a:noFill/>
        </p:spPr>
        <p:txBody>
          <a:bodyPr wrap="square" lIns="45720" tIns="18288" rIns="45720" bIns="18288" anchor="t">
            <a:spAutoFit/>
          </a:bodyPr>
          <a:lstStyle/>
          <a:p>
            <a:pPr algn="l"/>
            <a:r>
              <a:rPr sz="1400" b="0">
                <a:solidFill>
                  <a:srgbClr val="F5F7FA"/>
                </a:solidFill>
                <a:latin typeface="Calibri"/>
              </a:rPr>
              <a:t>Dataset: EuroSAT  •  PyTorch  •  Sentinel-2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Agenda</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2 / 18</a:t>
            </a:r>
          </a:p>
        </p:txBody>
      </p:sp>
      <p:sp>
        <p:nvSpPr>
          <p:cNvPr id="6" name="TextBox 5"/>
          <p:cNvSpPr txBox="1"/>
          <p:nvPr/>
        </p:nvSpPr>
        <p:spPr>
          <a:xfrm>
            <a:off x="731520" y="1554480"/>
            <a:ext cx="5486400" cy="5029200"/>
          </a:xfrm>
          <a:prstGeom prst="rect">
            <a:avLst/>
          </a:prstGeom>
          <a:noFill/>
        </p:spPr>
        <p:txBody>
          <a:bodyPr wrap="square" lIns="45720" rIns="45720">
            <a:spAutoFit/>
          </a:bodyPr>
          <a:lstStyle/>
          <a:p>
            <a:pPr algn="l">
              <a:lnSpc>
                <a:spcPct val="125000"/>
              </a:lnSpc>
            </a:pPr>
            <a:r>
              <a:rPr sz="2000" b="1" dirty="0">
                <a:solidFill>
                  <a:srgbClr val="2E86DE"/>
                </a:solidFill>
                <a:latin typeface="Calibri"/>
              </a:rPr>
              <a:t>▸  </a:t>
            </a:r>
            <a:r>
              <a:rPr sz="2000" dirty="0">
                <a:solidFill>
                  <a:srgbClr val="1F2D3D"/>
                </a:solidFill>
                <a:latin typeface="Calibri"/>
              </a:rPr>
              <a:t>1.  Motivation and goal</a:t>
            </a:r>
          </a:p>
          <a:p>
            <a:pPr algn="l">
              <a:lnSpc>
                <a:spcPct val="125000"/>
              </a:lnSpc>
            </a:pPr>
            <a:r>
              <a:rPr sz="2000" b="1" dirty="0">
                <a:solidFill>
                  <a:srgbClr val="2E86DE"/>
                </a:solidFill>
                <a:latin typeface="Calibri"/>
              </a:rPr>
              <a:t>▸  </a:t>
            </a:r>
            <a:r>
              <a:rPr sz="2000" dirty="0">
                <a:solidFill>
                  <a:srgbClr val="1F2D3D"/>
                </a:solidFill>
                <a:latin typeface="Calibri"/>
              </a:rPr>
              <a:t>2.  Related work</a:t>
            </a:r>
          </a:p>
          <a:p>
            <a:pPr algn="l">
              <a:lnSpc>
                <a:spcPct val="125000"/>
              </a:lnSpc>
            </a:pPr>
            <a:r>
              <a:rPr sz="2000" b="1" dirty="0">
                <a:solidFill>
                  <a:srgbClr val="2E86DE"/>
                </a:solidFill>
                <a:latin typeface="Calibri"/>
              </a:rPr>
              <a:t>▸  </a:t>
            </a:r>
            <a:r>
              <a:rPr sz="2000" dirty="0">
                <a:solidFill>
                  <a:srgbClr val="1F2D3D"/>
                </a:solidFill>
                <a:latin typeface="Calibri"/>
              </a:rPr>
              <a:t>3.  Proposed approach</a:t>
            </a:r>
          </a:p>
          <a:p>
            <a:pPr algn="l">
              <a:lnSpc>
                <a:spcPct val="125000"/>
              </a:lnSpc>
            </a:pPr>
            <a:r>
              <a:rPr sz="2000" b="1" dirty="0">
                <a:solidFill>
                  <a:srgbClr val="2E86DE"/>
                </a:solidFill>
                <a:latin typeface="Calibri"/>
              </a:rPr>
              <a:t>▸  </a:t>
            </a:r>
            <a:r>
              <a:rPr sz="2000" dirty="0">
                <a:solidFill>
                  <a:srgbClr val="1F2D3D"/>
                </a:solidFill>
                <a:latin typeface="Calibri"/>
              </a:rPr>
              <a:t>4.  </a:t>
            </a:r>
            <a:r>
              <a:rPr sz="2000" dirty="0" err="1">
                <a:solidFill>
                  <a:srgbClr val="1F2D3D"/>
                </a:solidFill>
                <a:latin typeface="Calibri"/>
              </a:rPr>
              <a:t>EuroSAT</a:t>
            </a:r>
            <a:r>
              <a:rPr sz="2000" dirty="0">
                <a:solidFill>
                  <a:srgbClr val="1F2D3D"/>
                </a:solidFill>
                <a:latin typeface="Calibri"/>
              </a:rPr>
              <a:t> dataset</a:t>
            </a:r>
          </a:p>
          <a:p>
            <a:pPr algn="l">
              <a:lnSpc>
                <a:spcPct val="125000"/>
              </a:lnSpc>
            </a:pPr>
            <a:r>
              <a:rPr sz="2000" b="1" dirty="0">
                <a:solidFill>
                  <a:srgbClr val="2E86DE"/>
                </a:solidFill>
                <a:latin typeface="Calibri"/>
              </a:rPr>
              <a:t>▸  </a:t>
            </a:r>
            <a:r>
              <a:rPr sz="2000" dirty="0">
                <a:solidFill>
                  <a:srgbClr val="1F2D3D"/>
                </a:solidFill>
                <a:latin typeface="Calibri"/>
              </a:rPr>
              <a:t>5.  </a:t>
            </a:r>
            <a:r>
              <a:rPr sz="2000" dirty="0" err="1">
                <a:solidFill>
                  <a:srgbClr val="1F2D3D"/>
                </a:solidFill>
                <a:latin typeface="Calibri"/>
              </a:rPr>
              <a:t>SimpleCNN</a:t>
            </a:r>
            <a:r>
              <a:rPr sz="2000" dirty="0">
                <a:solidFill>
                  <a:srgbClr val="1F2D3D"/>
                </a:solidFill>
                <a:latin typeface="Calibri"/>
              </a:rPr>
              <a:t> architecture</a:t>
            </a:r>
          </a:p>
        </p:txBody>
      </p:sp>
      <p:sp>
        <p:nvSpPr>
          <p:cNvPr id="7" name="TextBox 6"/>
          <p:cNvSpPr txBox="1"/>
          <p:nvPr/>
        </p:nvSpPr>
        <p:spPr>
          <a:xfrm>
            <a:off x="6400800" y="1554480"/>
            <a:ext cx="5303520" cy="5029200"/>
          </a:xfrm>
          <a:prstGeom prst="rect">
            <a:avLst/>
          </a:prstGeom>
          <a:noFill/>
        </p:spPr>
        <p:txBody>
          <a:bodyPr wrap="square" lIns="45720" rIns="45720">
            <a:spAutoFit/>
          </a:bodyPr>
          <a:lstStyle/>
          <a:p>
            <a:pPr algn="l">
              <a:lnSpc>
                <a:spcPct val="125000"/>
              </a:lnSpc>
            </a:pPr>
            <a:r>
              <a:rPr sz="2000" b="1">
                <a:solidFill>
                  <a:srgbClr val="2E86DE"/>
                </a:solidFill>
                <a:latin typeface="Calibri"/>
              </a:rPr>
              <a:t>▸  </a:t>
            </a:r>
            <a:r>
              <a:rPr sz="2000">
                <a:solidFill>
                  <a:srgbClr val="1F2D3D"/>
                </a:solidFill>
                <a:latin typeface="Calibri"/>
              </a:rPr>
              <a:t>6.  U-Net Classifier architecture</a:t>
            </a:r>
          </a:p>
          <a:p>
            <a:pPr algn="l">
              <a:lnSpc>
                <a:spcPct val="125000"/>
              </a:lnSpc>
            </a:pPr>
            <a:r>
              <a:rPr sz="2000" b="1">
                <a:solidFill>
                  <a:srgbClr val="2E86DE"/>
                </a:solidFill>
                <a:latin typeface="Calibri"/>
              </a:rPr>
              <a:t>▸  </a:t>
            </a:r>
            <a:r>
              <a:rPr sz="2000">
                <a:solidFill>
                  <a:srgbClr val="1F2D3D"/>
                </a:solidFill>
                <a:latin typeface="Calibri"/>
              </a:rPr>
              <a:t>7.  Training and hyperparameters</a:t>
            </a:r>
          </a:p>
          <a:p>
            <a:pPr algn="l">
              <a:lnSpc>
                <a:spcPct val="125000"/>
              </a:lnSpc>
            </a:pPr>
            <a:r>
              <a:rPr sz="2000" b="1">
                <a:solidFill>
                  <a:srgbClr val="2E86DE"/>
                </a:solidFill>
                <a:latin typeface="Calibri"/>
              </a:rPr>
              <a:t>▸  </a:t>
            </a:r>
            <a:r>
              <a:rPr sz="2000">
                <a:solidFill>
                  <a:srgbClr val="1F2D3D"/>
                </a:solidFill>
                <a:latin typeface="Calibri"/>
              </a:rPr>
              <a:t>8.  Results and metrics</a:t>
            </a:r>
          </a:p>
          <a:p>
            <a:pPr algn="l">
              <a:lnSpc>
                <a:spcPct val="125000"/>
              </a:lnSpc>
            </a:pPr>
            <a:r>
              <a:rPr sz="2000" b="1">
                <a:solidFill>
                  <a:srgbClr val="2E86DE"/>
                </a:solidFill>
                <a:latin typeface="Calibri"/>
              </a:rPr>
              <a:t>▸  </a:t>
            </a:r>
            <a:r>
              <a:rPr sz="2000">
                <a:solidFill>
                  <a:srgbClr val="1F2D3D"/>
                </a:solidFill>
                <a:latin typeface="Calibri"/>
              </a:rPr>
              <a:t>9.  Comparative analysis</a:t>
            </a:r>
          </a:p>
          <a:p>
            <a:pPr algn="l">
              <a:lnSpc>
                <a:spcPct val="125000"/>
              </a:lnSpc>
            </a:pPr>
            <a:r>
              <a:rPr sz="2000" b="1">
                <a:solidFill>
                  <a:srgbClr val="2E86DE"/>
                </a:solidFill>
                <a:latin typeface="Calibri"/>
              </a:rPr>
              <a:t>▸  </a:t>
            </a:r>
            <a:r>
              <a:rPr sz="2000">
                <a:solidFill>
                  <a:srgbClr val="1F2D3D"/>
                </a:solidFill>
                <a:latin typeface="Calibri"/>
              </a:rPr>
              <a:t>10. Conclusions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Motivation</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Why automatic land cover classification?</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3 / 18</a:t>
            </a:r>
          </a:p>
        </p:txBody>
      </p:sp>
      <p:sp>
        <p:nvSpPr>
          <p:cNvPr id="7" name="TextBox 6"/>
          <p:cNvSpPr txBox="1"/>
          <p:nvPr/>
        </p:nvSpPr>
        <p:spPr>
          <a:xfrm>
            <a:off x="731520" y="1554480"/>
            <a:ext cx="6858000" cy="5029200"/>
          </a:xfrm>
          <a:prstGeom prst="rect">
            <a:avLst/>
          </a:prstGeom>
          <a:noFill/>
        </p:spPr>
        <p:txBody>
          <a:bodyPr wrap="square" lIns="45720" rIns="45720">
            <a:spAutoFit/>
          </a:bodyPr>
          <a:lstStyle/>
          <a:p>
            <a:pPr algn="l">
              <a:lnSpc>
                <a:spcPct val="125000"/>
              </a:lnSpc>
            </a:pPr>
            <a:r>
              <a:rPr sz="2000" b="1">
                <a:solidFill>
                  <a:srgbClr val="2E86DE"/>
                </a:solidFill>
                <a:latin typeface="Calibri"/>
              </a:rPr>
              <a:t>▸  </a:t>
            </a:r>
            <a:r>
              <a:rPr sz="2000">
                <a:solidFill>
                  <a:srgbClr val="1F2D3D"/>
                </a:solidFill>
                <a:latin typeface="Calibri"/>
              </a:rPr>
              <a:t>Smart cities: monitoring built-up areas, greenery and roads</a:t>
            </a:r>
          </a:p>
          <a:p>
            <a:pPr algn="l">
              <a:lnSpc>
                <a:spcPct val="125000"/>
              </a:lnSpc>
            </a:pPr>
            <a:r>
              <a:rPr sz="2000" b="1">
                <a:solidFill>
                  <a:srgbClr val="2E86DE"/>
                </a:solidFill>
                <a:latin typeface="Calibri"/>
              </a:rPr>
              <a:t>▸  </a:t>
            </a:r>
            <a:r>
              <a:rPr sz="2000">
                <a:solidFill>
                  <a:srgbClr val="1F2D3D"/>
                </a:solidFill>
                <a:latin typeface="Calibri"/>
              </a:rPr>
              <a:t>Environment: forests, water bodies, land degradation</a:t>
            </a:r>
          </a:p>
          <a:p>
            <a:pPr algn="l">
              <a:lnSpc>
                <a:spcPct val="125000"/>
              </a:lnSpc>
            </a:pPr>
            <a:r>
              <a:rPr sz="2000" b="1">
                <a:solidFill>
                  <a:srgbClr val="2E86DE"/>
                </a:solidFill>
                <a:latin typeface="Calibri"/>
              </a:rPr>
              <a:t>▸  </a:t>
            </a:r>
            <a:r>
              <a:rPr sz="2000">
                <a:solidFill>
                  <a:srgbClr val="1F2D3D"/>
                </a:solidFill>
                <a:latin typeface="Calibri"/>
              </a:rPr>
              <a:t>Agriculture: mapping crops and pastures</a:t>
            </a:r>
          </a:p>
          <a:p>
            <a:pPr algn="l">
              <a:lnSpc>
                <a:spcPct val="125000"/>
              </a:lnSpc>
            </a:pPr>
            <a:r>
              <a:rPr sz="2000" b="1">
                <a:solidFill>
                  <a:srgbClr val="2E86DE"/>
                </a:solidFill>
                <a:latin typeface="Calibri"/>
              </a:rPr>
              <a:t>▸  </a:t>
            </a:r>
            <a:r>
              <a:rPr sz="2000">
                <a:solidFill>
                  <a:srgbClr val="1F2D3D"/>
                </a:solidFill>
                <a:latin typeface="Calibri"/>
              </a:rPr>
              <a:t>Sentinel-2: revisit time of 5 days across Europe</a:t>
            </a:r>
          </a:p>
          <a:p>
            <a:pPr algn="l">
              <a:lnSpc>
                <a:spcPct val="125000"/>
              </a:lnSpc>
            </a:pPr>
            <a:r>
              <a:rPr sz="2000" b="1">
                <a:solidFill>
                  <a:srgbClr val="2E86DE"/>
                </a:solidFill>
                <a:latin typeface="Calibri"/>
              </a:rPr>
              <a:t>▸  </a:t>
            </a:r>
            <a:r>
              <a:rPr sz="2000">
                <a:solidFill>
                  <a:srgbClr val="1F2D3D"/>
                </a:solidFill>
                <a:latin typeface="Calibri"/>
              </a:rPr>
              <a:t>Manual interpretation does not scale</a:t>
            </a:r>
          </a:p>
        </p:txBody>
      </p:sp>
      <p:sp>
        <p:nvSpPr>
          <p:cNvPr id="8" name="Rectangle 7"/>
          <p:cNvSpPr/>
          <p:nvPr/>
        </p:nvSpPr>
        <p:spPr>
          <a:xfrm>
            <a:off x="8046720" y="1645920"/>
            <a:ext cx="3657600" cy="4572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1783080"/>
            <a:ext cx="3657600" cy="457200"/>
          </a:xfrm>
          <a:prstGeom prst="rect">
            <a:avLst/>
          </a:prstGeom>
          <a:noFill/>
        </p:spPr>
        <p:txBody>
          <a:bodyPr wrap="square" lIns="45720" tIns="18288" rIns="45720" bIns="18288" anchor="t">
            <a:spAutoFit/>
          </a:bodyPr>
          <a:lstStyle/>
          <a:p>
            <a:pPr algn="ctr"/>
            <a:r>
              <a:rPr sz="1600" b="1">
                <a:solidFill>
                  <a:srgbClr val="0B3D91"/>
                </a:solidFill>
                <a:latin typeface="Calibri"/>
              </a:rPr>
              <a:t>Scale of the task</a:t>
            </a:r>
          </a:p>
        </p:txBody>
      </p:sp>
      <p:sp>
        <p:nvSpPr>
          <p:cNvPr id="10" name="Rectangle 9"/>
          <p:cNvSpPr/>
          <p:nvPr/>
        </p:nvSpPr>
        <p:spPr>
          <a:xfrm>
            <a:off x="8321040" y="2331720"/>
            <a:ext cx="3108960" cy="10972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321040" y="2331720"/>
            <a:ext cx="3108960"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2560320"/>
            <a:ext cx="3108960" cy="411480"/>
          </a:xfrm>
          <a:prstGeom prst="rect">
            <a:avLst/>
          </a:prstGeom>
          <a:noFill/>
        </p:spPr>
        <p:txBody>
          <a:bodyPr wrap="square" lIns="45720" tIns="18288" rIns="45720" bIns="18288" anchor="t">
            <a:spAutoFit/>
          </a:bodyPr>
          <a:lstStyle/>
          <a:p>
            <a:pPr algn="ctr"/>
            <a:r>
              <a:rPr sz="1400" b="1">
                <a:solidFill>
                  <a:srgbClr val="6B7A8F"/>
                </a:solidFill>
                <a:latin typeface="Calibri"/>
              </a:rPr>
              <a:t>EuroSAT dataset</a:t>
            </a:r>
          </a:p>
        </p:txBody>
      </p:sp>
      <p:sp>
        <p:nvSpPr>
          <p:cNvPr id="13" name="TextBox 12"/>
          <p:cNvSpPr txBox="1"/>
          <p:nvPr/>
        </p:nvSpPr>
        <p:spPr>
          <a:xfrm>
            <a:off x="8321040" y="2926080"/>
            <a:ext cx="3108960" cy="685800"/>
          </a:xfrm>
          <a:prstGeom prst="rect">
            <a:avLst/>
          </a:prstGeom>
          <a:noFill/>
        </p:spPr>
        <p:txBody>
          <a:bodyPr wrap="square" lIns="45720" tIns="18288" rIns="45720" bIns="18288" anchor="t">
            <a:spAutoFit/>
          </a:bodyPr>
          <a:lstStyle/>
          <a:p>
            <a:pPr algn="ctr"/>
            <a:r>
              <a:rPr sz="2800" b="1">
                <a:solidFill>
                  <a:srgbClr val="0B3D91"/>
                </a:solidFill>
                <a:latin typeface="Calibri"/>
              </a:rPr>
              <a:t>27,000</a:t>
            </a:r>
          </a:p>
        </p:txBody>
      </p:sp>
      <p:sp>
        <p:nvSpPr>
          <p:cNvPr id="14" name="Rectangle 13"/>
          <p:cNvSpPr/>
          <p:nvPr/>
        </p:nvSpPr>
        <p:spPr>
          <a:xfrm>
            <a:off x="8321040" y="3520440"/>
            <a:ext cx="3108960" cy="10972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21040" y="3520440"/>
            <a:ext cx="3108960" cy="73152"/>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3749040"/>
            <a:ext cx="3108960" cy="411480"/>
          </a:xfrm>
          <a:prstGeom prst="rect">
            <a:avLst/>
          </a:prstGeom>
          <a:noFill/>
        </p:spPr>
        <p:txBody>
          <a:bodyPr wrap="square" lIns="45720" tIns="18288" rIns="45720" bIns="18288" anchor="t">
            <a:spAutoFit/>
          </a:bodyPr>
          <a:lstStyle/>
          <a:p>
            <a:pPr algn="ctr"/>
            <a:r>
              <a:rPr sz="1400" b="1">
                <a:solidFill>
                  <a:srgbClr val="6B7A8F"/>
                </a:solidFill>
                <a:latin typeface="Calibri"/>
              </a:rPr>
              <a:t>Land cover classes</a:t>
            </a:r>
          </a:p>
        </p:txBody>
      </p:sp>
      <p:sp>
        <p:nvSpPr>
          <p:cNvPr id="17" name="TextBox 16"/>
          <p:cNvSpPr txBox="1"/>
          <p:nvPr/>
        </p:nvSpPr>
        <p:spPr>
          <a:xfrm>
            <a:off x="8321040" y="4114800"/>
            <a:ext cx="3108960" cy="685800"/>
          </a:xfrm>
          <a:prstGeom prst="rect">
            <a:avLst/>
          </a:prstGeom>
          <a:noFill/>
        </p:spPr>
        <p:txBody>
          <a:bodyPr wrap="square" lIns="45720" tIns="18288" rIns="45720" bIns="18288" anchor="t">
            <a:spAutoFit/>
          </a:bodyPr>
          <a:lstStyle/>
          <a:p>
            <a:pPr algn="ctr"/>
            <a:r>
              <a:rPr sz="2800" b="1">
                <a:solidFill>
                  <a:srgbClr val="0B3D91"/>
                </a:solidFill>
                <a:latin typeface="Calibri"/>
              </a:rPr>
              <a:t>10</a:t>
            </a:r>
          </a:p>
        </p:txBody>
      </p:sp>
      <p:sp>
        <p:nvSpPr>
          <p:cNvPr id="18" name="Rectangle 17"/>
          <p:cNvSpPr/>
          <p:nvPr/>
        </p:nvSpPr>
        <p:spPr>
          <a:xfrm>
            <a:off x="8321040" y="4709160"/>
            <a:ext cx="3108960" cy="10972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21040" y="4709160"/>
            <a:ext cx="3108960" cy="7315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4937760"/>
            <a:ext cx="3108960" cy="411480"/>
          </a:xfrm>
          <a:prstGeom prst="rect">
            <a:avLst/>
          </a:prstGeom>
          <a:noFill/>
        </p:spPr>
        <p:txBody>
          <a:bodyPr wrap="square" lIns="45720" tIns="18288" rIns="45720" bIns="18288" anchor="t">
            <a:spAutoFit/>
          </a:bodyPr>
          <a:lstStyle/>
          <a:p>
            <a:pPr algn="ctr"/>
            <a:r>
              <a:rPr sz="1400" b="1">
                <a:solidFill>
                  <a:srgbClr val="6B7A8F"/>
                </a:solidFill>
                <a:latin typeface="Calibri"/>
              </a:rPr>
              <a:t>Patch size</a:t>
            </a:r>
          </a:p>
        </p:txBody>
      </p:sp>
      <p:sp>
        <p:nvSpPr>
          <p:cNvPr id="21" name="TextBox 20"/>
          <p:cNvSpPr txBox="1"/>
          <p:nvPr/>
        </p:nvSpPr>
        <p:spPr>
          <a:xfrm>
            <a:off x="8321040" y="5303520"/>
            <a:ext cx="3108960" cy="685800"/>
          </a:xfrm>
          <a:prstGeom prst="rect">
            <a:avLst/>
          </a:prstGeom>
          <a:noFill/>
        </p:spPr>
        <p:txBody>
          <a:bodyPr wrap="square" lIns="45720" tIns="18288" rIns="45720" bIns="18288" anchor="t">
            <a:spAutoFit/>
          </a:bodyPr>
          <a:lstStyle/>
          <a:p>
            <a:pPr algn="ctr"/>
            <a:r>
              <a:rPr sz="2800" b="1">
                <a:solidFill>
                  <a:srgbClr val="0B3D91"/>
                </a:solidFill>
                <a:latin typeface="Calibri"/>
              </a:rPr>
              <a:t>64 × 64 px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Project goal</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4 / 18</a:t>
            </a:r>
          </a:p>
        </p:txBody>
      </p:sp>
      <p:sp>
        <p:nvSpPr>
          <p:cNvPr id="6" name="Rectangle 5"/>
          <p:cNvSpPr/>
          <p:nvPr/>
        </p:nvSpPr>
        <p:spPr>
          <a:xfrm>
            <a:off x="914400" y="1737360"/>
            <a:ext cx="10332720" cy="16459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965960"/>
            <a:ext cx="9966960" cy="1188720"/>
          </a:xfrm>
          <a:prstGeom prst="rect">
            <a:avLst/>
          </a:prstGeom>
          <a:noFill/>
        </p:spPr>
        <p:txBody>
          <a:bodyPr wrap="square" lIns="45720" tIns="18288" rIns="45720" bIns="18288" anchor="ctr">
            <a:spAutoFit/>
          </a:bodyPr>
          <a:lstStyle/>
          <a:p>
            <a:pPr algn="ctr"/>
            <a:r>
              <a:rPr sz="2200" b="1">
                <a:solidFill>
                  <a:srgbClr val="FFFFFF"/>
                </a:solidFill>
                <a:latin typeface="Calibri"/>
              </a:rPr>
              <a:t>Design and compare deep learning models that can automatically classify land cover types from Sentinel-2 imagery with high accuracy.</a:t>
            </a:r>
          </a:p>
        </p:txBody>
      </p:sp>
      <p:sp>
        <p:nvSpPr>
          <p:cNvPr id="8" name="Rectangle 7"/>
          <p:cNvSpPr/>
          <p:nvPr/>
        </p:nvSpPr>
        <p:spPr>
          <a:xfrm>
            <a:off x="731520" y="3931920"/>
            <a:ext cx="3291840" cy="2011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3931920"/>
            <a:ext cx="3291840" cy="4572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977639"/>
            <a:ext cx="3291840" cy="457200"/>
          </a:xfrm>
          <a:prstGeom prst="rect">
            <a:avLst/>
          </a:prstGeom>
          <a:noFill/>
        </p:spPr>
        <p:txBody>
          <a:bodyPr wrap="square" lIns="45720" tIns="18288" rIns="45720" bIns="18288" anchor="ctr">
            <a:spAutoFit/>
          </a:bodyPr>
          <a:lstStyle/>
          <a:p>
            <a:pPr algn="ctr"/>
            <a:r>
              <a:rPr sz="1600" b="1">
                <a:solidFill>
                  <a:srgbClr val="FFFFFF"/>
                </a:solidFill>
                <a:latin typeface="Calibri"/>
              </a:rPr>
              <a:t>Build</a:t>
            </a:r>
          </a:p>
        </p:txBody>
      </p:sp>
      <p:sp>
        <p:nvSpPr>
          <p:cNvPr id="11" name="TextBox 10"/>
          <p:cNvSpPr txBox="1"/>
          <p:nvPr/>
        </p:nvSpPr>
        <p:spPr>
          <a:xfrm>
            <a:off x="914400" y="4572000"/>
            <a:ext cx="2926080" cy="1280160"/>
          </a:xfrm>
          <a:prstGeom prst="rect">
            <a:avLst/>
          </a:prstGeom>
          <a:noFill/>
        </p:spPr>
        <p:txBody>
          <a:bodyPr wrap="square" lIns="45720" tIns="18288" rIns="45720" bIns="18288" anchor="ctr">
            <a:spAutoFit/>
          </a:bodyPr>
          <a:lstStyle/>
          <a:p>
            <a:pPr algn="ctr"/>
            <a:r>
              <a:rPr sz="1600" b="0">
                <a:solidFill>
                  <a:srgbClr val="1F2D3D"/>
                </a:solidFill>
                <a:latin typeface="Calibri"/>
              </a:rPr>
              <a:t>A baseline CNN as a reference</a:t>
            </a:r>
          </a:p>
        </p:txBody>
      </p:sp>
      <p:sp>
        <p:nvSpPr>
          <p:cNvPr id="12" name="Rectangle 11"/>
          <p:cNvSpPr/>
          <p:nvPr/>
        </p:nvSpPr>
        <p:spPr>
          <a:xfrm>
            <a:off x="4434840" y="3931920"/>
            <a:ext cx="3291840" cy="2011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3931920"/>
            <a:ext cx="3291840" cy="4572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3977639"/>
            <a:ext cx="3291840" cy="457200"/>
          </a:xfrm>
          <a:prstGeom prst="rect">
            <a:avLst/>
          </a:prstGeom>
          <a:noFill/>
        </p:spPr>
        <p:txBody>
          <a:bodyPr wrap="square" lIns="45720" tIns="18288" rIns="45720" bIns="18288" anchor="ctr">
            <a:spAutoFit/>
          </a:bodyPr>
          <a:lstStyle/>
          <a:p>
            <a:pPr algn="ctr"/>
            <a:r>
              <a:rPr sz="1600" b="1">
                <a:solidFill>
                  <a:srgbClr val="FFFFFF"/>
                </a:solidFill>
                <a:latin typeface="Calibri"/>
              </a:rPr>
              <a:t>Adapt</a:t>
            </a:r>
          </a:p>
        </p:txBody>
      </p:sp>
      <p:sp>
        <p:nvSpPr>
          <p:cNvPr id="15" name="TextBox 14"/>
          <p:cNvSpPr txBox="1"/>
          <p:nvPr/>
        </p:nvSpPr>
        <p:spPr>
          <a:xfrm>
            <a:off x="4617720" y="4572000"/>
            <a:ext cx="2926080" cy="1280160"/>
          </a:xfrm>
          <a:prstGeom prst="rect">
            <a:avLst/>
          </a:prstGeom>
          <a:noFill/>
        </p:spPr>
        <p:txBody>
          <a:bodyPr wrap="square" lIns="45720" tIns="18288" rIns="45720" bIns="18288" anchor="ctr">
            <a:spAutoFit/>
          </a:bodyPr>
          <a:lstStyle/>
          <a:p>
            <a:pPr algn="ctr"/>
            <a:r>
              <a:rPr sz="1600" b="0">
                <a:solidFill>
                  <a:srgbClr val="1F2D3D"/>
                </a:solidFill>
                <a:latin typeface="Calibri"/>
              </a:rPr>
              <a:t>U-Net for scene-level classification</a:t>
            </a:r>
          </a:p>
        </p:txBody>
      </p:sp>
      <p:sp>
        <p:nvSpPr>
          <p:cNvPr id="16" name="Rectangle 15"/>
          <p:cNvSpPr/>
          <p:nvPr/>
        </p:nvSpPr>
        <p:spPr>
          <a:xfrm>
            <a:off x="8138160" y="3931920"/>
            <a:ext cx="3291840" cy="2011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3931920"/>
            <a:ext cx="3291840" cy="4572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3977639"/>
            <a:ext cx="3291840" cy="457200"/>
          </a:xfrm>
          <a:prstGeom prst="rect">
            <a:avLst/>
          </a:prstGeom>
          <a:noFill/>
        </p:spPr>
        <p:txBody>
          <a:bodyPr wrap="square" lIns="45720" tIns="18288" rIns="45720" bIns="18288" anchor="ctr">
            <a:spAutoFit/>
          </a:bodyPr>
          <a:lstStyle/>
          <a:p>
            <a:pPr algn="ctr"/>
            <a:r>
              <a:rPr sz="1600" b="1">
                <a:solidFill>
                  <a:srgbClr val="FFFFFF"/>
                </a:solidFill>
                <a:latin typeface="Calibri"/>
              </a:rPr>
              <a:t>Compare</a:t>
            </a:r>
          </a:p>
        </p:txBody>
      </p:sp>
      <p:sp>
        <p:nvSpPr>
          <p:cNvPr id="19" name="TextBox 18"/>
          <p:cNvSpPr txBox="1"/>
          <p:nvPr/>
        </p:nvSpPr>
        <p:spPr>
          <a:xfrm>
            <a:off x="8321040" y="4572000"/>
            <a:ext cx="2926080" cy="1280160"/>
          </a:xfrm>
          <a:prstGeom prst="rect">
            <a:avLst/>
          </a:prstGeom>
          <a:noFill/>
        </p:spPr>
        <p:txBody>
          <a:bodyPr wrap="square" lIns="45720" tIns="18288" rIns="45720" bIns="18288" anchor="ctr">
            <a:spAutoFit/>
          </a:bodyPr>
          <a:lstStyle/>
          <a:p>
            <a:pPr algn="ctr"/>
            <a:r>
              <a:rPr sz="1600" b="0">
                <a:solidFill>
                  <a:srgbClr val="1F2D3D"/>
                </a:solidFill>
                <a:latin typeface="Calibri"/>
              </a:rPr>
              <a:t>Metrics and quality on EuroSAT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Related work</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5 / 18</a:t>
            </a:r>
          </a:p>
        </p:txBody>
      </p:sp>
      <p:sp>
        <p:nvSpPr>
          <p:cNvPr id="6" name="TextBox 5"/>
          <p:cNvSpPr txBox="1"/>
          <p:nvPr/>
        </p:nvSpPr>
        <p:spPr>
          <a:xfrm>
            <a:off x="731520" y="1554480"/>
            <a:ext cx="10789920" cy="5029200"/>
          </a:xfrm>
          <a:prstGeom prst="rect">
            <a:avLst/>
          </a:prstGeom>
          <a:noFill/>
        </p:spPr>
        <p:txBody>
          <a:bodyPr wrap="square" lIns="45720" rIns="45720">
            <a:spAutoFit/>
          </a:bodyPr>
          <a:lstStyle/>
          <a:p>
            <a:pPr algn="l">
              <a:lnSpc>
                <a:spcPct val="125000"/>
              </a:lnSpc>
            </a:pPr>
            <a:r>
              <a:rPr sz="1800" b="1">
                <a:solidFill>
                  <a:srgbClr val="2E86DE"/>
                </a:solidFill>
                <a:latin typeface="Calibri"/>
              </a:rPr>
              <a:t>▸  </a:t>
            </a:r>
            <a:r>
              <a:rPr sz="1800">
                <a:solidFill>
                  <a:srgbClr val="1F2D3D"/>
                </a:solidFill>
                <a:latin typeface="Calibri"/>
              </a:rPr>
              <a:t>Helber et al. (2019) — EuroSAT dataset, baseline CNN; fine-tuned ResNet &gt; 98%</a:t>
            </a:r>
          </a:p>
          <a:p>
            <a:pPr algn="l">
              <a:lnSpc>
                <a:spcPct val="125000"/>
              </a:lnSpc>
            </a:pPr>
            <a:r>
              <a:rPr sz="1800" b="1">
                <a:solidFill>
                  <a:srgbClr val="2E86DE"/>
                </a:solidFill>
                <a:latin typeface="Calibri"/>
              </a:rPr>
              <a:t>▸  </a:t>
            </a:r>
            <a:r>
              <a:rPr sz="1800">
                <a:solidFill>
                  <a:srgbClr val="1F2D3D"/>
                </a:solidFill>
                <a:latin typeface="Calibri"/>
              </a:rPr>
              <a:t>Ronneberger et al. (2015) — U-Net with skip connections (biomedical origin)</a:t>
            </a:r>
          </a:p>
          <a:p>
            <a:pPr algn="l">
              <a:lnSpc>
                <a:spcPct val="125000"/>
              </a:lnSpc>
            </a:pPr>
            <a:r>
              <a:rPr sz="1800" b="1">
                <a:solidFill>
                  <a:srgbClr val="2E86DE"/>
                </a:solidFill>
                <a:latin typeface="Calibri"/>
              </a:rPr>
              <a:t>▸  </a:t>
            </a:r>
            <a:r>
              <a:rPr sz="1800">
                <a:solidFill>
                  <a:srgbClr val="1F2D3D"/>
                </a:solidFill>
                <a:latin typeface="Calibri"/>
              </a:rPr>
              <a:t>Maggiori et al. (2017) — fully convolutional networks for aerial labeling</a:t>
            </a:r>
          </a:p>
          <a:p>
            <a:pPr algn="l">
              <a:lnSpc>
                <a:spcPct val="125000"/>
              </a:lnSpc>
            </a:pPr>
            <a:r>
              <a:rPr sz="1800" b="1">
                <a:solidFill>
                  <a:srgbClr val="2E86DE"/>
                </a:solidFill>
                <a:latin typeface="Calibri"/>
              </a:rPr>
              <a:t>▸  </a:t>
            </a:r>
            <a:r>
              <a:rPr sz="1800">
                <a:solidFill>
                  <a:srgbClr val="1F2D3D"/>
                </a:solidFill>
                <a:latin typeface="Calibri"/>
              </a:rPr>
              <a:t>Nogueira et al. (2017) — CNN comparison and the role of transfer learning</a:t>
            </a:r>
          </a:p>
          <a:p>
            <a:pPr algn="l">
              <a:lnSpc>
                <a:spcPct val="125000"/>
              </a:lnSpc>
            </a:pPr>
            <a:r>
              <a:rPr sz="1800" b="1">
                <a:solidFill>
                  <a:srgbClr val="2E86DE"/>
                </a:solidFill>
                <a:latin typeface="Calibri"/>
              </a:rPr>
              <a:t>▸  </a:t>
            </a:r>
            <a:r>
              <a:rPr sz="1800">
                <a:solidFill>
                  <a:srgbClr val="1F2D3D"/>
                </a:solidFill>
                <a:latin typeface="Calibri"/>
              </a:rPr>
              <a:t>He et al. (2016) — ResNet and residual connections for very deep networks</a:t>
            </a:r>
          </a:p>
          <a:p>
            <a:pPr algn="l">
              <a:lnSpc>
                <a:spcPct val="125000"/>
              </a:lnSpc>
            </a:pPr>
            <a:r>
              <a:rPr sz="1800" b="1">
                <a:solidFill>
                  <a:srgbClr val="2E86DE"/>
                </a:solidFill>
                <a:latin typeface="Calibri"/>
              </a:rPr>
              <a:t>▸  </a:t>
            </a:r>
            <a:r>
              <a:rPr sz="1800">
                <a:solidFill>
                  <a:srgbClr val="1F2D3D"/>
                </a:solidFill>
                <a:latin typeface="Calibri"/>
              </a:rPr>
              <a:t>Li et al. (2018) — attention mechanisms for remote-sensing scenes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Limitations of existing work and our contribution</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6 / 18</a:t>
            </a:r>
          </a:p>
        </p:txBody>
      </p:sp>
      <p:sp>
        <p:nvSpPr>
          <p:cNvPr id="6" name="Rectangle 5"/>
          <p:cNvSpPr/>
          <p:nvPr/>
        </p:nvSpPr>
        <p:spPr>
          <a:xfrm>
            <a:off x="731520" y="1554480"/>
            <a:ext cx="5303520" cy="4846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45920"/>
            <a:ext cx="5303520" cy="457200"/>
          </a:xfrm>
          <a:prstGeom prst="rect">
            <a:avLst/>
          </a:prstGeom>
          <a:noFill/>
        </p:spPr>
        <p:txBody>
          <a:bodyPr wrap="square" lIns="45720" tIns="18288" rIns="45720" bIns="18288" anchor="t">
            <a:spAutoFit/>
          </a:bodyPr>
          <a:lstStyle/>
          <a:p>
            <a:pPr algn="ctr"/>
            <a:r>
              <a:rPr sz="1800" b="1">
                <a:solidFill>
                  <a:srgbClr val="E67E22"/>
                </a:solidFill>
                <a:latin typeface="Calibri"/>
              </a:rPr>
              <a:t>Limitations</a:t>
            </a:r>
          </a:p>
        </p:txBody>
      </p:sp>
      <p:sp>
        <p:nvSpPr>
          <p:cNvPr id="8" name="TextBox 7"/>
          <p:cNvSpPr txBox="1"/>
          <p:nvPr/>
        </p:nvSpPr>
        <p:spPr>
          <a:xfrm>
            <a:off x="914400" y="2194560"/>
            <a:ext cx="5029200" cy="4114800"/>
          </a:xfrm>
          <a:prstGeom prst="rect">
            <a:avLst/>
          </a:prstGeom>
          <a:noFill/>
        </p:spPr>
        <p:txBody>
          <a:bodyPr wrap="square" lIns="45720" rIns="45720">
            <a:spAutoFit/>
          </a:bodyPr>
          <a:lstStyle/>
          <a:p>
            <a:pPr algn="l">
              <a:lnSpc>
                <a:spcPct val="125000"/>
              </a:lnSpc>
            </a:pPr>
            <a:r>
              <a:rPr sz="1500" b="1">
                <a:solidFill>
                  <a:srgbClr val="2E86DE"/>
                </a:solidFill>
                <a:latin typeface="Calibri"/>
              </a:rPr>
              <a:t>▸  </a:t>
            </a:r>
            <a:r>
              <a:rPr sz="1500">
                <a:solidFill>
                  <a:srgbClr val="1F2D3D"/>
                </a:solidFill>
                <a:latin typeface="Calibri"/>
              </a:rPr>
              <a:t>Deep SOTA models rely on ImageNet pre-training</a:t>
            </a:r>
          </a:p>
          <a:p>
            <a:pPr algn="l">
              <a:lnSpc>
                <a:spcPct val="125000"/>
              </a:lnSpc>
            </a:pPr>
            <a:r>
              <a:rPr sz="1500" b="1">
                <a:solidFill>
                  <a:srgbClr val="2E86DE"/>
                </a:solidFill>
                <a:latin typeface="Calibri"/>
              </a:rPr>
              <a:t>▸  </a:t>
            </a:r>
            <a:r>
              <a:rPr sz="1500">
                <a:solidFill>
                  <a:srgbClr val="1F2D3D"/>
                </a:solidFill>
                <a:latin typeface="Calibri"/>
              </a:rPr>
              <a:t>Domain gap: natural photos ≠ satellite imagery</a:t>
            </a:r>
          </a:p>
          <a:p>
            <a:pPr algn="l">
              <a:lnSpc>
                <a:spcPct val="125000"/>
              </a:lnSpc>
            </a:pPr>
            <a:r>
              <a:rPr sz="1500" b="1">
                <a:solidFill>
                  <a:srgbClr val="2E86DE"/>
                </a:solidFill>
                <a:latin typeface="Calibri"/>
              </a:rPr>
              <a:t>▸  </a:t>
            </a:r>
            <a:r>
              <a:rPr sz="1500">
                <a:solidFill>
                  <a:srgbClr val="1F2D3D"/>
                </a:solidFill>
                <a:latin typeface="Calibri"/>
              </a:rPr>
              <a:t>Multispectral methods require extra sensors</a:t>
            </a:r>
          </a:p>
          <a:p>
            <a:pPr algn="l">
              <a:lnSpc>
                <a:spcPct val="125000"/>
              </a:lnSpc>
            </a:pPr>
            <a:r>
              <a:rPr sz="1500" b="1">
                <a:solidFill>
                  <a:srgbClr val="2E86DE"/>
                </a:solidFill>
                <a:latin typeface="Calibri"/>
              </a:rPr>
              <a:t>▸  </a:t>
            </a:r>
            <a:r>
              <a:rPr sz="1500">
                <a:solidFill>
                  <a:srgbClr val="1F2D3D"/>
                </a:solidFill>
                <a:latin typeface="Calibri"/>
              </a:rPr>
              <a:t>Most benchmarks target pixel-level segmentation</a:t>
            </a:r>
          </a:p>
          <a:p>
            <a:pPr algn="l">
              <a:lnSpc>
                <a:spcPct val="125000"/>
              </a:lnSpc>
            </a:pPr>
            <a:r>
              <a:rPr sz="1500" b="1">
                <a:solidFill>
                  <a:srgbClr val="2E86DE"/>
                </a:solidFill>
                <a:latin typeface="Calibri"/>
              </a:rPr>
              <a:t>▸  </a:t>
            </a:r>
            <a:r>
              <a:rPr sz="1500">
                <a:solidFill>
                  <a:srgbClr val="1F2D3D"/>
                </a:solidFill>
                <a:latin typeface="Calibri"/>
              </a:rPr>
              <a:t>Computational cost and interpretability</a:t>
            </a:r>
          </a:p>
        </p:txBody>
      </p:sp>
      <p:sp>
        <p:nvSpPr>
          <p:cNvPr id="9" name="Rectangle 8"/>
          <p:cNvSpPr/>
          <p:nvPr/>
        </p:nvSpPr>
        <p:spPr>
          <a:xfrm>
            <a:off x="6309360" y="1554480"/>
            <a:ext cx="5303520" cy="48463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645920"/>
            <a:ext cx="5303520" cy="457200"/>
          </a:xfrm>
          <a:prstGeom prst="rect">
            <a:avLst/>
          </a:prstGeom>
          <a:noFill/>
        </p:spPr>
        <p:txBody>
          <a:bodyPr wrap="square" lIns="45720" tIns="18288" rIns="45720" bIns="18288" anchor="t">
            <a:spAutoFit/>
          </a:bodyPr>
          <a:lstStyle/>
          <a:p>
            <a:pPr algn="ctr"/>
            <a:r>
              <a:rPr sz="1800" b="1">
                <a:solidFill>
                  <a:srgbClr val="FFFFFF"/>
                </a:solidFill>
                <a:latin typeface="Calibri"/>
              </a:rPr>
              <a:t>Our approach</a:t>
            </a:r>
          </a:p>
        </p:txBody>
      </p:sp>
      <p:sp>
        <p:nvSpPr>
          <p:cNvPr id="11" name="TextBox 10"/>
          <p:cNvSpPr txBox="1"/>
          <p:nvPr/>
        </p:nvSpPr>
        <p:spPr>
          <a:xfrm>
            <a:off x="6492240" y="2194560"/>
            <a:ext cx="5029200" cy="4114800"/>
          </a:xfrm>
          <a:prstGeom prst="rect">
            <a:avLst/>
          </a:prstGeom>
          <a:noFill/>
        </p:spPr>
        <p:txBody>
          <a:bodyPr wrap="square" lIns="45720" rIns="45720">
            <a:spAutoFit/>
          </a:bodyPr>
          <a:lstStyle/>
          <a:p>
            <a:pPr algn="l">
              <a:lnSpc>
                <a:spcPct val="125000"/>
              </a:lnSpc>
            </a:pPr>
            <a:r>
              <a:rPr sz="1500" b="1">
                <a:solidFill>
                  <a:srgbClr val="2E86DE"/>
                </a:solidFill>
                <a:latin typeface="Calibri"/>
              </a:rPr>
              <a:t>▸  </a:t>
            </a:r>
            <a:r>
              <a:rPr sz="1500">
                <a:solidFill>
                  <a:srgbClr val="FFFFFF"/>
                </a:solidFill>
                <a:latin typeface="Calibri"/>
              </a:rPr>
              <a:t>Systematic comparison of CNN and U-Net</a:t>
            </a:r>
          </a:p>
          <a:p>
            <a:pPr algn="l">
              <a:lnSpc>
                <a:spcPct val="125000"/>
              </a:lnSpc>
            </a:pPr>
            <a:r>
              <a:rPr sz="1500" b="1">
                <a:solidFill>
                  <a:srgbClr val="2E86DE"/>
                </a:solidFill>
                <a:latin typeface="Calibri"/>
              </a:rPr>
              <a:t>▸  </a:t>
            </a:r>
            <a:r>
              <a:rPr sz="1500">
                <a:solidFill>
                  <a:srgbClr val="FFFFFF"/>
                </a:solidFill>
                <a:latin typeface="Calibri"/>
              </a:rPr>
              <a:t>U-Net repurposed for scene classification</a:t>
            </a:r>
          </a:p>
          <a:p>
            <a:pPr algn="l">
              <a:lnSpc>
                <a:spcPct val="125000"/>
              </a:lnSpc>
            </a:pPr>
            <a:r>
              <a:rPr sz="1500" b="1">
                <a:solidFill>
                  <a:srgbClr val="2E86DE"/>
                </a:solidFill>
                <a:latin typeface="Calibri"/>
              </a:rPr>
              <a:t>▸  </a:t>
            </a:r>
            <a:r>
              <a:rPr sz="1500">
                <a:solidFill>
                  <a:srgbClr val="FFFFFF"/>
                </a:solidFill>
                <a:latin typeface="Calibri"/>
              </a:rPr>
              <a:t>Global Average Pooling + FC instead of a pixel map</a:t>
            </a:r>
          </a:p>
          <a:p>
            <a:pPr algn="l">
              <a:lnSpc>
                <a:spcPct val="125000"/>
              </a:lnSpc>
            </a:pPr>
            <a:r>
              <a:rPr sz="1500" b="1">
                <a:solidFill>
                  <a:srgbClr val="2E86DE"/>
                </a:solidFill>
                <a:latin typeface="Calibri"/>
              </a:rPr>
              <a:t>▸  </a:t>
            </a:r>
            <a:r>
              <a:rPr sz="1500">
                <a:solidFill>
                  <a:srgbClr val="FFFFFF"/>
                </a:solidFill>
                <a:latin typeface="Calibri"/>
              </a:rPr>
              <a:t>Trained from scratch, no ImageNet pre-training</a:t>
            </a:r>
          </a:p>
          <a:p>
            <a:pPr algn="l">
              <a:lnSpc>
                <a:spcPct val="125000"/>
              </a:lnSpc>
            </a:pPr>
            <a:r>
              <a:rPr sz="1500" b="1">
                <a:solidFill>
                  <a:srgbClr val="2E86DE"/>
                </a:solidFill>
                <a:latin typeface="Calibri"/>
              </a:rPr>
              <a:t>▸  </a:t>
            </a:r>
            <a:r>
              <a:rPr sz="1500">
                <a:solidFill>
                  <a:srgbClr val="FFFFFF"/>
                </a:solidFill>
                <a:latin typeface="Calibri"/>
              </a:rPr>
              <a:t>Fixed seed — fully reproducible experiments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EuroSAT dataset</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27,000 Sentinel-2 patches, 10 classes</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7 / 18</a:t>
            </a:r>
          </a:p>
        </p:txBody>
      </p:sp>
      <p:sp>
        <p:nvSpPr>
          <p:cNvPr id="7" name="TextBox 6"/>
          <p:cNvSpPr txBox="1"/>
          <p:nvPr/>
        </p:nvSpPr>
        <p:spPr>
          <a:xfrm>
            <a:off x="731520" y="1554480"/>
            <a:ext cx="5120640" cy="5029200"/>
          </a:xfrm>
          <a:prstGeom prst="rect">
            <a:avLst/>
          </a:prstGeom>
          <a:noFill/>
        </p:spPr>
        <p:txBody>
          <a:bodyPr wrap="square" lIns="45720" rIns="45720">
            <a:spAutoFit/>
          </a:bodyPr>
          <a:lstStyle/>
          <a:p>
            <a:pPr algn="l">
              <a:lnSpc>
                <a:spcPct val="125000"/>
              </a:lnSpc>
            </a:pPr>
            <a:r>
              <a:rPr sz="1800" b="1">
                <a:solidFill>
                  <a:srgbClr val="2E86DE"/>
                </a:solidFill>
                <a:latin typeface="Calibri"/>
              </a:rPr>
              <a:t>▸  </a:t>
            </a:r>
            <a:r>
              <a:rPr sz="1800">
                <a:solidFill>
                  <a:srgbClr val="1F2D3D"/>
                </a:solidFill>
                <a:latin typeface="Calibri"/>
              </a:rPr>
              <a:t>Source: Sentinel-2, Copernicus programme</a:t>
            </a:r>
          </a:p>
          <a:p>
            <a:pPr algn="l">
              <a:lnSpc>
                <a:spcPct val="125000"/>
              </a:lnSpc>
            </a:pPr>
            <a:r>
              <a:rPr sz="1800" b="1">
                <a:solidFill>
                  <a:srgbClr val="2E86DE"/>
                </a:solidFill>
                <a:latin typeface="Calibri"/>
              </a:rPr>
              <a:t>▸  </a:t>
            </a:r>
            <a:r>
              <a:rPr sz="1800">
                <a:solidFill>
                  <a:srgbClr val="1F2D3D"/>
                </a:solidFill>
                <a:latin typeface="Calibri"/>
              </a:rPr>
              <a:t>Spatial resolution: 10–60 m / pixel</a:t>
            </a:r>
          </a:p>
          <a:p>
            <a:pPr algn="l">
              <a:lnSpc>
                <a:spcPct val="125000"/>
              </a:lnSpc>
            </a:pPr>
            <a:r>
              <a:rPr sz="1800" b="1">
                <a:solidFill>
                  <a:srgbClr val="2E86DE"/>
                </a:solidFill>
                <a:latin typeface="Calibri"/>
              </a:rPr>
              <a:t>▸  </a:t>
            </a:r>
            <a:r>
              <a:rPr sz="1800">
                <a:solidFill>
                  <a:srgbClr val="1F2D3D"/>
                </a:solidFill>
                <a:latin typeface="Calibri"/>
              </a:rPr>
              <a:t>Revisit time: 5 days</a:t>
            </a:r>
          </a:p>
          <a:p>
            <a:pPr algn="l">
              <a:lnSpc>
                <a:spcPct val="125000"/>
              </a:lnSpc>
            </a:pPr>
            <a:r>
              <a:rPr sz="1800" b="1">
                <a:solidFill>
                  <a:srgbClr val="2E86DE"/>
                </a:solidFill>
                <a:latin typeface="Calibri"/>
              </a:rPr>
              <a:t>▸  </a:t>
            </a:r>
            <a:r>
              <a:rPr sz="1800">
                <a:solidFill>
                  <a:srgbClr val="1F2D3D"/>
                </a:solidFill>
                <a:latin typeface="Calibri"/>
              </a:rPr>
              <a:t>Patch size: 64 × 64 px</a:t>
            </a:r>
          </a:p>
          <a:p>
            <a:pPr algn="l">
              <a:lnSpc>
                <a:spcPct val="125000"/>
              </a:lnSpc>
            </a:pPr>
            <a:r>
              <a:rPr sz="1800" b="1">
                <a:solidFill>
                  <a:srgbClr val="2E86DE"/>
                </a:solidFill>
                <a:latin typeface="Calibri"/>
              </a:rPr>
              <a:t>▸  </a:t>
            </a:r>
            <a:r>
              <a:rPr sz="1800">
                <a:solidFill>
                  <a:srgbClr val="1F2D3D"/>
                </a:solidFill>
                <a:latin typeface="Calibri"/>
              </a:rPr>
              <a:t>We use RGB (3 of 13 bands)</a:t>
            </a:r>
          </a:p>
          <a:p>
            <a:pPr algn="l">
              <a:lnSpc>
                <a:spcPct val="125000"/>
              </a:lnSpc>
            </a:pPr>
            <a:r>
              <a:rPr sz="1800" b="1">
                <a:solidFill>
                  <a:srgbClr val="2E86DE"/>
                </a:solidFill>
                <a:latin typeface="Calibri"/>
              </a:rPr>
              <a:t>▸  </a:t>
            </a:r>
            <a:r>
              <a:rPr sz="1800">
                <a:solidFill>
                  <a:srgbClr val="1F2D3D"/>
                </a:solidFill>
                <a:latin typeface="Calibri"/>
              </a:rPr>
              <a:t>Normalization: ImageNet statistics</a:t>
            </a:r>
          </a:p>
        </p:txBody>
      </p:sp>
      <p:sp>
        <p:nvSpPr>
          <p:cNvPr id="8" name="TextBox 7"/>
          <p:cNvSpPr txBox="1"/>
          <p:nvPr/>
        </p:nvSpPr>
        <p:spPr>
          <a:xfrm>
            <a:off x="6309360" y="1554480"/>
            <a:ext cx="5394960" cy="365760"/>
          </a:xfrm>
          <a:prstGeom prst="rect">
            <a:avLst/>
          </a:prstGeom>
          <a:noFill/>
        </p:spPr>
        <p:txBody>
          <a:bodyPr wrap="square" lIns="45720" tIns="18288" rIns="45720" bIns="18288" anchor="t">
            <a:spAutoFit/>
          </a:bodyPr>
          <a:lstStyle/>
          <a:p>
            <a:pPr algn="l"/>
            <a:r>
              <a:rPr sz="1500" b="1">
                <a:solidFill>
                  <a:srgbClr val="0B3D91"/>
                </a:solidFill>
                <a:latin typeface="Calibri"/>
              </a:rPr>
              <a:t>10 land cover classes</a:t>
            </a:r>
          </a:p>
        </p:txBody>
      </p:sp>
      <p:sp>
        <p:nvSpPr>
          <p:cNvPr id="9" name="Rectangle 8"/>
          <p:cNvSpPr/>
          <p:nvPr/>
        </p:nvSpPr>
        <p:spPr>
          <a:xfrm>
            <a:off x="6309360" y="2057400"/>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057400"/>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AnnualCrop</a:t>
            </a:r>
          </a:p>
        </p:txBody>
      </p:sp>
      <p:sp>
        <p:nvSpPr>
          <p:cNvPr id="11" name="Rounded Rectangle 10"/>
          <p:cNvSpPr/>
          <p:nvPr/>
        </p:nvSpPr>
        <p:spPr>
          <a:xfrm>
            <a:off x="8092440" y="2130552"/>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3000</a:t>
            </a:r>
          </a:p>
        </p:txBody>
      </p:sp>
      <p:sp>
        <p:nvSpPr>
          <p:cNvPr id="12" name="Rectangle 11"/>
          <p:cNvSpPr/>
          <p:nvPr/>
        </p:nvSpPr>
        <p:spPr>
          <a:xfrm>
            <a:off x="9052560" y="2057400"/>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0" y="2057400"/>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Forest</a:t>
            </a:r>
          </a:p>
        </p:txBody>
      </p:sp>
      <p:sp>
        <p:nvSpPr>
          <p:cNvPr id="14" name="Rounded Rectangle 13"/>
          <p:cNvSpPr/>
          <p:nvPr/>
        </p:nvSpPr>
        <p:spPr>
          <a:xfrm>
            <a:off x="10835640" y="2130552"/>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3000</a:t>
            </a:r>
          </a:p>
        </p:txBody>
      </p:sp>
      <p:sp>
        <p:nvSpPr>
          <p:cNvPr id="15" name="Rectangle 14"/>
          <p:cNvSpPr/>
          <p:nvPr/>
        </p:nvSpPr>
        <p:spPr>
          <a:xfrm>
            <a:off x="6309360" y="2587752"/>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587752"/>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HerbaceousVegetation</a:t>
            </a:r>
          </a:p>
        </p:txBody>
      </p:sp>
      <p:sp>
        <p:nvSpPr>
          <p:cNvPr id="17" name="Rounded Rectangle 16"/>
          <p:cNvSpPr/>
          <p:nvPr/>
        </p:nvSpPr>
        <p:spPr>
          <a:xfrm>
            <a:off x="8092440" y="2660904"/>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3000</a:t>
            </a:r>
          </a:p>
        </p:txBody>
      </p:sp>
      <p:sp>
        <p:nvSpPr>
          <p:cNvPr id="18" name="Rectangle 17"/>
          <p:cNvSpPr/>
          <p:nvPr/>
        </p:nvSpPr>
        <p:spPr>
          <a:xfrm>
            <a:off x="9052560" y="2587752"/>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2587752"/>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Highway</a:t>
            </a:r>
          </a:p>
        </p:txBody>
      </p:sp>
      <p:sp>
        <p:nvSpPr>
          <p:cNvPr id="20" name="Rounded Rectangle 19"/>
          <p:cNvSpPr/>
          <p:nvPr/>
        </p:nvSpPr>
        <p:spPr>
          <a:xfrm>
            <a:off x="10835640" y="2660904"/>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2500</a:t>
            </a:r>
          </a:p>
        </p:txBody>
      </p:sp>
      <p:sp>
        <p:nvSpPr>
          <p:cNvPr id="21" name="Rectangle 20"/>
          <p:cNvSpPr/>
          <p:nvPr/>
        </p:nvSpPr>
        <p:spPr>
          <a:xfrm>
            <a:off x="6309360" y="3118104"/>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3118104"/>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Industrial</a:t>
            </a:r>
          </a:p>
        </p:txBody>
      </p:sp>
      <p:sp>
        <p:nvSpPr>
          <p:cNvPr id="23" name="Rounded Rectangle 22"/>
          <p:cNvSpPr/>
          <p:nvPr/>
        </p:nvSpPr>
        <p:spPr>
          <a:xfrm>
            <a:off x="8092440" y="3191256"/>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2500</a:t>
            </a:r>
          </a:p>
        </p:txBody>
      </p:sp>
      <p:sp>
        <p:nvSpPr>
          <p:cNvPr id="24" name="Rectangle 23"/>
          <p:cNvSpPr/>
          <p:nvPr/>
        </p:nvSpPr>
        <p:spPr>
          <a:xfrm>
            <a:off x="9052560" y="3118104"/>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0" y="3118104"/>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Pasture</a:t>
            </a:r>
          </a:p>
        </p:txBody>
      </p:sp>
      <p:sp>
        <p:nvSpPr>
          <p:cNvPr id="26" name="Rounded Rectangle 25"/>
          <p:cNvSpPr/>
          <p:nvPr/>
        </p:nvSpPr>
        <p:spPr>
          <a:xfrm>
            <a:off x="10835640" y="3191256"/>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2000</a:t>
            </a:r>
          </a:p>
        </p:txBody>
      </p:sp>
      <p:sp>
        <p:nvSpPr>
          <p:cNvPr id="27" name="Rectangle 26"/>
          <p:cNvSpPr/>
          <p:nvPr/>
        </p:nvSpPr>
        <p:spPr>
          <a:xfrm>
            <a:off x="6309360" y="3648456"/>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3648456"/>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PermanentCrop</a:t>
            </a:r>
          </a:p>
        </p:txBody>
      </p:sp>
      <p:sp>
        <p:nvSpPr>
          <p:cNvPr id="29" name="Rounded Rectangle 28"/>
          <p:cNvSpPr/>
          <p:nvPr/>
        </p:nvSpPr>
        <p:spPr>
          <a:xfrm>
            <a:off x="8092440" y="3721608"/>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2500</a:t>
            </a:r>
          </a:p>
        </p:txBody>
      </p:sp>
      <p:sp>
        <p:nvSpPr>
          <p:cNvPr id="30" name="Rectangle 29"/>
          <p:cNvSpPr/>
          <p:nvPr/>
        </p:nvSpPr>
        <p:spPr>
          <a:xfrm>
            <a:off x="9052560" y="3648456"/>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0" y="3648456"/>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Residential</a:t>
            </a:r>
          </a:p>
        </p:txBody>
      </p:sp>
      <p:sp>
        <p:nvSpPr>
          <p:cNvPr id="32" name="Rounded Rectangle 31"/>
          <p:cNvSpPr/>
          <p:nvPr/>
        </p:nvSpPr>
        <p:spPr>
          <a:xfrm>
            <a:off x="10835640" y="3721608"/>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3000</a:t>
            </a:r>
          </a:p>
        </p:txBody>
      </p:sp>
      <p:sp>
        <p:nvSpPr>
          <p:cNvPr id="33" name="Rectangle 32"/>
          <p:cNvSpPr/>
          <p:nvPr/>
        </p:nvSpPr>
        <p:spPr>
          <a:xfrm>
            <a:off x="6309360" y="4178808"/>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178808"/>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River</a:t>
            </a:r>
          </a:p>
        </p:txBody>
      </p:sp>
      <p:sp>
        <p:nvSpPr>
          <p:cNvPr id="35" name="Rounded Rectangle 34"/>
          <p:cNvSpPr/>
          <p:nvPr/>
        </p:nvSpPr>
        <p:spPr>
          <a:xfrm>
            <a:off x="8092440" y="4251960"/>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2500</a:t>
            </a:r>
          </a:p>
        </p:txBody>
      </p:sp>
      <p:sp>
        <p:nvSpPr>
          <p:cNvPr id="36" name="Rectangle 35"/>
          <p:cNvSpPr/>
          <p:nvPr/>
        </p:nvSpPr>
        <p:spPr>
          <a:xfrm>
            <a:off x="9052560" y="4178808"/>
            <a:ext cx="265176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4178808"/>
            <a:ext cx="1737360" cy="457200"/>
          </a:xfrm>
          <a:prstGeom prst="rect">
            <a:avLst/>
          </a:prstGeom>
          <a:noFill/>
        </p:spPr>
        <p:txBody>
          <a:bodyPr wrap="square" lIns="45720" tIns="18288" rIns="45720" bIns="18288" anchor="ctr">
            <a:spAutoFit/>
          </a:bodyPr>
          <a:lstStyle/>
          <a:p>
            <a:pPr algn="l"/>
            <a:r>
              <a:rPr sz="1300" b="0">
                <a:solidFill>
                  <a:srgbClr val="1F2D3D"/>
                </a:solidFill>
                <a:latin typeface="Calibri"/>
              </a:rPr>
              <a:t>SeaLake</a:t>
            </a:r>
          </a:p>
        </p:txBody>
      </p:sp>
      <p:sp>
        <p:nvSpPr>
          <p:cNvPr id="38" name="Rounded Rectangle 37"/>
          <p:cNvSpPr/>
          <p:nvPr/>
        </p:nvSpPr>
        <p:spPr>
          <a:xfrm>
            <a:off x="10835640" y="4251960"/>
            <a:ext cx="777240" cy="320040"/>
          </a:xfrm>
          <a:prstGeom prst="roundRect">
            <a:avLst/>
          </a:prstGeom>
          <a:solidFill>
            <a:srgbClr val="2E86D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3000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Data preparation</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70 / 15 / 15 split with fixed seed = 42</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8 / 18</a:t>
            </a:r>
          </a:p>
        </p:txBody>
      </p:sp>
      <p:sp>
        <p:nvSpPr>
          <p:cNvPr id="7" name="Rectangle 6"/>
          <p:cNvSpPr/>
          <p:nvPr/>
        </p:nvSpPr>
        <p:spPr>
          <a:xfrm>
            <a:off x="731520" y="2103120"/>
            <a:ext cx="7488936" cy="10972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0456" y="2103120"/>
            <a:ext cx="1604772" cy="10972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825228" y="2103120"/>
            <a:ext cx="1604772" cy="10972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03120"/>
            <a:ext cx="7488936" cy="1097280"/>
          </a:xfrm>
          <a:prstGeom prst="rect">
            <a:avLst/>
          </a:prstGeom>
          <a:noFill/>
        </p:spPr>
        <p:txBody>
          <a:bodyPr wrap="square" lIns="45720" tIns="18288" rIns="45720" bIns="18288" anchor="ctr">
            <a:spAutoFit/>
          </a:bodyPr>
          <a:lstStyle/>
          <a:p>
            <a:pPr algn="ctr"/>
            <a:r>
              <a:rPr sz="1800" b="1">
                <a:solidFill>
                  <a:srgbClr val="FFFFFF"/>
                </a:solidFill>
                <a:latin typeface="Calibri"/>
              </a:rPr>
              <a:t>Train — 70%
18,900 images</a:t>
            </a:r>
          </a:p>
        </p:txBody>
      </p:sp>
      <p:sp>
        <p:nvSpPr>
          <p:cNvPr id="11" name="TextBox 10"/>
          <p:cNvSpPr txBox="1"/>
          <p:nvPr/>
        </p:nvSpPr>
        <p:spPr>
          <a:xfrm>
            <a:off x="8220456" y="2103120"/>
            <a:ext cx="1604772" cy="1097280"/>
          </a:xfrm>
          <a:prstGeom prst="rect">
            <a:avLst/>
          </a:prstGeom>
          <a:noFill/>
        </p:spPr>
        <p:txBody>
          <a:bodyPr wrap="square" lIns="45720" tIns="18288" rIns="45720" bIns="18288" anchor="ctr">
            <a:spAutoFit/>
          </a:bodyPr>
          <a:lstStyle/>
          <a:p>
            <a:pPr algn="ctr"/>
            <a:r>
              <a:rPr sz="1400" b="1">
                <a:solidFill>
                  <a:srgbClr val="FFFFFF"/>
                </a:solidFill>
                <a:latin typeface="Calibri"/>
              </a:rPr>
              <a:t>Val 15%
4,050</a:t>
            </a:r>
          </a:p>
        </p:txBody>
      </p:sp>
      <p:sp>
        <p:nvSpPr>
          <p:cNvPr id="12" name="TextBox 11"/>
          <p:cNvSpPr txBox="1"/>
          <p:nvPr/>
        </p:nvSpPr>
        <p:spPr>
          <a:xfrm>
            <a:off x="9825228" y="2103120"/>
            <a:ext cx="1604772" cy="1097280"/>
          </a:xfrm>
          <a:prstGeom prst="rect">
            <a:avLst/>
          </a:prstGeom>
          <a:noFill/>
        </p:spPr>
        <p:txBody>
          <a:bodyPr wrap="square" lIns="45720" tIns="18288" rIns="45720" bIns="18288" anchor="ctr">
            <a:spAutoFit/>
          </a:bodyPr>
          <a:lstStyle/>
          <a:p>
            <a:pPr algn="ctr"/>
            <a:r>
              <a:rPr sz="1400" b="1">
                <a:solidFill>
                  <a:srgbClr val="FFFFFF"/>
                </a:solidFill>
                <a:latin typeface="Calibri"/>
              </a:rPr>
              <a:t>Test 15%
4,050</a:t>
            </a:r>
          </a:p>
        </p:txBody>
      </p:sp>
      <p:sp>
        <p:nvSpPr>
          <p:cNvPr id="13" name="TextBox 12"/>
          <p:cNvSpPr txBox="1"/>
          <p:nvPr/>
        </p:nvSpPr>
        <p:spPr>
          <a:xfrm>
            <a:off x="731520" y="3749039"/>
            <a:ext cx="10789920" cy="2743200"/>
          </a:xfrm>
          <a:prstGeom prst="rect">
            <a:avLst/>
          </a:prstGeom>
          <a:noFill/>
        </p:spPr>
        <p:txBody>
          <a:bodyPr wrap="square" lIns="45720" rIns="45720">
            <a:spAutoFit/>
          </a:bodyPr>
          <a:lstStyle/>
          <a:p>
            <a:pPr algn="l">
              <a:lnSpc>
                <a:spcPct val="125000"/>
              </a:lnSpc>
            </a:pPr>
            <a:r>
              <a:rPr sz="1800" b="1">
                <a:solidFill>
                  <a:srgbClr val="2E86DE"/>
                </a:solidFill>
                <a:latin typeface="Calibri"/>
              </a:rPr>
              <a:t>▸  </a:t>
            </a:r>
            <a:r>
              <a:rPr sz="1800">
                <a:solidFill>
                  <a:srgbClr val="1F2D3D"/>
                </a:solidFill>
                <a:latin typeface="Calibri"/>
              </a:rPr>
              <a:t>torchvision.datasets.ImageFolder — one subfolder per class</a:t>
            </a:r>
          </a:p>
          <a:p>
            <a:pPr algn="l">
              <a:lnSpc>
                <a:spcPct val="125000"/>
              </a:lnSpc>
            </a:pPr>
            <a:r>
              <a:rPr sz="1800" b="1">
                <a:solidFill>
                  <a:srgbClr val="2E86DE"/>
                </a:solidFill>
                <a:latin typeface="Calibri"/>
              </a:rPr>
              <a:t>▸  </a:t>
            </a:r>
            <a:r>
              <a:rPr sz="1800">
                <a:solidFill>
                  <a:srgbClr val="1F2D3D"/>
                </a:solidFill>
                <a:latin typeface="Calibri"/>
              </a:rPr>
              <a:t>torch.Generator().manual_seed(42) — same split in train.py and evaluate.py</a:t>
            </a:r>
          </a:p>
          <a:p>
            <a:pPr algn="l">
              <a:lnSpc>
                <a:spcPct val="125000"/>
              </a:lnSpc>
            </a:pPr>
            <a:r>
              <a:rPr sz="1800" b="1">
                <a:solidFill>
                  <a:srgbClr val="2E86DE"/>
                </a:solidFill>
                <a:latin typeface="Calibri"/>
              </a:rPr>
              <a:t>▸  </a:t>
            </a:r>
            <a:r>
              <a:rPr sz="1800">
                <a:solidFill>
                  <a:srgbClr val="1F2D3D"/>
                </a:solidFill>
                <a:latin typeface="Calibri"/>
              </a:rPr>
              <a:t>Train — for training; Val — selects the best epoch (min val_loss)</a:t>
            </a:r>
          </a:p>
          <a:p>
            <a:pPr algn="l">
              <a:lnSpc>
                <a:spcPct val="125000"/>
              </a:lnSpc>
            </a:pPr>
            <a:r>
              <a:rPr sz="1800" b="1">
                <a:solidFill>
                  <a:srgbClr val="2E86DE"/>
                </a:solidFill>
                <a:latin typeface="Calibri"/>
              </a:rPr>
              <a:t>▸  </a:t>
            </a:r>
            <a:r>
              <a:rPr sz="1800">
                <a:solidFill>
                  <a:srgbClr val="1F2D3D"/>
                </a:solidFill>
                <a:latin typeface="Calibri"/>
              </a:rPr>
              <a:t>Test — used only for the final metrics, no leakage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SimpleCNN architecture</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Baseline CNN with three convolutional blocks</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9 / 18</a:t>
            </a:r>
          </a:p>
        </p:txBody>
      </p:sp>
      <p:sp>
        <p:nvSpPr>
          <p:cNvPr id="7" name="Rectangle 6"/>
          <p:cNvSpPr/>
          <p:nvPr/>
        </p:nvSpPr>
        <p:spPr>
          <a:xfrm>
            <a:off x="457200" y="2103120"/>
            <a:ext cx="1554480" cy="1188720"/>
          </a:xfrm>
          <a:prstGeom prst="rect">
            <a:avLst/>
          </a:prstGeom>
          <a:solidFill>
            <a:srgbClr val="6B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Input
3 × 64 × 64</a:t>
            </a:r>
          </a:p>
        </p:txBody>
      </p:sp>
      <p:sp>
        <p:nvSpPr>
          <p:cNvPr id="9" name="Rectangle 8"/>
          <p:cNvSpPr/>
          <p:nvPr/>
        </p:nvSpPr>
        <p:spPr>
          <a:xfrm>
            <a:off x="201168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03120" y="2103120"/>
            <a:ext cx="1554480" cy="11887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0312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Conv 3×3
BN + ReLU
MaxPool</a:t>
            </a:r>
          </a:p>
        </p:txBody>
      </p:sp>
      <p:sp>
        <p:nvSpPr>
          <p:cNvPr id="12" name="Rectangle 11"/>
          <p:cNvSpPr/>
          <p:nvPr/>
        </p:nvSpPr>
        <p:spPr>
          <a:xfrm>
            <a:off x="365760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49040" y="2103120"/>
            <a:ext cx="1554480" cy="11887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Conv 3×3
BN + ReLU
MaxPool</a:t>
            </a:r>
          </a:p>
        </p:txBody>
      </p:sp>
      <p:sp>
        <p:nvSpPr>
          <p:cNvPr id="15" name="Rectangle 14"/>
          <p:cNvSpPr/>
          <p:nvPr/>
        </p:nvSpPr>
        <p:spPr>
          <a:xfrm>
            <a:off x="530352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94960" y="2103120"/>
            <a:ext cx="1554480" cy="11887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9496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Conv 3×3
BN + ReLU
MaxPool</a:t>
            </a:r>
          </a:p>
        </p:txBody>
      </p:sp>
      <p:sp>
        <p:nvSpPr>
          <p:cNvPr id="18" name="Rectangle 17"/>
          <p:cNvSpPr/>
          <p:nvPr/>
        </p:nvSpPr>
        <p:spPr>
          <a:xfrm>
            <a:off x="694944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040880" y="2103120"/>
            <a:ext cx="1554480" cy="11887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Flatten
8192</a:t>
            </a:r>
          </a:p>
        </p:txBody>
      </p:sp>
      <p:sp>
        <p:nvSpPr>
          <p:cNvPr id="21" name="Rectangle 20"/>
          <p:cNvSpPr/>
          <p:nvPr/>
        </p:nvSpPr>
        <p:spPr>
          <a:xfrm>
            <a:off x="859536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86800" y="2103120"/>
            <a:ext cx="1554480" cy="11887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FC 512
Dropout 0.5</a:t>
            </a:r>
          </a:p>
        </p:txBody>
      </p:sp>
      <p:sp>
        <p:nvSpPr>
          <p:cNvPr id="24" name="Rectangle 23"/>
          <p:cNvSpPr/>
          <p:nvPr/>
        </p:nvSpPr>
        <p:spPr>
          <a:xfrm>
            <a:off x="10241280" y="2651760"/>
            <a:ext cx="91440" cy="9144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332720" y="2103120"/>
            <a:ext cx="1554480" cy="11887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32720" y="2103120"/>
            <a:ext cx="1554480" cy="1188720"/>
          </a:xfrm>
          <a:prstGeom prst="rect">
            <a:avLst/>
          </a:prstGeom>
          <a:noFill/>
        </p:spPr>
        <p:txBody>
          <a:bodyPr wrap="square" lIns="45720" tIns="18288" rIns="45720" bIns="18288" anchor="ctr">
            <a:spAutoFit/>
          </a:bodyPr>
          <a:lstStyle/>
          <a:p>
            <a:pPr algn="ctr"/>
            <a:r>
              <a:rPr sz="1200" b="1">
                <a:solidFill>
                  <a:srgbClr val="FFFFFF"/>
                </a:solidFill>
                <a:latin typeface="Calibri"/>
              </a:rPr>
              <a:t>FC 10
(classes)</a:t>
            </a:r>
          </a:p>
        </p:txBody>
      </p:sp>
      <p:sp>
        <p:nvSpPr>
          <p:cNvPr id="27" name="TextBox 26"/>
          <p:cNvSpPr txBox="1"/>
          <p:nvPr/>
        </p:nvSpPr>
        <p:spPr>
          <a:xfrm>
            <a:off x="2103120" y="3337560"/>
            <a:ext cx="1554480" cy="274320"/>
          </a:xfrm>
          <a:prstGeom prst="rect">
            <a:avLst/>
          </a:prstGeom>
          <a:noFill/>
        </p:spPr>
        <p:txBody>
          <a:bodyPr wrap="square" lIns="45720" tIns="18288" rIns="45720" bIns="18288" anchor="t">
            <a:spAutoFit/>
          </a:bodyPr>
          <a:lstStyle/>
          <a:p>
            <a:pPr algn="ctr"/>
            <a:r>
              <a:rPr sz="1100" b="1">
                <a:solidFill>
                  <a:srgbClr val="0B3D91"/>
                </a:solidFill>
                <a:latin typeface="Calibri"/>
              </a:rPr>
              <a:t>3 → 32</a:t>
            </a:r>
          </a:p>
        </p:txBody>
      </p:sp>
      <p:sp>
        <p:nvSpPr>
          <p:cNvPr id="28" name="TextBox 27"/>
          <p:cNvSpPr txBox="1"/>
          <p:nvPr/>
        </p:nvSpPr>
        <p:spPr>
          <a:xfrm>
            <a:off x="2103120" y="3611880"/>
            <a:ext cx="1554480" cy="274320"/>
          </a:xfrm>
          <a:prstGeom prst="rect">
            <a:avLst/>
          </a:prstGeom>
          <a:noFill/>
        </p:spPr>
        <p:txBody>
          <a:bodyPr wrap="square" lIns="45720" tIns="18288" rIns="45720" bIns="18288" anchor="t">
            <a:spAutoFit/>
          </a:bodyPr>
          <a:lstStyle/>
          <a:p>
            <a:pPr algn="ctr"/>
            <a:r>
              <a:rPr sz="1100" b="0">
                <a:solidFill>
                  <a:srgbClr val="6B7A8F"/>
                </a:solidFill>
                <a:latin typeface="Calibri"/>
              </a:rPr>
              <a:t>64 × 64</a:t>
            </a:r>
          </a:p>
        </p:txBody>
      </p:sp>
      <p:sp>
        <p:nvSpPr>
          <p:cNvPr id="29" name="TextBox 28"/>
          <p:cNvSpPr txBox="1"/>
          <p:nvPr/>
        </p:nvSpPr>
        <p:spPr>
          <a:xfrm>
            <a:off x="3749040" y="3337560"/>
            <a:ext cx="1554480" cy="274320"/>
          </a:xfrm>
          <a:prstGeom prst="rect">
            <a:avLst/>
          </a:prstGeom>
          <a:noFill/>
        </p:spPr>
        <p:txBody>
          <a:bodyPr wrap="square" lIns="45720" tIns="18288" rIns="45720" bIns="18288" anchor="t">
            <a:spAutoFit/>
          </a:bodyPr>
          <a:lstStyle/>
          <a:p>
            <a:pPr algn="ctr"/>
            <a:r>
              <a:rPr sz="1100" b="1">
                <a:solidFill>
                  <a:srgbClr val="0B3D91"/>
                </a:solidFill>
                <a:latin typeface="Calibri"/>
              </a:rPr>
              <a:t>32 → 64</a:t>
            </a:r>
          </a:p>
        </p:txBody>
      </p:sp>
      <p:sp>
        <p:nvSpPr>
          <p:cNvPr id="30" name="TextBox 29"/>
          <p:cNvSpPr txBox="1"/>
          <p:nvPr/>
        </p:nvSpPr>
        <p:spPr>
          <a:xfrm>
            <a:off x="3749040" y="3611880"/>
            <a:ext cx="1554480" cy="274320"/>
          </a:xfrm>
          <a:prstGeom prst="rect">
            <a:avLst/>
          </a:prstGeom>
          <a:noFill/>
        </p:spPr>
        <p:txBody>
          <a:bodyPr wrap="square" lIns="45720" tIns="18288" rIns="45720" bIns="18288" anchor="t">
            <a:spAutoFit/>
          </a:bodyPr>
          <a:lstStyle/>
          <a:p>
            <a:pPr algn="ctr"/>
            <a:r>
              <a:rPr sz="1100" b="0">
                <a:solidFill>
                  <a:srgbClr val="6B7A8F"/>
                </a:solidFill>
                <a:latin typeface="Calibri"/>
              </a:rPr>
              <a:t>32 × 32</a:t>
            </a:r>
          </a:p>
        </p:txBody>
      </p:sp>
      <p:sp>
        <p:nvSpPr>
          <p:cNvPr id="31" name="TextBox 30"/>
          <p:cNvSpPr txBox="1"/>
          <p:nvPr/>
        </p:nvSpPr>
        <p:spPr>
          <a:xfrm>
            <a:off x="5394960" y="3337560"/>
            <a:ext cx="1554480" cy="274320"/>
          </a:xfrm>
          <a:prstGeom prst="rect">
            <a:avLst/>
          </a:prstGeom>
          <a:noFill/>
        </p:spPr>
        <p:txBody>
          <a:bodyPr wrap="square" lIns="45720" tIns="18288" rIns="45720" bIns="18288" anchor="t">
            <a:spAutoFit/>
          </a:bodyPr>
          <a:lstStyle/>
          <a:p>
            <a:pPr algn="ctr"/>
            <a:r>
              <a:rPr sz="1100" b="1">
                <a:solidFill>
                  <a:srgbClr val="0B3D91"/>
                </a:solidFill>
                <a:latin typeface="Calibri"/>
              </a:rPr>
              <a:t>64 → 128</a:t>
            </a:r>
          </a:p>
        </p:txBody>
      </p:sp>
      <p:sp>
        <p:nvSpPr>
          <p:cNvPr id="32" name="TextBox 31"/>
          <p:cNvSpPr txBox="1"/>
          <p:nvPr/>
        </p:nvSpPr>
        <p:spPr>
          <a:xfrm>
            <a:off x="5394960" y="3611880"/>
            <a:ext cx="1554480" cy="274320"/>
          </a:xfrm>
          <a:prstGeom prst="rect">
            <a:avLst/>
          </a:prstGeom>
          <a:noFill/>
        </p:spPr>
        <p:txBody>
          <a:bodyPr wrap="square" lIns="45720" tIns="18288" rIns="45720" bIns="18288" anchor="t">
            <a:spAutoFit/>
          </a:bodyPr>
          <a:lstStyle/>
          <a:p>
            <a:pPr algn="ctr"/>
            <a:r>
              <a:rPr sz="1100" b="0">
                <a:solidFill>
                  <a:srgbClr val="6B7A8F"/>
                </a:solidFill>
                <a:latin typeface="Calibri"/>
              </a:rPr>
              <a:t>16 × 16</a:t>
            </a:r>
          </a:p>
        </p:txBody>
      </p:sp>
      <p:sp>
        <p:nvSpPr>
          <p:cNvPr id="33" name="TextBox 32"/>
          <p:cNvSpPr txBox="1"/>
          <p:nvPr/>
        </p:nvSpPr>
        <p:spPr>
          <a:xfrm>
            <a:off x="731520" y="4389120"/>
            <a:ext cx="10789920" cy="2103120"/>
          </a:xfrm>
          <a:prstGeom prst="rect">
            <a:avLst/>
          </a:prstGeom>
          <a:noFill/>
        </p:spPr>
        <p:txBody>
          <a:bodyPr wrap="square" lIns="45720" rIns="45720">
            <a:spAutoFit/>
          </a:bodyPr>
          <a:lstStyle/>
          <a:p>
            <a:pPr algn="l">
              <a:lnSpc>
                <a:spcPct val="125000"/>
              </a:lnSpc>
            </a:pPr>
            <a:r>
              <a:rPr sz="1700" b="1">
                <a:solidFill>
                  <a:srgbClr val="2E86DE"/>
                </a:solidFill>
                <a:latin typeface="Calibri"/>
              </a:rPr>
              <a:t>▸  </a:t>
            </a:r>
            <a:r>
              <a:rPr sz="1700">
                <a:solidFill>
                  <a:srgbClr val="1F2D3D"/>
                </a:solidFill>
                <a:latin typeface="Calibri"/>
              </a:rPr>
              <a:t>Channels: 3 → 32 → 64 → 128   •   Spatial size: 64 → 32 → 16 → 8</a:t>
            </a:r>
          </a:p>
          <a:p>
            <a:pPr algn="l">
              <a:lnSpc>
                <a:spcPct val="125000"/>
              </a:lnSpc>
            </a:pPr>
            <a:r>
              <a:rPr sz="1700" b="1">
                <a:solidFill>
                  <a:srgbClr val="2E86DE"/>
                </a:solidFill>
                <a:latin typeface="Calibri"/>
              </a:rPr>
              <a:t>▸  </a:t>
            </a:r>
            <a:r>
              <a:rPr sz="1700">
                <a:solidFill>
                  <a:srgbClr val="1F2D3D"/>
                </a:solidFill>
                <a:latin typeface="Calibri"/>
              </a:rPr>
              <a:t>~4.5 M trainable parameters   •   ~17.2 MB on disk</a:t>
            </a:r>
          </a:p>
          <a:p>
            <a:pPr algn="l">
              <a:lnSpc>
                <a:spcPct val="125000"/>
              </a:lnSpc>
            </a:pPr>
            <a:r>
              <a:rPr sz="1700" b="1">
                <a:solidFill>
                  <a:srgbClr val="2E86DE"/>
                </a:solidFill>
                <a:latin typeface="Calibri"/>
              </a:rPr>
              <a:t>▸  </a:t>
            </a:r>
            <a:r>
              <a:rPr sz="1700">
                <a:solidFill>
                  <a:srgbClr val="1F2D3D"/>
                </a:solidFill>
                <a:latin typeface="Calibri"/>
              </a:rPr>
              <a:t>Batch Normalization stabilizes training; Dropout 0.5 prevents overfitting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U-Net Classifier architecture</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Encoder–Decoder with skip connections, adapted for classification</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10 / 18</a:t>
            </a:r>
          </a:p>
        </p:txBody>
      </p:sp>
      <p:sp>
        <p:nvSpPr>
          <p:cNvPr id="7" name="Rectangle 6"/>
          <p:cNvSpPr/>
          <p:nvPr/>
        </p:nvSpPr>
        <p:spPr>
          <a:xfrm>
            <a:off x="1097280" y="1463040"/>
            <a:ext cx="2560320" cy="7315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46304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DoubleConv
3 → 64</a:t>
            </a:r>
          </a:p>
        </p:txBody>
      </p:sp>
      <p:sp>
        <p:nvSpPr>
          <p:cNvPr id="9" name="Rectangle 8"/>
          <p:cNvSpPr/>
          <p:nvPr/>
        </p:nvSpPr>
        <p:spPr>
          <a:xfrm>
            <a:off x="8412480" y="1463040"/>
            <a:ext cx="2560320" cy="7315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46304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Up3 + Concat
→ 64</a:t>
            </a:r>
          </a:p>
        </p:txBody>
      </p:sp>
      <p:sp>
        <p:nvSpPr>
          <p:cNvPr id="11" name="Rectangle 10"/>
          <p:cNvSpPr/>
          <p:nvPr/>
        </p:nvSpPr>
        <p:spPr>
          <a:xfrm>
            <a:off x="1097280" y="2286000"/>
            <a:ext cx="2560320" cy="7315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28600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Down1
64 → 128</a:t>
            </a:r>
          </a:p>
        </p:txBody>
      </p:sp>
      <p:sp>
        <p:nvSpPr>
          <p:cNvPr id="13" name="Rectangle 12"/>
          <p:cNvSpPr/>
          <p:nvPr/>
        </p:nvSpPr>
        <p:spPr>
          <a:xfrm>
            <a:off x="8412480" y="2286000"/>
            <a:ext cx="2560320" cy="7315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28600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Up2 + Concat
→ 128</a:t>
            </a:r>
          </a:p>
        </p:txBody>
      </p:sp>
      <p:sp>
        <p:nvSpPr>
          <p:cNvPr id="15" name="Rectangle 14"/>
          <p:cNvSpPr/>
          <p:nvPr/>
        </p:nvSpPr>
        <p:spPr>
          <a:xfrm>
            <a:off x="1097280" y="3108960"/>
            <a:ext cx="2560320" cy="7315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10896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Down2
128 → 256</a:t>
            </a:r>
          </a:p>
        </p:txBody>
      </p:sp>
      <p:sp>
        <p:nvSpPr>
          <p:cNvPr id="17" name="Rectangle 16"/>
          <p:cNvSpPr/>
          <p:nvPr/>
        </p:nvSpPr>
        <p:spPr>
          <a:xfrm>
            <a:off x="8412480" y="3108960"/>
            <a:ext cx="2560320" cy="73152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310896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Up1 + Concat
→ 256</a:t>
            </a:r>
          </a:p>
        </p:txBody>
      </p:sp>
      <p:sp>
        <p:nvSpPr>
          <p:cNvPr id="19" name="Rectangle 18"/>
          <p:cNvSpPr/>
          <p:nvPr/>
        </p:nvSpPr>
        <p:spPr>
          <a:xfrm>
            <a:off x="1097280" y="3931920"/>
            <a:ext cx="2560320" cy="7315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393192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Down3
256 → 512</a:t>
            </a:r>
          </a:p>
        </p:txBody>
      </p:sp>
      <p:sp>
        <p:nvSpPr>
          <p:cNvPr id="21" name="Rectangle 20"/>
          <p:cNvSpPr/>
          <p:nvPr/>
        </p:nvSpPr>
        <p:spPr>
          <a:xfrm>
            <a:off x="8412480" y="3931920"/>
            <a:ext cx="2560320" cy="7315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3931920"/>
            <a:ext cx="2560320" cy="731520"/>
          </a:xfrm>
          <a:prstGeom prst="rect">
            <a:avLst/>
          </a:prstGeom>
          <a:noFill/>
        </p:spPr>
        <p:txBody>
          <a:bodyPr wrap="square" lIns="45720" tIns="18288" rIns="45720" bIns="18288" anchor="ctr">
            <a:spAutoFit/>
          </a:bodyPr>
          <a:lstStyle/>
          <a:p>
            <a:pPr algn="ctr"/>
            <a:r>
              <a:rPr sz="1100" b="1">
                <a:solidFill>
                  <a:srgbClr val="FFFFFF"/>
                </a:solidFill>
                <a:latin typeface="Calibri"/>
              </a:rPr>
              <a:t>Bottleneck
512</a:t>
            </a:r>
          </a:p>
        </p:txBody>
      </p:sp>
      <p:sp>
        <p:nvSpPr>
          <p:cNvPr id="23" name="Rectangle 22"/>
          <p:cNvSpPr/>
          <p:nvPr/>
        </p:nvSpPr>
        <p:spPr>
          <a:xfrm>
            <a:off x="3657600" y="1810512"/>
            <a:ext cx="4754880" cy="36576"/>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0" y="2633472"/>
            <a:ext cx="4754880" cy="36576"/>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0" y="3456432"/>
            <a:ext cx="4754880" cy="36576"/>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31920" y="1005840"/>
            <a:ext cx="3657600" cy="365760"/>
          </a:xfrm>
          <a:prstGeom prst="rect">
            <a:avLst/>
          </a:prstGeom>
          <a:noFill/>
        </p:spPr>
        <p:txBody>
          <a:bodyPr wrap="square" lIns="45720" tIns="18288" rIns="45720" bIns="18288" anchor="t">
            <a:spAutoFit/>
          </a:bodyPr>
          <a:lstStyle/>
          <a:p>
            <a:pPr algn="ctr"/>
            <a:r>
              <a:rPr sz="1200" b="1">
                <a:solidFill>
                  <a:srgbClr val="1E8E3E"/>
                </a:solidFill>
                <a:latin typeface="Calibri"/>
              </a:rPr>
              <a:t>skip connections</a:t>
            </a:r>
          </a:p>
        </p:txBody>
      </p:sp>
      <p:sp>
        <p:nvSpPr>
          <p:cNvPr id="27" name="Rectangle 26"/>
          <p:cNvSpPr/>
          <p:nvPr/>
        </p:nvSpPr>
        <p:spPr>
          <a:xfrm>
            <a:off x="4389120" y="4937760"/>
            <a:ext cx="3383280" cy="82296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89120" y="4937760"/>
            <a:ext cx="3383280" cy="822960"/>
          </a:xfrm>
          <a:prstGeom prst="rect">
            <a:avLst/>
          </a:prstGeom>
          <a:noFill/>
        </p:spPr>
        <p:txBody>
          <a:bodyPr wrap="square" lIns="45720" tIns="18288" rIns="45720" bIns="18288" anchor="ctr">
            <a:spAutoFit/>
          </a:bodyPr>
          <a:lstStyle/>
          <a:p>
            <a:pPr algn="ctr"/>
            <a:r>
              <a:rPr sz="1400" b="1">
                <a:solidFill>
                  <a:srgbClr val="FFFFFF"/>
                </a:solidFill>
                <a:latin typeface="Calibri"/>
              </a:rPr>
              <a:t>Global Avg Pool → FC(10)</a:t>
            </a:r>
          </a:p>
        </p:txBody>
      </p:sp>
      <p:sp>
        <p:nvSpPr>
          <p:cNvPr id="29" name="TextBox 28"/>
          <p:cNvSpPr txBox="1"/>
          <p:nvPr/>
        </p:nvSpPr>
        <p:spPr>
          <a:xfrm>
            <a:off x="731520" y="5943600"/>
            <a:ext cx="10789920" cy="731520"/>
          </a:xfrm>
          <a:prstGeom prst="rect">
            <a:avLst/>
          </a:prstGeom>
          <a:noFill/>
        </p:spPr>
        <p:txBody>
          <a:bodyPr wrap="square" lIns="45720" rIns="45720">
            <a:spAutoFit/>
          </a:bodyPr>
          <a:lstStyle/>
          <a:p>
            <a:pPr algn="l">
              <a:lnSpc>
                <a:spcPct val="125000"/>
              </a:lnSpc>
            </a:pPr>
            <a:r>
              <a:rPr sz="1500" b="1">
                <a:solidFill>
                  <a:srgbClr val="2E86DE"/>
                </a:solidFill>
                <a:latin typeface="Calibri"/>
              </a:rPr>
              <a:t>▸  </a:t>
            </a:r>
            <a:r>
              <a:rPr sz="1500">
                <a:solidFill>
                  <a:srgbClr val="1F2D3D"/>
                </a:solidFill>
                <a:latin typeface="Calibri"/>
              </a:rPr>
              <a:t>~8.1 M parameters (1.8× larger than CNN)   •   ~30.9 MB on disk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Training procedure</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Adam + Cross-Entropy + Early Stopping on val_loss</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11 / 18</a:t>
            </a:r>
          </a:p>
        </p:txBody>
      </p:sp>
      <p:sp>
        <p:nvSpPr>
          <p:cNvPr id="7" name="Rectangle 6"/>
          <p:cNvSpPr/>
          <p:nvPr/>
        </p:nvSpPr>
        <p:spPr>
          <a:xfrm>
            <a:off x="731520" y="1554480"/>
            <a:ext cx="2560320" cy="14630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54480"/>
            <a:ext cx="2560320" cy="4572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72768"/>
            <a:ext cx="2560320" cy="457200"/>
          </a:xfrm>
          <a:prstGeom prst="rect">
            <a:avLst/>
          </a:prstGeom>
          <a:noFill/>
        </p:spPr>
        <p:txBody>
          <a:bodyPr wrap="square" lIns="45720" tIns="18288" rIns="45720" bIns="18288" anchor="ctr">
            <a:spAutoFit/>
          </a:bodyPr>
          <a:lstStyle/>
          <a:p>
            <a:pPr algn="ctr"/>
            <a:r>
              <a:rPr sz="1400" b="1">
                <a:solidFill>
                  <a:srgbClr val="FFFFFF"/>
                </a:solidFill>
                <a:latin typeface="Calibri"/>
              </a:rPr>
              <a:t>Optimizer</a:t>
            </a:r>
          </a:p>
        </p:txBody>
      </p:sp>
      <p:sp>
        <p:nvSpPr>
          <p:cNvPr id="10" name="TextBox 9"/>
          <p:cNvSpPr txBox="1"/>
          <p:nvPr/>
        </p:nvSpPr>
        <p:spPr>
          <a:xfrm>
            <a:off x="731520" y="2103120"/>
            <a:ext cx="2560320" cy="914400"/>
          </a:xfrm>
          <a:prstGeom prst="rect">
            <a:avLst/>
          </a:prstGeom>
          <a:noFill/>
        </p:spPr>
        <p:txBody>
          <a:bodyPr wrap="square" lIns="45720" tIns="18288" rIns="45720" bIns="18288" anchor="ctr">
            <a:spAutoFit/>
          </a:bodyPr>
          <a:lstStyle/>
          <a:p>
            <a:pPr algn="ctr"/>
            <a:r>
              <a:rPr sz="1800" b="1">
                <a:solidFill>
                  <a:srgbClr val="0B3D91"/>
                </a:solidFill>
                <a:latin typeface="Calibri"/>
              </a:rPr>
              <a:t>Adam
lr = 0.001</a:t>
            </a:r>
          </a:p>
        </p:txBody>
      </p:sp>
      <p:sp>
        <p:nvSpPr>
          <p:cNvPr id="11" name="Rectangle 10"/>
          <p:cNvSpPr/>
          <p:nvPr/>
        </p:nvSpPr>
        <p:spPr>
          <a:xfrm>
            <a:off x="3474720" y="1554480"/>
            <a:ext cx="2560320" cy="14630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74720" y="1554480"/>
            <a:ext cx="256032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0" y="1572768"/>
            <a:ext cx="2560320" cy="457200"/>
          </a:xfrm>
          <a:prstGeom prst="rect">
            <a:avLst/>
          </a:prstGeom>
          <a:noFill/>
        </p:spPr>
        <p:txBody>
          <a:bodyPr wrap="square" lIns="45720" tIns="18288" rIns="45720" bIns="18288" anchor="ctr">
            <a:spAutoFit/>
          </a:bodyPr>
          <a:lstStyle/>
          <a:p>
            <a:pPr algn="ctr"/>
            <a:r>
              <a:rPr sz="1400" b="1">
                <a:solidFill>
                  <a:srgbClr val="FFFFFF"/>
                </a:solidFill>
                <a:latin typeface="Calibri"/>
              </a:rPr>
              <a:t>Loss</a:t>
            </a:r>
          </a:p>
        </p:txBody>
      </p:sp>
      <p:sp>
        <p:nvSpPr>
          <p:cNvPr id="14" name="TextBox 13"/>
          <p:cNvSpPr txBox="1"/>
          <p:nvPr/>
        </p:nvSpPr>
        <p:spPr>
          <a:xfrm>
            <a:off x="3474720" y="2103120"/>
            <a:ext cx="2560320" cy="914400"/>
          </a:xfrm>
          <a:prstGeom prst="rect">
            <a:avLst/>
          </a:prstGeom>
          <a:noFill/>
        </p:spPr>
        <p:txBody>
          <a:bodyPr wrap="square" lIns="45720" tIns="18288" rIns="45720" bIns="18288" anchor="ctr">
            <a:spAutoFit/>
          </a:bodyPr>
          <a:lstStyle/>
          <a:p>
            <a:pPr algn="ctr"/>
            <a:r>
              <a:rPr sz="1800" b="1">
                <a:solidFill>
                  <a:srgbClr val="0B3D91"/>
                </a:solidFill>
                <a:latin typeface="Calibri"/>
              </a:rPr>
              <a:t>Cross-Entropy</a:t>
            </a:r>
          </a:p>
        </p:txBody>
      </p:sp>
      <p:sp>
        <p:nvSpPr>
          <p:cNvPr id="15" name="Rectangle 14"/>
          <p:cNvSpPr/>
          <p:nvPr/>
        </p:nvSpPr>
        <p:spPr>
          <a:xfrm>
            <a:off x="6217920" y="1554480"/>
            <a:ext cx="2560320" cy="14630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2560320" cy="45720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572768"/>
            <a:ext cx="2560320" cy="457200"/>
          </a:xfrm>
          <a:prstGeom prst="rect">
            <a:avLst/>
          </a:prstGeom>
          <a:noFill/>
        </p:spPr>
        <p:txBody>
          <a:bodyPr wrap="square" lIns="45720" tIns="18288" rIns="45720" bIns="18288" anchor="ctr">
            <a:spAutoFit/>
          </a:bodyPr>
          <a:lstStyle/>
          <a:p>
            <a:pPr algn="ctr"/>
            <a:r>
              <a:rPr sz="1400" b="1">
                <a:solidFill>
                  <a:srgbClr val="FFFFFF"/>
                </a:solidFill>
                <a:latin typeface="Calibri"/>
              </a:rPr>
              <a:t>Batch size</a:t>
            </a:r>
          </a:p>
        </p:txBody>
      </p:sp>
      <p:sp>
        <p:nvSpPr>
          <p:cNvPr id="18" name="TextBox 17"/>
          <p:cNvSpPr txBox="1"/>
          <p:nvPr/>
        </p:nvSpPr>
        <p:spPr>
          <a:xfrm>
            <a:off x="6217920" y="2103120"/>
            <a:ext cx="2560320" cy="914400"/>
          </a:xfrm>
          <a:prstGeom prst="rect">
            <a:avLst/>
          </a:prstGeom>
          <a:noFill/>
        </p:spPr>
        <p:txBody>
          <a:bodyPr wrap="square" lIns="45720" tIns="18288" rIns="45720" bIns="18288" anchor="ctr">
            <a:spAutoFit/>
          </a:bodyPr>
          <a:lstStyle/>
          <a:p>
            <a:pPr algn="ctr"/>
            <a:r>
              <a:rPr sz="1800" b="1">
                <a:solidFill>
                  <a:srgbClr val="0B3D91"/>
                </a:solidFill>
                <a:latin typeface="Calibri"/>
              </a:rPr>
              <a:t>64</a:t>
            </a:r>
          </a:p>
        </p:txBody>
      </p:sp>
      <p:sp>
        <p:nvSpPr>
          <p:cNvPr id="19" name="Rectangle 18"/>
          <p:cNvSpPr/>
          <p:nvPr/>
        </p:nvSpPr>
        <p:spPr>
          <a:xfrm>
            <a:off x="8961120" y="1554480"/>
            <a:ext cx="2560320" cy="14630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61120" y="1554480"/>
            <a:ext cx="2560320" cy="4572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1572768"/>
            <a:ext cx="2560320" cy="457200"/>
          </a:xfrm>
          <a:prstGeom prst="rect">
            <a:avLst/>
          </a:prstGeom>
          <a:noFill/>
        </p:spPr>
        <p:txBody>
          <a:bodyPr wrap="square" lIns="45720" tIns="18288" rIns="45720" bIns="18288" anchor="ctr">
            <a:spAutoFit/>
          </a:bodyPr>
          <a:lstStyle/>
          <a:p>
            <a:pPr algn="ctr"/>
            <a:r>
              <a:rPr sz="1400" b="1">
                <a:solidFill>
                  <a:srgbClr val="FFFFFF"/>
                </a:solidFill>
                <a:latin typeface="Calibri"/>
              </a:rPr>
              <a:t>Max epochs</a:t>
            </a:r>
          </a:p>
        </p:txBody>
      </p:sp>
      <p:sp>
        <p:nvSpPr>
          <p:cNvPr id="22" name="TextBox 21"/>
          <p:cNvSpPr txBox="1"/>
          <p:nvPr/>
        </p:nvSpPr>
        <p:spPr>
          <a:xfrm>
            <a:off x="8961120" y="2103120"/>
            <a:ext cx="2560320" cy="914400"/>
          </a:xfrm>
          <a:prstGeom prst="rect">
            <a:avLst/>
          </a:prstGeom>
          <a:noFill/>
        </p:spPr>
        <p:txBody>
          <a:bodyPr wrap="square" lIns="45720" tIns="18288" rIns="45720" bIns="18288" anchor="ctr">
            <a:spAutoFit/>
          </a:bodyPr>
          <a:lstStyle/>
          <a:p>
            <a:pPr algn="ctr"/>
            <a:r>
              <a:rPr sz="1800" b="1">
                <a:solidFill>
                  <a:srgbClr val="0B3D91"/>
                </a:solidFill>
                <a:latin typeface="Calibri"/>
              </a:rPr>
              <a:t>50</a:t>
            </a:r>
          </a:p>
        </p:txBody>
      </p:sp>
      <p:sp>
        <p:nvSpPr>
          <p:cNvPr id="23" name="Rectangle 22"/>
          <p:cNvSpPr/>
          <p:nvPr/>
        </p:nvSpPr>
        <p:spPr>
          <a:xfrm>
            <a:off x="731520" y="3383280"/>
            <a:ext cx="10698480" cy="30175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474720"/>
            <a:ext cx="10698480" cy="457200"/>
          </a:xfrm>
          <a:prstGeom prst="rect">
            <a:avLst/>
          </a:prstGeom>
          <a:noFill/>
        </p:spPr>
        <p:txBody>
          <a:bodyPr wrap="square" lIns="45720" tIns="18288" rIns="45720" bIns="18288" anchor="t">
            <a:spAutoFit/>
          </a:bodyPr>
          <a:lstStyle/>
          <a:p>
            <a:pPr algn="ctr"/>
            <a:r>
              <a:rPr sz="1800" b="1">
                <a:solidFill>
                  <a:srgbClr val="0B3D91"/>
                </a:solidFill>
                <a:latin typeface="Calibri"/>
              </a:rPr>
              <a:t>Early stopping — when to stop training</a:t>
            </a:r>
          </a:p>
        </p:txBody>
      </p:sp>
      <p:sp>
        <p:nvSpPr>
          <p:cNvPr id="25" name="TextBox 24"/>
          <p:cNvSpPr txBox="1"/>
          <p:nvPr/>
        </p:nvSpPr>
        <p:spPr>
          <a:xfrm>
            <a:off x="914400" y="3931920"/>
            <a:ext cx="10332720" cy="2377440"/>
          </a:xfrm>
          <a:prstGeom prst="rect">
            <a:avLst/>
          </a:prstGeom>
          <a:noFill/>
        </p:spPr>
        <p:txBody>
          <a:bodyPr wrap="square" lIns="45720" rIns="45720">
            <a:spAutoFit/>
          </a:bodyPr>
          <a:lstStyle/>
          <a:p>
            <a:pPr algn="l">
              <a:lnSpc>
                <a:spcPct val="125000"/>
              </a:lnSpc>
            </a:pPr>
            <a:r>
              <a:rPr sz="1600" b="1">
                <a:solidFill>
                  <a:srgbClr val="2E86DE"/>
                </a:solidFill>
                <a:latin typeface="Calibri"/>
              </a:rPr>
              <a:t>▸  </a:t>
            </a:r>
            <a:r>
              <a:rPr sz="1600">
                <a:solidFill>
                  <a:srgbClr val="1F2D3D"/>
                </a:solidFill>
                <a:latin typeface="Calibri"/>
              </a:rPr>
              <a:t>After each epoch compute val_loss; save checkpoint if it improved by &gt; min_delta</a:t>
            </a:r>
          </a:p>
          <a:p>
            <a:pPr algn="l">
              <a:lnSpc>
                <a:spcPct val="125000"/>
              </a:lnSpc>
            </a:pPr>
            <a:r>
              <a:rPr sz="1600" b="1">
                <a:solidFill>
                  <a:srgbClr val="2E86DE"/>
                </a:solidFill>
                <a:latin typeface="Calibri"/>
              </a:rPr>
              <a:t>▸  </a:t>
            </a:r>
            <a:r>
              <a:rPr sz="1600">
                <a:solidFill>
                  <a:srgbClr val="1F2D3D"/>
                </a:solidFill>
                <a:latin typeface="Calibri"/>
              </a:rPr>
              <a:t>If no improvement for patience = 5 consecutive epochs — stop</a:t>
            </a:r>
          </a:p>
          <a:p>
            <a:pPr algn="l">
              <a:lnSpc>
                <a:spcPct val="125000"/>
              </a:lnSpc>
            </a:pPr>
            <a:r>
              <a:rPr sz="1600" b="1">
                <a:solidFill>
                  <a:srgbClr val="2E86DE"/>
                </a:solidFill>
                <a:latin typeface="Calibri"/>
              </a:rPr>
              <a:t>▸  </a:t>
            </a:r>
            <a:r>
              <a:rPr sz="1600">
                <a:solidFill>
                  <a:srgbClr val="1F2D3D"/>
                </a:solidFill>
                <a:latin typeface="Calibri"/>
              </a:rPr>
              <a:t>min_delta: 0.001 for SimpleCNN, 0.0 for U-Net (less strict)</a:t>
            </a:r>
          </a:p>
          <a:p>
            <a:pPr algn="l">
              <a:lnSpc>
                <a:spcPct val="125000"/>
              </a:lnSpc>
            </a:pPr>
            <a:r>
              <a:rPr sz="1600" b="1">
                <a:solidFill>
                  <a:srgbClr val="2E86DE"/>
                </a:solidFill>
                <a:latin typeface="Calibri"/>
              </a:rPr>
              <a:t>▸  </a:t>
            </a:r>
            <a:r>
              <a:rPr sz="1600">
                <a:solidFill>
                  <a:srgbClr val="1F2D3D"/>
                </a:solidFill>
                <a:latin typeface="Calibri"/>
              </a:rPr>
              <a:t>Savings: 34 epochs for CNN and 21 for U-Net with no real gain</a:t>
            </a:r>
          </a:p>
          <a:p>
            <a:pPr algn="l">
              <a:lnSpc>
                <a:spcPct val="125000"/>
              </a:lnSpc>
            </a:pPr>
            <a:r>
              <a:rPr sz="1600" b="1">
                <a:solidFill>
                  <a:srgbClr val="2E86DE"/>
                </a:solidFill>
                <a:latin typeface="Calibri"/>
              </a:rPr>
              <a:t>▸  </a:t>
            </a:r>
            <a:r>
              <a:rPr sz="1600">
                <a:solidFill>
                  <a:srgbClr val="1F2D3D"/>
                </a:solidFill>
                <a:latin typeface="Calibri"/>
              </a:rPr>
              <a:t>Best model on validation → final metrics only on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Hyperparameter analysis</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What actually affected the result</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12 / 18</a:t>
            </a:r>
          </a:p>
        </p:txBody>
      </p:sp>
      <p:sp>
        <p:nvSpPr>
          <p:cNvPr id="7" name="Rectangle 6"/>
          <p:cNvSpPr/>
          <p:nvPr/>
        </p:nvSpPr>
        <p:spPr>
          <a:xfrm>
            <a:off x="731520" y="1554480"/>
            <a:ext cx="3931920"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3749039" cy="822960"/>
          </a:xfrm>
          <a:prstGeom prst="rect">
            <a:avLst/>
          </a:prstGeom>
          <a:noFill/>
        </p:spPr>
        <p:txBody>
          <a:bodyPr wrap="square" lIns="45720" tIns="18288" rIns="45720" bIns="18288" anchor="ctr">
            <a:spAutoFit/>
          </a:bodyPr>
          <a:lstStyle/>
          <a:p>
            <a:pPr algn="l"/>
            <a:r>
              <a:rPr sz="1500" b="1">
                <a:solidFill>
                  <a:srgbClr val="FFFFFF"/>
                </a:solidFill>
                <a:latin typeface="Calibri"/>
              </a:rPr>
              <a:t>Learning rate = 0.001</a:t>
            </a:r>
          </a:p>
        </p:txBody>
      </p:sp>
      <p:sp>
        <p:nvSpPr>
          <p:cNvPr id="9" name="Rectangle 8"/>
          <p:cNvSpPr/>
          <p:nvPr/>
        </p:nvSpPr>
        <p:spPr>
          <a:xfrm>
            <a:off x="4754880" y="1554480"/>
            <a:ext cx="6675120" cy="8229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1554480"/>
            <a:ext cx="6400800" cy="822960"/>
          </a:xfrm>
          <a:prstGeom prst="rect">
            <a:avLst/>
          </a:prstGeom>
          <a:noFill/>
        </p:spPr>
        <p:txBody>
          <a:bodyPr wrap="square" lIns="45720" tIns="18288" rIns="45720" bIns="18288" anchor="ctr">
            <a:spAutoFit/>
          </a:bodyPr>
          <a:lstStyle/>
          <a:p>
            <a:pPr algn="l"/>
            <a:r>
              <a:rPr sz="1400" b="0">
                <a:solidFill>
                  <a:srgbClr val="1F2D3D"/>
                </a:solidFill>
                <a:latin typeface="Calibri"/>
              </a:rPr>
              <a:t>Adam converges stably; 0.01 → instability early on</a:t>
            </a:r>
          </a:p>
        </p:txBody>
      </p:sp>
      <p:sp>
        <p:nvSpPr>
          <p:cNvPr id="11" name="Rectangle 10"/>
          <p:cNvSpPr/>
          <p:nvPr/>
        </p:nvSpPr>
        <p:spPr>
          <a:xfrm>
            <a:off x="731520" y="2468880"/>
            <a:ext cx="3931920"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468880"/>
            <a:ext cx="3749039" cy="822960"/>
          </a:xfrm>
          <a:prstGeom prst="rect">
            <a:avLst/>
          </a:prstGeom>
          <a:noFill/>
        </p:spPr>
        <p:txBody>
          <a:bodyPr wrap="square" lIns="45720" tIns="18288" rIns="45720" bIns="18288" anchor="ctr">
            <a:spAutoFit/>
          </a:bodyPr>
          <a:lstStyle/>
          <a:p>
            <a:pPr algn="l"/>
            <a:r>
              <a:rPr sz="1500" b="1">
                <a:solidFill>
                  <a:srgbClr val="FFFFFF"/>
                </a:solidFill>
                <a:latin typeface="Calibri"/>
              </a:rPr>
              <a:t>Dropout 0.5 (SimpleCNN)</a:t>
            </a:r>
          </a:p>
        </p:txBody>
      </p:sp>
      <p:sp>
        <p:nvSpPr>
          <p:cNvPr id="13" name="Rectangle 12"/>
          <p:cNvSpPr/>
          <p:nvPr/>
        </p:nvSpPr>
        <p:spPr>
          <a:xfrm>
            <a:off x="4754880" y="2468880"/>
            <a:ext cx="6675120" cy="8229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0" y="2468880"/>
            <a:ext cx="6400800" cy="822960"/>
          </a:xfrm>
          <a:prstGeom prst="rect">
            <a:avLst/>
          </a:prstGeom>
          <a:noFill/>
        </p:spPr>
        <p:txBody>
          <a:bodyPr wrap="square" lIns="45720" tIns="18288" rIns="45720" bIns="18288" anchor="ctr">
            <a:spAutoFit/>
          </a:bodyPr>
          <a:lstStyle/>
          <a:p>
            <a:pPr algn="l"/>
            <a:r>
              <a:rPr sz="1400" b="0">
                <a:solidFill>
                  <a:srgbClr val="1F2D3D"/>
                </a:solidFill>
                <a:latin typeface="Calibri"/>
              </a:rPr>
              <a:t>Without it val_loss diverges after epoch 8</a:t>
            </a:r>
          </a:p>
        </p:txBody>
      </p:sp>
      <p:sp>
        <p:nvSpPr>
          <p:cNvPr id="15" name="Rectangle 14"/>
          <p:cNvSpPr/>
          <p:nvPr/>
        </p:nvSpPr>
        <p:spPr>
          <a:xfrm>
            <a:off x="731520" y="3383280"/>
            <a:ext cx="3931920"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383280"/>
            <a:ext cx="3749039" cy="822960"/>
          </a:xfrm>
          <a:prstGeom prst="rect">
            <a:avLst/>
          </a:prstGeom>
          <a:noFill/>
        </p:spPr>
        <p:txBody>
          <a:bodyPr wrap="square" lIns="45720" tIns="18288" rIns="45720" bIns="18288" anchor="ctr">
            <a:spAutoFit/>
          </a:bodyPr>
          <a:lstStyle/>
          <a:p>
            <a:pPr algn="l"/>
            <a:r>
              <a:rPr sz="1500" b="1">
                <a:solidFill>
                  <a:srgbClr val="FFFFFF"/>
                </a:solidFill>
                <a:latin typeface="Calibri"/>
              </a:rPr>
              <a:t>Patience = 5</a:t>
            </a:r>
          </a:p>
        </p:txBody>
      </p:sp>
      <p:sp>
        <p:nvSpPr>
          <p:cNvPr id="17" name="Rectangle 16"/>
          <p:cNvSpPr/>
          <p:nvPr/>
        </p:nvSpPr>
        <p:spPr>
          <a:xfrm>
            <a:off x="4754880" y="3383280"/>
            <a:ext cx="6675120" cy="8229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37760" y="3383280"/>
            <a:ext cx="6400800" cy="822960"/>
          </a:xfrm>
          <a:prstGeom prst="rect">
            <a:avLst/>
          </a:prstGeom>
          <a:noFill/>
        </p:spPr>
        <p:txBody>
          <a:bodyPr wrap="square" lIns="45720" tIns="18288" rIns="45720" bIns="18288" anchor="ctr">
            <a:spAutoFit/>
          </a:bodyPr>
          <a:lstStyle/>
          <a:p>
            <a:pPr algn="l"/>
            <a:r>
              <a:rPr sz="1400" b="0">
                <a:solidFill>
                  <a:srgbClr val="1F2D3D"/>
                </a:solidFill>
                <a:latin typeface="Calibri"/>
              </a:rPr>
              <a:t>Stops before overfitting deepens</a:t>
            </a:r>
          </a:p>
        </p:txBody>
      </p:sp>
      <p:sp>
        <p:nvSpPr>
          <p:cNvPr id="19" name="Rectangle 18"/>
          <p:cNvSpPr/>
          <p:nvPr/>
        </p:nvSpPr>
        <p:spPr>
          <a:xfrm>
            <a:off x="731520" y="4297680"/>
            <a:ext cx="3931920"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297680"/>
            <a:ext cx="3749039" cy="822960"/>
          </a:xfrm>
          <a:prstGeom prst="rect">
            <a:avLst/>
          </a:prstGeom>
          <a:noFill/>
        </p:spPr>
        <p:txBody>
          <a:bodyPr wrap="square" lIns="45720" tIns="18288" rIns="45720" bIns="18288" anchor="ctr">
            <a:spAutoFit/>
          </a:bodyPr>
          <a:lstStyle/>
          <a:p>
            <a:pPr algn="l"/>
            <a:r>
              <a:rPr sz="1500" b="1">
                <a:solidFill>
                  <a:srgbClr val="FFFFFF"/>
                </a:solidFill>
                <a:latin typeface="Calibri"/>
              </a:rPr>
              <a:t>Batch size = 64</a:t>
            </a:r>
          </a:p>
        </p:txBody>
      </p:sp>
      <p:sp>
        <p:nvSpPr>
          <p:cNvPr id="21" name="Rectangle 20"/>
          <p:cNvSpPr/>
          <p:nvPr/>
        </p:nvSpPr>
        <p:spPr>
          <a:xfrm>
            <a:off x="4754880" y="4297680"/>
            <a:ext cx="6675120" cy="8229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37760" y="4297680"/>
            <a:ext cx="6400800" cy="822960"/>
          </a:xfrm>
          <a:prstGeom prst="rect">
            <a:avLst/>
          </a:prstGeom>
          <a:noFill/>
        </p:spPr>
        <p:txBody>
          <a:bodyPr wrap="square" lIns="45720" tIns="18288" rIns="45720" bIns="18288" anchor="ctr">
            <a:spAutoFit/>
          </a:bodyPr>
          <a:lstStyle/>
          <a:p>
            <a:pPr algn="l"/>
            <a:r>
              <a:rPr sz="1400" b="0">
                <a:solidFill>
                  <a:srgbClr val="1F2D3D"/>
                </a:solidFill>
                <a:latin typeface="Calibri"/>
              </a:rPr>
              <a:t>Balance between gradient noise and GPU memory</a:t>
            </a:r>
          </a:p>
        </p:txBody>
      </p:sp>
      <p:sp>
        <p:nvSpPr>
          <p:cNvPr id="23" name="Rectangle 22"/>
          <p:cNvSpPr/>
          <p:nvPr/>
        </p:nvSpPr>
        <p:spPr>
          <a:xfrm>
            <a:off x="731520" y="5212080"/>
            <a:ext cx="3931920"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212080"/>
            <a:ext cx="3749039" cy="822960"/>
          </a:xfrm>
          <a:prstGeom prst="rect">
            <a:avLst/>
          </a:prstGeom>
          <a:noFill/>
        </p:spPr>
        <p:txBody>
          <a:bodyPr wrap="square" lIns="45720" tIns="18288" rIns="45720" bIns="18288" anchor="ctr">
            <a:spAutoFit/>
          </a:bodyPr>
          <a:lstStyle/>
          <a:p>
            <a:pPr algn="l"/>
            <a:r>
              <a:rPr sz="1500" b="1">
                <a:solidFill>
                  <a:srgbClr val="FFFFFF"/>
                </a:solidFill>
                <a:latin typeface="Calibri"/>
              </a:rPr>
              <a:t>Batch Normalization</a:t>
            </a:r>
          </a:p>
        </p:txBody>
      </p:sp>
      <p:sp>
        <p:nvSpPr>
          <p:cNvPr id="25" name="Rectangle 24"/>
          <p:cNvSpPr/>
          <p:nvPr/>
        </p:nvSpPr>
        <p:spPr>
          <a:xfrm>
            <a:off x="4754880" y="5212080"/>
            <a:ext cx="6675120" cy="8229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60" y="5212080"/>
            <a:ext cx="6400800" cy="822960"/>
          </a:xfrm>
          <a:prstGeom prst="rect">
            <a:avLst/>
          </a:prstGeom>
          <a:noFill/>
        </p:spPr>
        <p:txBody>
          <a:bodyPr wrap="square" lIns="45720" tIns="18288" rIns="45720" bIns="18288" anchor="ctr">
            <a:spAutoFit/>
          </a:bodyPr>
          <a:lstStyle/>
          <a:p>
            <a:pPr algn="l"/>
            <a:r>
              <a:rPr sz="1400" b="0">
                <a:solidFill>
                  <a:srgbClr val="1F2D3D"/>
                </a:solidFill>
                <a:latin typeface="Calibri"/>
              </a:rPr>
              <a:t>Critical: removing it drops accuracy by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Results: SimpleCNN</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Best epoch 11, early stopping at epoch 16</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13 / 18</a:t>
            </a:r>
          </a:p>
        </p:txBody>
      </p:sp>
      <p:sp>
        <p:nvSpPr>
          <p:cNvPr id="7" name="Rectangle 6"/>
          <p:cNvSpPr/>
          <p:nvPr/>
        </p:nvSpPr>
        <p:spPr>
          <a:xfrm>
            <a:off x="7315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54480"/>
            <a:ext cx="2560320"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Accuracy</a:t>
            </a:r>
          </a:p>
        </p:txBody>
      </p:sp>
      <p:sp>
        <p:nvSpPr>
          <p:cNvPr id="10" name="TextBox 9"/>
          <p:cNvSpPr txBox="1"/>
          <p:nvPr/>
        </p:nvSpPr>
        <p:spPr>
          <a:xfrm>
            <a:off x="7315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89.23%</a:t>
            </a:r>
          </a:p>
        </p:txBody>
      </p:sp>
      <p:sp>
        <p:nvSpPr>
          <p:cNvPr id="11" name="Rectangle 10"/>
          <p:cNvSpPr/>
          <p:nvPr/>
        </p:nvSpPr>
        <p:spPr>
          <a:xfrm>
            <a:off x="34747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74720" y="1554480"/>
            <a:ext cx="2560320" cy="7315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F1-weighted</a:t>
            </a:r>
          </a:p>
        </p:txBody>
      </p:sp>
      <p:sp>
        <p:nvSpPr>
          <p:cNvPr id="14" name="TextBox 13"/>
          <p:cNvSpPr txBox="1"/>
          <p:nvPr/>
        </p:nvSpPr>
        <p:spPr>
          <a:xfrm>
            <a:off x="34747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0.8930</a:t>
            </a:r>
          </a:p>
        </p:txBody>
      </p:sp>
      <p:sp>
        <p:nvSpPr>
          <p:cNvPr id="15" name="Rectangle 14"/>
          <p:cNvSpPr/>
          <p:nvPr/>
        </p:nvSpPr>
        <p:spPr>
          <a:xfrm>
            <a:off x="62179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2560320" cy="73152"/>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Precision</a:t>
            </a:r>
          </a:p>
        </p:txBody>
      </p:sp>
      <p:sp>
        <p:nvSpPr>
          <p:cNvPr id="18" name="TextBox 17"/>
          <p:cNvSpPr txBox="1"/>
          <p:nvPr/>
        </p:nvSpPr>
        <p:spPr>
          <a:xfrm>
            <a:off x="62179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0.8963</a:t>
            </a:r>
          </a:p>
        </p:txBody>
      </p:sp>
      <p:sp>
        <p:nvSpPr>
          <p:cNvPr id="19" name="Rectangle 18"/>
          <p:cNvSpPr/>
          <p:nvPr/>
        </p:nvSpPr>
        <p:spPr>
          <a:xfrm>
            <a:off x="89611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61120" y="1554480"/>
            <a:ext cx="2560320" cy="7315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Recall</a:t>
            </a:r>
          </a:p>
        </p:txBody>
      </p:sp>
      <p:sp>
        <p:nvSpPr>
          <p:cNvPr id="22" name="TextBox 21"/>
          <p:cNvSpPr txBox="1"/>
          <p:nvPr/>
        </p:nvSpPr>
        <p:spPr>
          <a:xfrm>
            <a:off x="89611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0.8923</a:t>
            </a:r>
          </a:p>
        </p:txBody>
      </p:sp>
      <p:pic>
        <p:nvPicPr>
          <p:cNvPr id="23" name="Picture 22" descr="cnn_cm.png"/>
          <p:cNvPicPr>
            <a:picLocks noChangeAspect="1"/>
          </p:cNvPicPr>
          <p:nvPr/>
        </p:nvPicPr>
        <p:blipFill>
          <a:blip r:embed="rId3"/>
          <a:stretch>
            <a:fillRect/>
          </a:stretch>
        </p:blipFill>
        <p:spPr>
          <a:xfrm>
            <a:off x="731520" y="3108960"/>
            <a:ext cx="5029200" cy="3474720"/>
          </a:xfrm>
          <a:prstGeom prst="rect">
            <a:avLst/>
          </a:prstGeom>
        </p:spPr>
      </p:pic>
      <p:sp>
        <p:nvSpPr>
          <p:cNvPr id="24" name="TextBox 23"/>
          <p:cNvSpPr txBox="1"/>
          <p:nvPr/>
        </p:nvSpPr>
        <p:spPr>
          <a:xfrm>
            <a:off x="6217920" y="3108960"/>
            <a:ext cx="5486400" cy="365760"/>
          </a:xfrm>
          <a:prstGeom prst="rect">
            <a:avLst/>
          </a:prstGeom>
          <a:noFill/>
        </p:spPr>
        <p:txBody>
          <a:bodyPr wrap="square" lIns="45720" tIns="18288" rIns="45720" bIns="18288" anchor="t">
            <a:spAutoFit/>
          </a:bodyPr>
          <a:lstStyle/>
          <a:p>
            <a:pPr algn="l"/>
            <a:r>
              <a:rPr sz="1500" b="1">
                <a:solidFill>
                  <a:srgbClr val="0B3D91"/>
                </a:solidFill>
                <a:latin typeface="Calibri"/>
              </a:rPr>
              <a:t>Best and worst classes by F1</a:t>
            </a:r>
          </a:p>
        </p:txBody>
      </p:sp>
      <p:sp>
        <p:nvSpPr>
          <p:cNvPr id="25" name="Rectangle 24"/>
          <p:cNvSpPr/>
          <p:nvPr/>
        </p:nvSpPr>
        <p:spPr>
          <a:xfrm>
            <a:off x="6217920" y="3520440"/>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520440"/>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Residential</a:t>
            </a:r>
          </a:p>
        </p:txBody>
      </p:sp>
      <p:sp>
        <p:nvSpPr>
          <p:cNvPr id="27" name="Rounded Rectangle 26"/>
          <p:cNvSpPr/>
          <p:nvPr/>
        </p:nvSpPr>
        <p:spPr>
          <a:xfrm>
            <a:off x="9966960" y="3566160"/>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0.9394</a:t>
            </a:r>
          </a:p>
        </p:txBody>
      </p:sp>
      <p:sp>
        <p:nvSpPr>
          <p:cNvPr id="28" name="Rectangle 27"/>
          <p:cNvSpPr/>
          <p:nvPr/>
        </p:nvSpPr>
        <p:spPr>
          <a:xfrm>
            <a:off x="6217920" y="3959352"/>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3959352"/>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Forest</a:t>
            </a:r>
          </a:p>
        </p:txBody>
      </p:sp>
      <p:sp>
        <p:nvSpPr>
          <p:cNvPr id="30" name="Rounded Rectangle 29"/>
          <p:cNvSpPr/>
          <p:nvPr/>
        </p:nvSpPr>
        <p:spPr>
          <a:xfrm>
            <a:off x="9966960" y="4005072"/>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0.9539</a:t>
            </a:r>
          </a:p>
        </p:txBody>
      </p:sp>
      <p:sp>
        <p:nvSpPr>
          <p:cNvPr id="31" name="Rectangle 30"/>
          <p:cNvSpPr/>
          <p:nvPr/>
        </p:nvSpPr>
        <p:spPr>
          <a:xfrm>
            <a:off x="6217920" y="4398264"/>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398264"/>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SeaLake</a:t>
            </a:r>
          </a:p>
        </p:txBody>
      </p:sp>
      <p:sp>
        <p:nvSpPr>
          <p:cNvPr id="33" name="Rounded Rectangle 32"/>
          <p:cNvSpPr/>
          <p:nvPr/>
        </p:nvSpPr>
        <p:spPr>
          <a:xfrm>
            <a:off x="9966960" y="4443984"/>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0.9483</a:t>
            </a:r>
          </a:p>
        </p:txBody>
      </p:sp>
      <p:sp>
        <p:nvSpPr>
          <p:cNvPr id="34" name="Rectangle 33"/>
          <p:cNvSpPr/>
          <p:nvPr/>
        </p:nvSpPr>
        <p:spPr>
          <a:xfrm>
            <a:off x="6217920" y="4837176"/>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837176"/>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HerbaceousVegetation</a:t>
            </a:r>
          </a:p>
        </p:txBody>
      </p:sp>
      <p:sp>
        <p:nvSpPr>
          <p:cNvPr id="36" name="Rounded Rectangle 35"/>
          <p:cNvSpPr/>
          <p:nvPr/>
        </p:nvSpPr>
        <p:spPr>
          <a:xfrm>
            <a:off x="9966960" y="4882896"/>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0.8210</a:t>
            </a:r>
          </a:p>
        </p:txBody>
      </p:sp>
      <p:sp>
        <p:nvSpPr>
          <p:cNvPr id="37" name="Rectangle 36"/>
          <p:cNvSpPr/>
          <p:nvPr/>
        </p:nvSpPr>
        <p:spPr>
          <a:xfrm>
            <a:off x="6217920" y="5276088"/>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5276088"/>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PermanentCrop</a:t>
            </a:r>
          </a:p>
        </p:txBody>
      </p:sp>
      <p:sp>
        <p:nvSpPr>
          <p:cNvPr id="39" name="Rounded Rectangle 38"/>
          <p:cNvSpPr/>
          <p:nvPr/>
        </p:nvSpPr>
        <p:spPr>
          <a:xfrm>
            <a:off x="9966960" y="5321808"/>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0.8331</a:t>
            </a:r>
          </a:p>
        </p:txBody>
      </p:sp>
      <p:sp>
        <p:nvSpPr>
          <p:cNvPr id="40" name="Rectangle 39"/>
          <p:cNvSpPr/>
          <p:nvPr/>
        </p:nvSpPr>
        <p:spPr>
          <a:xfrm>
            <a:off x="6217920" y="5715000"/>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715000"/>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River</a:t>
            </a:r>
          </a:p>
        </p:txBody>
      </p:sp>
      <p:sp>
        <p:nvSpPr>
          <p:cNvPr id="42" name="Rounded Rectangle 41"/>
          <p:cNvSpPr/>
          <p:nvPr/>
        </p:nvSpPr>
        <p:spPr>
          <a:xfrm>
            <a:off x="9966960" y="5760720"/>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0.8359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Results: U-Net Classifier</a:t>
            </a:r>
          </a:p>
        </p:txBody>
      </p:sp>
      <p:sp>
        <p:nvSpPr>
          <p:cNvPr id="4" name="TextBox 3"/>
          <p:cNvSpPr txBox="1"/>
          <p:nvPr/>
        </p:nvSpPr>
        <p:spPr>
          <a:xfrm>
            <a:off x="502920" y="777240"/>
            <a:ext cx="10515600" cy="320040"/>
          </a:xfrm>
          <a:prstGeom prst="rect">
            <a:avLst/>
          </a:prstGeom>
          <a:noFill/>
        </p:spPr>
        <p:txBody>
          <a:bodyPr wrap="square" lIns="45720" tIns="18288" rIns="45720" bIns="18288" anchor="t">
            <a:spAutoFit/>
          </a:bodyPr>
          <a:lstStyle/>
          <a:p>
            <a:pPr algn="l"/>
            <a:r>
              <a:rPr sz="1400" b="0">
                <a:solidFill>
                  <a:srgbClr val="6B7A8F"/>
                </a:solidFill>
                <a:latin typeface="Calibri"/>
              </a:rPr>
              <a:t>Best epoch 24, early stopping at epoch 29</a:t>
            </a:r>
          </a:p>
        </p:txBody>
      </p:sp>
      <p:sp>
        <p:nvSpPr>
          <p:cNvPr id="5" name="Rectangle 4"/>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14 / 18</a:t>
            </a:r>
          </a:p>
        </p:txBody>
      </p:sp>
      <p:sp>
        <p:nvSpPr>
          <p:cNvPr id="7" name="Rectangle 6"/>
          <p:cNvSpPr/>
          <p:nvPr/>
        </p:nvSpPr>
        <p:spPr>
          <a:xfrm>
            <a:off x="7315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54480"/>
            <a:ext cx="2560320"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Accuracy</a:t>
            </a:r>
          </a:p>
        </p:txBody>
      </p:sp>
      <p:sp>
        <p:nvSpPr>
          <p:cNvPr id="10" name="TextBox 9"/>
          <p:cNvSpPr txBox="1"/>
          <p:nvPr/>
        </p:nvSpPr>
        <p:spPr>
          <a:xfrm>
            <a:off x="7315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96.10%</a:t>
            </a:r>
          </a:p>
        </p:txBody>
      </p:sp>
      <p:sp>
        <p:nvSpPr>
          <p:cNvPr id="11" name="Rectangle 10"/>
          <p:cNvSpPr/>
          <p:nvPr/>
        </p:nvSpPr>
        <p:spPr>
          <a:xfrm>
            <a:off x="34747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74720" y="1554480"/>
            <a:ext cx="2560320" cy="7315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F1-weighted</a:t>
            </a:r>
          </a:p>
        </p:txBody>
      </p:sp>
      <p:sp>
        <p:nvSpPr>
          <p:cNvPr id="14" name="TextBox 13"/>
          <p:cNvSpPr txBox="1"/>
          <p:nvPr/>
        </p:nvSpPr>
        <p:spPr>
          <a:xfrm>
            <a:off x="34747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0.9610</a:t>
            </a:r>
          </a:p>
        </p:txBody>
      </p:sp>
      <p:sp>
        <p:nvSpPr>
          <p:cNvPr id="15" name="Rectangle 14"/>
          <p:cNvSpPr/>
          <p:nvPr/>
        </p:nvSpPr>
        <p:spPr>
          <a:xfrm>
            <a:off x="62179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2560320" cy="73152"/>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Precision</a:t>
            </a:r>
          </a:p>
        </p:txBody>
      </p:sp>
      <p:sp>
        <p:nvSpPr>
          <p:cNvPr id="18" name="TextBox 17"/>
          <p:cNvSpPr txBox="1"/>
          <p:nvPr/>
        </p:nvSpPr>
        <p:spPr>
          <a:xfrm>
            <a:off x="62179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0.9613</a:t>
            </a:r>
          </a:p>
        </p:txBody>
      </p:sp>
      <p:sp>
        <p:nvSpPr>
          <p:cNvPr id="19" name="Rectangle 18"/>
          <p:cNvSpPr/>
          <p:nvPr/>
        </p:nvSpPr>
        <p:spPr>
          <a:xfrm>
            <a:off x="8961120" y="1554480"/>
            <a:ext cx="2560320" cy="1371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61120" y="1554480"/>
            <a:ext cx="2560320" cy="7315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1783080"/>
            <a:ext cx="2560320" cy="411480"/>
          </a:xfrm>
          <a:prstGeom prst="rect">
            <a:avLst/>
          </a:prstGeom>
          <a:noFill/>
        </p:spPr>
        <p:txBody>
          <a:bodyPr wrap="square" lIns="45720" tIns="18288" rIns="45720" bIns="18288" anchor="t">
            <a:spAutoFit/>
          </a:bodyPr>
          <a:lstStyle/>
          <a:p>
            <a:pPr algn="ctr"/>
            <a:r>
              <a:rPr sz="1400" b="1">
                <a:solidFill>
                  <a:srgbClr val="6B7A8F"/>
                </a:solidFill>
                <a:latin typeface="Calibri"/>
              </a:rPr>
              <a:t>Recall</a:t>
            </a:r>
          </a:p>
        </p:txBody>
      </p:sp>
      <p:sp>
        <p:nvSpPr>
          <p:cNvPr id="22" name="TextBox 21"/>
          <p:cNvSpPr txBox="1"/>
          <p:nvPr/>
        </p:nvSpPr>
        <p:spPr>
          <a:xfrm>
            <a:off x="8961120" y="2148840"/>
            <a:ext cx="2560320" cy="685800"/>
          </a:xfrm>
          <a:prstGeom prst="rect">
            <a:avLst/>
          </a:prstGeom>
          <a:noFill/>
        </p:spPr>
        <p:txBody>
          <a:bodyPr wrap="square" lIns="45720" tIns="18288" rIns="45720" bIns="18288" anchor="t">
            <a:spAutoFit/>
          </a:bodyPr>
          <a:lstStyle/>
          <a:p>
            <a:pPr algn="ctr"/>
            <a:r>
              <a:rPr sz="2800" b="1">
                <a:solidFill>
                  <a:srgbClr val="0B3D91"/>
                </a:solidFill>
                <a:latin typeface="Calibri"/>
              </a:rPr>
              <a:t>0.9610</a:t>
            </a:r>
          </a:p>
        </p:txBody>
      </p:sp>
      <p:pic>
        <p:nvPicPr>
          <p:cNvPr id="23" name="Picture 22" descr="unet_cm.png"/>
          <p:cNvPicPr>
            <a:picLocks noChangeAspect="1"/>
          </p:cNvPicPr>
          <p:nvPr/>
        </p:nvPicPr>
        <p:blipFill>
          <a:blip r:embed="rId3"/>
          <a:stretch>
            <a:fillRect/>
          </a:stretch>
        </p:blipFill>
        <p:spPr>
          <a:xfrm>
            <a:off x="731520" y="3108960"/>
            <a:ext cx="5029200" cy="3474720"/>
          </a:xfrm>
          <a:prstGeom prst="rect">
            <a:avLst/>
          </a:prstGeom>
        </p:spPr>
      </p:pic>
      <p:sp>
        <p:nvSpPr>
          <p:cNvPr id="24" name="TextBox 23"/>
          <p:cNvSpPr txBox="1"/>
          <p:nvPr/>
        </p:nvSpPr>
        <p:spPr>
          <a:xfrm>
            <a:off x="6217920" y="3108960"/>
            <a:ext cx="5486400" cy="365760"/>
          </a:xfrm>
          <a:prstGeom prst="rect">
            <a:avLst/>
          </a:prstGeom>
          <a:noFill/>
        </p:spPr>
        <p:txBody>
          <a:bodyPr wrap="square" lIns="45720" tIns="18288" rIns="45720" bIns="18288" anchor="t">
            <a:spAutoFit/>
          </a:bodyPr>
          <a:lstStyle/>
          <a:p>
            <a:pPr algn="l"/>
            <a:r>
              <a:rPr sz="1500" b="1">
                <a:solidFill>
                  <a:srgbClr val="0B3D91"/>
                </a:solidFill>
                <a:latin typeface="Calibri"/>
              </a:rPr>
              <a:t>Best and worst classes by F1</a:t>
            </a:r>
          </a:p>
        </p:txBody>
      </p:sp>
      <p:sp>
        <p:nvSpPr>
          <p:cNvPr id="25" name="Rectangle 24"/>
          <p:cNvSpPr/>
          <p:nvPr/>
        </p:nvSpPr>
        <p:spPr>
          <a:xfrm>
            <a:off x="6217920" y="3520440"/>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520440"/>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Residential</a:t>
            </a:r>
          </a:p>
        </p:txBody>
      </p:sp>
      <p:sp>
        <p:nvSpPr>
          <p:cNvPr id="27" name="Rounded Rectangle 26"/>
          <p:cNvSpPr/>
          <p:nvPr/>
        </p:nvSpPr>
        <p:spPr>
          <a:xfrm>
            <a:off x="9966960" y="3566160"/>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0.9857</a:t>
            </a:r>
          </a:p>
        </p:txBody>
      </p:sp>
      <p:sp>
        <p:nvSpPr>
          <p:cNvPr id="28" name="Rectangle 27"/>
          <p:cNvSpPr/>
          <p:nvPr/>
        </p:nvSpPr>
        <p:spPr>
          <a:xfrm>
            <a:off x="6217920" y="3959352"/>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3959352"/>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SeaLake</a:t>
            </a:r>
          </a:p>
        </p:txBody>
      </p:sp>
      <p:sp>
        <p:nvSpPr>
          <p:cNvPr id="30" name="Rounded Rectangle 29"/>
          <p:cNvSpPr/>
          <p:nvPr/>
        </p:nvSpPr>
        <p:spPr>
          <a:xfrm>
            <a:off x="9966960" y="4005072"/>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0.9794</a:t>
            </a:r>
          </a:p>
        </p:txBody>
      </p:sp>
      <p:sp>
        <p:nvSpPr>
          <p:cNvPr id="31" name="Rectangle 30"/>
          <p:cNvSpPr/>
          <p:nvPr/>
        </p:nvSpPr>
        <p:spPr>
          <a:xfrm>
            <a:off x="6217920" y="4398264"/>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398264"/>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Highway</a:t>
            </a:r>
          </a:p>
        </p:txBody>
      </p:sp>
      <p:sp>
        <p:nvSpPr>
          <p:cNvPr id="33" name="Rounded Rectangle 32"/>
          <p:cNvSpPr/>
          <p:nvPr/>
        </p:nvSpPr>
        <p:spPr>
          <a:xfrm>
            <a:off x="9966960" y="4443984"/>
            <a:ext cx="1554480" cy="274320"/>
          </a:xfrm>
          <a:prstGeom prst="roundRect">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0.9781</a:t>
            </a:r>
          </a:p>
        </p:txBody>
      </p:sp>
      <p:sp>
        <p:nvSpPr>
          <p:cNvPr id="34" name="Rectangle 33"/>
          <p:cNvSpPr/>
          <p:nvPr/>
        </p:nvSpPr>
        <p:spPr>
          <a:xfrm>
            <a:off x="6217920" y="4837176"/>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837176"/>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HerbaceousVegetation</a:t>
            </a:r>
          </a:p>
        </p:txBody>
      </p:sp>
      <p:sp>
        <p:nvSpPr>
          <p:cNvPr id="36" name="Rounded Rectangle 35"/>
          <p:cNvSpPr/>
          <p:nvPr/>
        </p:nvSpPr>
        <p:spPr>
          <a:xfrm>
            <a:off x="9966960" y="4882896"/>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0.9390</a:t>
            </a:r>
          </a:p>
        </p:txBody>
      </p:sp>
      <p:sp>
        <p:nvSpPr>
          <p:cNvPr id="37" name="Rectangle 36"/>
          <p:cNvSpPr/>
          <p:nvPr/>
        </p:nvSpPr>
        <p:spPr>
          <a:xfrm>
            <a:off x="6217920" y="5276088"/>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5276088"/>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PermanentCrop</a:t>
            </a:r>
          </a:p>
        </p:txBody>
      </p:sp>
      <p:sp>
        <p:nvSpPr>
          <p:cNvPr id="39" name="Rounded Rectangle 38"/>
          <p:cNvSpPr/>
          <p:nvPr/>
        </p:nvSpPr>
        <p:spPr>
          <a:xfrm>
            <a:off x="9966960" y="5321808"/>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0.9404</a:t>
            </a:r>
          </a:p>
        </p:txBody>
      </p:sp>
      <p:sp>
        <p:nvSpPr>
          <p:cNvPr id="40" name="Rectangle 39"/>
          <p:cNvSpPr/>
          <p:nvPr/>
        </p:nvSpPr>
        <p:spPr>
          <a:xfrm>
            <a:off x="6217920" y="5715000"/>
            <a:ext cx="365760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715000"/>
            <a:ext cx="3474720" cy="365760"/>
          </a:xfrm>
          <a:prstGeom prst="rect">
            <a:avLst/>
          </a:prstGeom>
          <a:noFill/>
        </p:spPr>
        <p:txBody>
          <a:bodyPr wrap="square" lIns="45720" tIns="18288" rIns="45720" bIns="18288" anchor="ctr">
            <a:spAutoFit/>
          </a:bodyPr>
          <a:lstStyle/>
          <a:p>
            <a:pPr algn="l"/>
            <a:r>
              <a:rPr sz="1300" b="0">
                <a:solidFill>
                  <a:srgbClr val="1F2D3D"/>
                </a:solidFill>
                <a:latin typeface="Calibri"/>
              </a:rPr>
              <a:t>AnnualCrop</a:t>
            </a:r>
          </a:p>
        </p:txBody>
      </p:sp>
      <p:sp>
        <p:nvSpPr>
          <p:cNvPr id="42" name="Rounded Rectangle 41"/>
          <p:cNvSpPr/>
          <p:nvPr/>
        </p:nvSpPr>
        <p:spPr>
          <a:xfrm>
            <a:off x="9966960" y="5760720"/>
            <a:ext cx="1554480" cy="27432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100" b="1">
                <a:solidFill>
                  <a:srgbClr val="FFFFFF"/>
                </a:solidFill>
                <a:latin typeface="Calibri"/>
              </a:rPr>
              <a:t>F1 = 0.9434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Comparative analysis: CNN vs. U-Net</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15 / 18</a:t>
            </a:r>
          </a:p>
        </p:txBody>
      </p:sp>
      <p:sp>
        <p:nvSpPr>
          <p:cNvPr id="6" name="Rectangle 5"/>
          <p:cNvSpPr/>
          <p:nvPr/>
        </p:nvSpPr>
        <p:spPr>
          <a:xfrm>
            <a:off x="731520" y="1554480"/>
            <a:ext cx="3474720" cy="5029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4480"/>
            <a:ext cx="3474720" cy="502920"/>
          </a:xfrm>
          <a:prstGeom prst="rect">
            <a:avLst/>
          </a:prstGeom>
          <a:noFill/>
        </p:spPr>
        <p:txBody>
          <a:bodyPr wrap="square" lIns="45720" tIns="18288" rIns="45720" bIns="18288" anchor="ctr">
            <a:spAutoFit/>
          </a:bodyPr>
          <a:lstStyle/>
          <a:p>
            <a:pPr algn="ctr"/>
            <a:r>
              <a:rPr sz="1600" b="1">
                <a:solidFill>
                  <a:srgbClr val="FFFFFF"/>
                </a:solidFill>
                <a:latin typeface="Calibri"/>
              </a:rPr>
              <a:t>Metric</a:t>
            </a:r>
          </a:p>
        </p:txBody>
      </p:sp>
      <p:sp>
        <p:nvSpPr>
          <p:cNvPr id="8" name="Rectangle 7"/>
          <p:cNvSpPr/>
          <p:nvPr/>
        </p:nvSpPr>
        <p:spPr>
          <a:xfrm>
            <a:off x="4206240" y="1554480"/>
            <a:ext cx="2560320" cy="5029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06240" y="1554480"/>
            <a:ext cx="2560320" cy="502920"/>
          </a:xfrm>
          <a:prstGeom prst="rect">
            <a:avLst/>
          </a:prstGeom>
          <a:noFill/>
        </p:spPr>
        <p:txBody>
          <a:bodyPr wrap="square" lIns="45720" tIns="18288" rIns="45720" bIns="18288" anchor="ctr">
            <a:spAutoFit/>
          </a:bodyPr>
          <a:lstStyle/>
          <a:p>
            <a:pPr algn="ctr"/>
            <a:r>
              <a:rPr sz="1600" b="1">
                <a:solidFill>
                  <a:srgbClr val="FFFFFF"/>
                </a:solidFill>
                <a:latin typeface="Calibri"/>
              </a:rPr>
              <a:t>SimpleCNN</a:t>
            </a:r>
          </a:p>
        </p:txBody>
      </p:sp>
      <p:sp>
        <p:nvSpPr>
          <p:cNvPr id="10" name="Rectangle 9"/>
          <p:cNvSpPr/>
          <p:nvPr/>
        </p:nvSpPr>
        <p:spPr>
          <a:xfrm>
            <a:off x="6766560" y="1554480"/>
            <a:ext cx="2560320" cy="5029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0" y="1554480"/>
            <a:ext cx="2560320" cy="502920"/>
          </a:xfrm>
          <a:prstGeom prst="rect">
            <a:avLst/>
          </a:prstGeom>
          <a:noFill/>
        </p:spPr>
        <p:txBody>
          <a:bodyPr wrap="square" lIns="45720" tIns="18288" rIns="45720" bIns="18288" anchor="ctr">
            <a:spAutoFit/>
          </a:bodyPr>
          <a:lstStyle/>
          <a:p>
            <a:pPr algn="ctr"/>
            <a:r>
              <a:rPr sz="1600" b="1">
                <a:solidFill>
                  <a:srgbClr val="FFFFFF"/>
                </a:solidFill>
                <a:latin typeface="Calibri"/>
              </a:rPr>
              <a:t>UNetClassifier</a:t>
            </a:r>
          </a:p>
        </p:txBody>
      </p:sp>
      <p:sp>
        <p:nvSpPr>
          <p:cNvPr id="12" name="Rectangle 11"/>
          <p:cNvSpPr/>
          <p:nvPr/>
        </p:nvSpPr>
        <p:spPr>
          <a:xfrm>
            <a:off x="9326880" y="1554480"/>
            <a:ext cx="2103120" cy="5029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0" y="1554480"/>
            <a:ext cx="2103120" cy="502920"/>
          </a:xfrm>
          <a:prstGeom prst="rect">
            <a:avLst/>
          </a:prstGeom>
          <a:noFill/>
        </p:spPr>
        <p:txBody>
          <a:bodyPr wrap="square" lIns="45720" tIns="18288" rIns="45720" bIns="18288" anchor="ctr">
            <a:spAutoFit/>
          </a:bodyPr>
          <a:lstStyle/>
          <a:p>
            <a:pPr algn="ctr"/>
            <a:r>
              <a:rPr sz="1600" b="1">
                <a:solidFill>
                  <a:srgbClr val="FFFFFF"/>
                </a:solidFill>
                <a:latin typeface="Calibri"/>
              </a:rPr>
              <a:t>Δ</a:t>
            </a:r>
          </a:p>
        </p:txBody>
      </p:sp>
      <p:sp>
        <p:nvSpPr>
          <p:cNvPr id="14" name="Rectangle 13"/>
          <p:cNvSpPr/>
          <p:nvPr/>
        </p:nvSpPr>
        <p:spPr>
          <a:xfrm>
            <a:off x="731520" y="2057400"/>
            <a:ext cx="34747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0574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Test Accuracy</a:t>
            </a:r>
          </a:p>
        </p:txBody>
      </p:sp>
      <p:sp>
        <p:nvSpPr>
          <p:cNvPr id="16" name="Rectangle 15"/>
          <p:cNvSpPr/>
          <p:nvPr/>
        </p:nvSpPr>
        <p:spPr>
          <a:xfrm>
            <a:off x="4206240" y="20574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0" y="20574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89.23%</a:t>
            </a:r>
          </a:p>
        </p:txBody>
      </p:sp>
      <p:sp>
        <p:nvSpPr>
          <p:cNvPr id="18" name="Rectangle 17"/>
          <p:cNvSpPr/>
          <p:nvPr/>
        </p:nvSpPr>
        <p:spPr>
          <a:xfrm>
            <a:off x="6766560" y="20574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0" y="20574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96.10%</a:t>
            </a:r>
          </a:p>
        </p:txBody>
      </p:sp>
      <p:sp>
        <p:nvSpPr>
          <p:cNvPr id="20" name="Rectangle 19"/>
          <p:cNvSpPr/>
          <p:nvPr/>
        </p:nvSpPr>
        <p:spPr>
          <a:xfrm>
            <a:off x="9326880" y="2057400"/>
            <a:ext cx="21031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18320" y="2057400"/>
            <a:ext cx="1920240" cy="457200"/>
          </a:xfrm>
          <a:prstGeom prst="rect">
            <a:avLst/>
          </a:prstGeom>
          <a:noFill/>
        </p:spPr>
        <p:txBody>
          <a:bodyPr wrap="square" lIns="45720" tIns="18288" rIns="45720" bIns="18288" anchor="ctr">
            <a:spAutoFit/>
          </a:bodyPr>
          <a:lstStyle/>
          <a:p>
            <a:pPr algn="ctr"/>
            <a:r>
              <a:rPr sz="1400" b="1">
                <a:solidFill>
                  <a:srgbClr val="1E8E3E"/>
                </a:solidFill>
                <a:latin typeface="Calibri"/>
              </a:rPr>
              <a:t>+6.87 p.p.</a:t>
            </a:r>
          </a:p>
        </p:txBody>
      </p:sp>
      <p:sp>
        <p:nvSpPr>
          <p:cNvPr id="22" name="Rectangle 21"/>
          <p:cNvSpPr/>
          <p:nvPr/>
        </p:nvSpPr>
        <p:spPr>
          <a:xfrm>
            <a:off x="731520" y="2514600"/>
            <a:ext cx="34747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5146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Weighted F1</a:t>
            </a:r>
          </a:p>
        </p:txBody>
      </p:sp>
      <p:sp>
        <p:nvSpPr>
          <p:cNvPr id="24" name="Rectangle 23"/>
          <p:cNvSpPr/>
          <p:nvPr/>
        </p:nvSpPr>
        <p:spPr>
          <a:xfrm>
            <a:off x="4206240" y="25146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0" y="25146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0.8930</a:t>
            </a:r>
          </a:p>
        </p:txBody>
      </p:sp>
      <p:sp>
        <p:nvSpPr>
          <p:cNvPr id="26" name="Rectangle 25"/>
          <p:cNvSpPr/>
          <p:nvPr/>
        </p:nvSpPr>
        <p:spPr>
          <a:xfrm>
            <a:off x="6766560" y="25146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25146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0.9610</a:t>
            </a:r>
          </a:p>
        </p:txBody>
      </p:sp>
      <p:sp>
        <p:nvSpPr>
          <p:cNvPr id="28" name="Rectangle 27"/>
          <p:cNvSpPr/>
          <p:nvPr/>
        </p:nvSpPr>
        <p:spPr>
          <a:xfrm>
            <a:off x="9326880" y="2514600"/>
            <a:ext cx="2103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18320" y="2514600"/>
            <a:ext cx="1920240" cy="457200"/>
          </a:xfrm>
          <a:prstGeom prst="rect">
            <a:avLst/>
          </a:prstGeom>
          <a:noFill/>
        </p:spPr>
        <p:txBody>
          <a:bodyPr wrap="square" lIns="45720" tIns="18288" rIns="45720" bIns="18288" anchor="ctr">
            <a:spAutoFit/>
          </a:bodyPr>
          <a:lstStyle/>
          <a:p>
            <a:pPr algn="ctr"/>
            <a:r>
              <a:rPr sz="1400" b="1">
                <a:solidFill>
                  <a:srgbClr val="1E8E3E"/>
                </a:solidFill>
                <a:latin typeface="Calibri"/>
              </a:rPr>
              <a:t>+0.068</a:t>
            </a:r>
          </a:p>
        </p:txBody>
      </p:sp>
      <p:sp>
        <p:nvSpPr>
          <p:cNvPr id="30" name="Rectangle 29"/>
          <p:cNvSpPr/>
          <p:nvPr/>
        </p:nvSpPr>
        <p:spPr>
          <a:xfrm>
            <a:off x="731520" y="2971800"/>
            <a:ext cx="34747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29718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Best Val Loss</a:t>
            </a:r>
          </a:p>
        </p:txBody>
      </p:sp>
      <p:sp>
        <p:nvSpPr>
          <p:cNvPr id="32" name="Rectangle 31"/>
          <p:cNvSpPr/>
          <p:nvPr/>
        </p:nvSpPr>
        <p:spPr>
          <a:xfrm>
            <a:off x="4206240" y="29718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97680" y="29718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0.3105</a:t>
            </a:r>
          </a:p>
        </p:txBody>
      </p:sp>
      <p:sp>
        <p:nvSpPr>
          <p:cNvPr id="34" name="Rectangle 33"/>
          <p:cNvSpPr/>
          <p:nvPr/>
        </p:nvSpPr>
        <p:spPr>
          <a:xfrm>
            <a:off x="6766560" y="29718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0" y="29718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0.1116</a:t>
            </a:r>
          </a:p>
        </p:txBody>
      </p:sp>
      <p:sp>
        <p:nvSpPr>
          <p:cNvPr id="36" name="Rectangle 35"/>
          <p:cNvSpPr/>
          <p:nvPr/>
        </p:nvSpPr>
        <p:spPr>
          <a:xfrm>
            <a:off x="9326880" y="2971800"/>
            <a:ext cx="21031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18320" y="2971800"/>
            <a:ext cx="1920240" cy="457200"/>
          </a:xfrm>
          <a:prstGeom prst="rect">
            <a:avLst/>
          </a:prstGeom>
          <a:noFill/>
        </p:spPr>
        <p:txBody>
          <a:bodyPr wrap="square" lIns="45720" tIns="18288" rIns="45720" bIns="18288" anchor="ctr">
            <a:spAutoFit/>
          </a:bodyPr>
          <a:lstStyle/>
          <a:p>
            <a:pPr algn="ctr"/>
            <a:r>
              <a:rPr sz="1400" b="1">
                <a:solidFill>
                  <a:srgbClr val="1E8E3E"/>
                </a:solidFill>
                <a:latin typeface="Calibri"/>
              </a:rPr>
              <a:t>−64%</a:t>
            </a:r>
          </a:p>
        </p:txBody>
      </p:sp>
      <p:sp>
        <p:nvSpPr>
          <p:cNvPr id="38" name="Rectangle 37"/>
          <p:cNvSpPr/>
          <p:nvPr/>
        </p:nvSpPr>
        <p:spPr>
          <a:xfrm>
            <a:off x="731520" y="3429000"/>
            <a:ext cx="34747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4290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Best Epoch</a:t>
            </a:r>
          </a:p>
        </p:txBody>
      </p:sp>
      <p:sp>
        <p:nvSpPr>
          <p:cNvPr id="40" name="Rectangle 39"/>
          <p:cNvSpPr/>
          <p:nvPr/>
        </p:nvSpPr>
        <p:spPr>
          <a:xfrm>
            <a:off x="4206240" y="34290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97680" y="34290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11</a:t>
            </a:r>
          </a:p>
        </p:txBody>
      </p:sp>
      <p:sp>
        <p:nvSpPr>
          <p:cNvPr id="42" name="Rectangle 41"/>
          <p:cNvSpPr/>
          <p:nvPr/>
        </p:nvSpPr>
        <p:spPr>
          <a:xfrm>
            <a:off x="6766560" y="34290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0" y="34290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24</a:t>
            </a:r>
          </a:p>
        </p:txBody>
      </p:sp>
      <p:sp>
        <p:nvSpPr>
          <p:cNvPr id="44" name="Rectangle 43"/>
          <p:cNvSpPr/>
          <p:nvPr/>
        </p:nvSpPr>
        <p:spPr>
          <a:xfrm>
            <a:off x="9326880" y="3429000"/>
            <a:ext cx="2103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18320" y="3429000"/>
            <a:ext cx="1920240" cy="457200"/>
          </a:xfrm>
          <a:prstGeom prst="rect">
            <a:avLst/>
          </a:prstGeom>
          <a:noFill/>
        </p:spPr>
        <p:txBody>
          <a:bodyPr wrap="square" lIns="45720" tIns="18288" rIns="45720" bIns="18288" anchor="ctr">
            <a:spAutoFit/>
          </a:bodyPr>
          <a:lstStyle/>
          <a:p>
            <a:pPr algn="ctr"/>
            <a:r>
              <a:rPr sz="1400" b="1">
                <a:solidFill>
                  <a:srgbClr val="1F2D3D"/>
                </a:solidFill>
                <a:latin typeface="Calibri"/>
              </a:rPr>
              <a:t>later</a:t>
            </a:r>
          </a:p>
        </p:txBody>
      </p:sp>
      <p:sp>
        <p:nvSpPr>
          <p:cNvPr id="46" name="Rectangle 45"/>
          <p:cNvSpPr/>
          <p:nvPr/>
        </p:nvSpPr>
        <p:spPr>
          <a:xfrm>
            <a:off x="731520" y="3886200"/>
            <a:ext cx="34747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38862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Model Size</a:t>
            </a:r>
          </a:p>
        </p:txBody>
      </p:sp>
      <p:sp>
        <p:nvSpPr>
          <p:cNvPr id="48" name="Rectangle 47"/>
          <p:cNvSpPr/>
          <p:nvPr/>
        </p:nvSpPr>
        <p:spPr>
          <a:xfrm>
            <a:off x="4206240" y="38862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97680" y="38862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17.2 MB</a:t>
            </a:r>
          </a:p>
        </p:txBody>
      </p:sp>
      <p:sp>
        <p:nvSpPr>
          <p:cNvPr id="50" name="Rectangle 49"/>
          <p:cNvSpPr/>
          <p:nvPr/>
        </p:nvSpPr>
        <p:spPr>
          <a:xfrm>
            <a:off x="6766560" y="3886200"/>
            <a:ext cx="2560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0" y="38862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30.9 MB</a:t>
            </a:r>
          </a:p>
        </p:txBody>
      </p:sp>
      <p:sp>
        <p:nvSpPr>
          <p:cNvPr id="52" name="Rectangle 51"/>
          <p:cNvSpPr/>
          <p:nvPr/>
        </p:nvSpPr>
        <p:spPr>
          <a:xfrm>
            <a:off x="9326880" y="3886200"/>
            <a:ext cx="21031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418320" y="3886200"/>
            <a:ext cx="1920240" cy="457200"/>
          </a:xfrm>
          <a:prstGeom prst="rect">
            <a:avLst/>
          </a:prstGeom>
          <a:noFill/>
        </p:spPr>
        <p:txBody>
          <a:bodyPr wrap="square" lIns="45720" tIns="18288" rIns="45720" bIns="18288" anchor="ctr">
            <a:spAutoFit/>
          </a:bodyPr>
          <a:lstStyle/>
          <a:p>
            <a:pPr algn="ctr"/>
            <a:r>
              <a:rPr sz="1400" b="1">
                <a:solidFill>
                  <a:srgbClr val="1F2D3D"/>
                </a:solidFill>
                <a:latin typeface="Calibri"/>
              </a:rPr>
              <a:t>×1.8</a:t>
            </a:r>
          </a:p>
        </p:txBody>
      </p:sp>
      <p:sp>
        <p:nvSpPr>
          <p:cNvPr id="54" name="Rectangle 53"/>
          <p:cNvSpPr/>
          <p:nvPr/>
        </p:nvSpPr>
        <p:spPr>
          <a:xfrm>
            <a:off x="731520" y="4343400"/>
            <a:ext cx="34747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343400"/>
            <a:ext cx="3291840" cy="457200"/>
          </a:xfrm>
          <a:prstGeom prst="rect">
            <a:avLst/>
          </a:prstGeom>
          <a:noFill/>
        </p:spPr>
        <p:txBody>
          <a:bodyPr wrap="square" lIns="45720" tIns="18288" rIns="45720" bIns="18288" anchor="ctr">
            <a:spAutoFit/>
          </a:bodyPr>
          <a:lstStyle/>
          <a:p>
            <a:pPr algn="ctr"/>
            <a:r>
              <a:rPr sz="1400" b="1">
                <a:solidFill>
                  <a:srgbClr val="1F2D3D"/>
                </a:solidFill>
                <a:latin typeface="Calibri"/>
              </a:rPr>
              <a:t>Worst-class F1</a:t>
            </a:r>
          </a:p>
        </p:txBody>
      </p:sp>
      <p:sp>
        <p:nvSpPr>
          <p:cNvPr id="56" name="Rectangle 55"/>
          <p:cNvSpPr/>
          <p:nvPr/>
        </p:nvSpPr>
        <p:spPr>
          <a:xfrm>
            <a:off x="4206240" y="43434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297680" y="43434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River 0.836</a:t>
            </a:r>
          </a:p>
        </p:txBody>
      </p:sp>
      <p:sp>
        <p:nvSpPr>
          <p:cNvPr id="58" name="Rectangle 57"/>
          <p:cNvSpPr/>
          <p:nvPr/>
        </p:nvSpPr>
        <p:spPr>
          <a:xfrm>
            <a:off x="6766560" y="4343400"/>
            <a:ext cx="25603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0" y="4343400"/>
            <a:ext cx="2377440" cy="457200"/>
          </a:xfrm>
          <a:prstGeom prst="rect">
            <a:avLst/>
          </a:prstGeom>
          <a:noFill/>
        </p:spPr>
        <p:txBody>
          <a:bodyPr wrap="square" lIns="45720" tIns="18288" rIns="45720" bIns="18288" anchor="ctr">
            <a:spAutoFit/>
          </a:bodyPr>
          <a:lstStyle/>
          <a:p>
            <a:pPr algn="ctr"/>
            <a:r>
              <a:rPr sz="1400" b="0">
                <a:solidFill>
                  <a:srgbClr val="1F2D3D"/>
                </a:solidFill>
                <a:latin typeface="Calibri"/>
              </a:rPr>
              <a:t>River 0.951</a:t>
            </a:r>
          </a:p>
        </p:txBody>
      </p:sp>
      <p:sp>
        <p:nvSpPr>
          <p:cNvPr id="60" name="Rectangle 59"/>
          <p:cNvSpPr/>
          <p:nvPr/>
        </p:nvSpPr>
        <p:spPr>
          <a:xfrm>
            <a:off x="9326880" y="4343400"/>
            <a:ext cx="2103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418320" y="4343400"/>
            <a:ext cx="1920240" cy="457200"/>
          </a:xfrm>
          <a:prstGeom prst="rect">
            <a:avLst/>
          </a:prstGeom>
          <a:noFill/>
        </p:spPr>
        <p:txBody>
          <a:bodyPr wrap="square" lIns="45720" tIns="18288" rIns="45720" bIns="18288" anchor="ctr">
            <a:spAutoFit/>
          </a:bodyPr>
          <a:lstStyle/>
          <a:p>
            <a:pPr algn="ctr"/>
            <a:r>
              <a:rPr sz="1400" b="1">
                <a:solidFill>
                  <a:srgbClr val="1E8E3E"/>
                </a:solidFill>
                <a:latin typeface="Calibri"/>
              </a:rPr>
              <a:t>+0.115</a:t>
            </a:r>
          </a:p>
        </p:txBody>
      </p:sp>
      <p:sp>
        <p:nvSpPr>
          <p:cNvPr id="62" name="TextBox 61"/>
          <p:cNvSpPr txBox="1"/>
          <p:nvPr/>
        </p:nvSpPr>
        <p:spPr>
          <a:xfrm>
            <a:off x="731520" y="5577840"/>
            <a:ext cx="10789920" cy="1188720"/>
          </a:xfrm>
          <a:prstGeom prst="rect">
            <a:avLst/>
          </a:prstGeom>
          <a:noFill/>
        </p:spPr>
        <p:txBody>
          <a:bodyPr wrap="square" lIns="45720" rIns="45720">
            <a:spAutoFit/>
          </a:bodyPr>
          <a:lstStyle/>
          <a:p>
            <a:pPr algn="l">
              <a:lnSpc>
                <a:spcPct val="125000"/>
              </a:lnSpc>
            </a:pPr>
            <a:r>
              <a:rPr sz="1600" b="1">
                <a:solidFill>
                  <a:srgbClr val="2E86DE"/>
                </a:solidFill>
                <a:latin typeface="Calibri"/>
              </a:rPr>
              <a:t>▸  </a:t>
            </a:r>
            <a:r>
              <a:rPr sz="1600">
                <a:solidFill>
                  <a:srgbClr val="1F2D3D"/>
                </a:solidFill>
                <a:latin typeface="Calibri"/>
              </a:rPr>
              <a:t>U-Net captures both global context and fine detail (via skip connections)</a:t>
            </a:r>
          </a:p>
          <a:p>
            <a:pPr algn="l">
              <a:lnSpc>
                <a:spcPct val="125000"/>
              </a:lnSpc>
            </a:pPr>
            <a:r>
              <a:rPr sz="1600" b="1">
                <a:solidFill>
                  <a:srgbClr val="2E86DE"/>
                </a:solidFill>
                <a:latin typeface="Calibri"/>
              </a:rPr>
              <a:t>▸  </a:t>
            </a:r>
            <a:r>
              <a:rPr sz="1600">
                <a:solidFill>
                  <a:srgbClr val="1F2D3D"/>
                </a:solidFill>
                <a:latin typeface="Calibri"/>
              </a:rPr>
              <a:t>The cost: 1.8× more parameters and roughly twice as many epochs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Conclusions</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16 / 18</a:t>
            </a:r>
          </a:p>
        </p:txBody>
      </p:sp>
      <p:sp>
        <p:nvSpPr>
          <p:cNvPr id="6" name="TextBox 5"/>
          <p:cNvSpPr txBox="1"/>
          <p:nvPr/>
        </p:nvSpPr>
        <p:spPr>
          <a:xfrm>
            <a:off x="731520" y="1554480"/>
            <a:ext cx="10789920" cy="5029200"/>
          </a:xfrm>
          <a:prstGeom prst="rect">
            <a:avLst/>
          </a:prstGeom>
          <a:noFill/>
        </p:spPr>
        <p:txBody>
          <a:bodyPr wrap="square" lIns="45720" rIns="45720">
            <a:spAutoFit/>
          </a:bodyPr>
          <a:lstStyle/>
          <a:p>
            <a:pPr algn="l">
              <a:lnSpc>
                <a:spcPct val="125000"/>
              </a:lnSpc>
            </a:pPr>
            <a:r>
              <a:rPr sz="2000" b="1">
                <a:solidFill>
                  <a:srgbClr val="2E86DE"/>
                </a:solidFill>
                <a:latin typeface="Calibri"/>
              </a:rPr>
              <a:t>▸  </a:t>
            </a:r>
            <a:r>
              <a:rPr sz="2000">
                <a:solidFill>
                  <a:srgbClr val="1F2D3D"/>
                </a:solidFill>
                <a:latin typeface="Calibri"/>
              </a:rPr>
              <a:t>Designed and compared two architectures on EuroSAT (RGB, 10 classes, 27,000 images)</a:t>
            </a:r>
          </a:p>
          <a:p>
            <a:pPr algn="l">
              <a:lnSpc>
                <a:spcPct val="125000"/>
              </a:lnSpc>
            </a:pPr>
            <a:r>
              <a:rPr sz="2000" b="1">
                <a:solidFill>
                  <a:srgbClr val="2E86DE"/>
                </a:solidFill>
                <a:latin typeface="Calibri"/>
              </a:rPr>
              <a:t>▸  </a:t>
            </a:r>
            <a:r>
              <a:rPr sz="2000">
                <a:solidFill>
                  <a:srgbClr val="1F2D3D"/>
                </a:solidFill>
                <a:latin typeface="Calibri"/>
              </a:rPr>
              <a:t>SimpleCNN: 89.23% accuracy — a solid baseline</a:t>
            </a:r>
          </a:p>
          <a:p>
            <a:pPr algn="l">
              <a:lnSpc>
                <a:spcPct val="125000"/>
              </a:lnSpc>
            </a:pPr>
            <a:r>
              <a:rPr sz="2000" b="1">
                <a:solidFill>
                  <a:srgbClr val="2E86DE"/>
                </a:solidFill>
                <a:latin typeface="Calibri"/>
              </a:rPr>
              <a:t>▸  </a:t>
            </a:r>
            <a:r>
              <a:rPr sz="2000">
                <a:solidFill>
                  <a:srgbClr val="1F2D3D"/>
                </a:solidFill>
                <a:latin typeface="Calibri"/>
              </a:rPr>
              <a:t>U-Net Classifier: 96.10% accuracy — +6.87 p.p., uniform across all classes</a:t>
            </a:r>
          </a:p>
          <a:p>
            <a:pPr algn="l">
              <a:lnSpc>
                <a:spcPct val="125000"/>
              </a:lnSpc>
            </a:pPr>
            <a:r>
              <a:rPr sz="2000" b="1">
                <a:solidFill>
                  <a:srgbClr val="2E86DE"/>
                </a:solidFill>
                <a:latin typeface="Calibri"/>
              </a:rPr>
              <a:t>▸  </a:t>
            </a:r>
            <a:r>
              <a:rPr sz="2000">
                <a:solidFill>
                  <a:srgbClr val="1F2D3D"/>
                </a:solidFill>
                <a:latin typeface="Calibri"/>
              </a:rPr>
              <a:t>Skip connections and feature hierarchy are the key to quality on satellite imagery</a:t>
            </a:r>
          </a:p>
          <a:p>
            <a:pPr algn="l">
              <a:lnSpc>
                <a:spcPct val="125000"/>
              </a:lnSpc>
            </a:pPr>
            <a:r>
              <a:rPr sz="2000" b="1">
                <a:solidFill>
                  <a:srgbClr val="2E86DE"/>
                </a:solidFill>
                <a:latin typeface="Calibri"/>
              </a:rPr>
              <a:t>▸  </a:t>
            </a:r>
            <a:r>
              <a:rPr sz="2000">
                <a:solidFill>
                  <a:srgbClr val="1F2D3D"/>
                </a:solidFill>
                <a:latin typeface="Calibri"/>
              </a:rPr>
              <a:t>Reproducibility: fixed seed, Docker, modular train → eval pipeline</a:t>
            </a:r>
          </a:p>
          <a:p>
            <a:pPr algn="l">
              <a:lnSpc>
                <a:spcPct val="125000"/>
              </a:lnSpc>
            </a:pPr>
            <a:r>
              <a:rPr sz="2000" b="1">
                <a:solidFill>
                  <a:srgbClr val="2E86DE"/>
                </a:solidFill>
                <a:latin typeface="Calibri"/>
              </a:rPr>
              <a:t>▸  </a:t>
            </a:r>
            <a:r>
              <a:rPr sz="2000">
                <a:solidFill>
                  <a:srgbClr val="1F2D3D"/>
                </a:solidFill>
                <a:latin typeface="Calibri"/>
              </a:rPr>
              <a:t>Results are directly applicable to smart-city and environmental monitoring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640080"/>
          </a:xfrm>
          <a:prstGeom prst="rect">
            <a:avLst/>
          </a:prstGeom>
          <a:noFill/>
        </p:spPr>
        <p:txBody>
          <a:bodyPr wrap="square" lIns="45720" tIns="18288" rIns="45720" bIns="18288" anchor="t">
            <a:spAutoFit/>
          </a:bodyPr>
          <a:lstStyle/>
          <a:p>
            <a:pPr algn="l"/>
            <a:r>
              <a:rPr sz="3000" b="1">
                <a:solidFill>
                  <a:srgbClr val="0B3D91"/>
                </a:solidFill>
                <a:latin typeface="Calibri"/>
              </a:rPr>
              <a:t>Future work</a:t>
            </a:r>
          </a:p>
        </p:txBody>
      </p:sp>
      <p:sp>
        <p:nvSpPr>
          <p:cNvPr id="4" name="Rectangle 3"/>
          <p:cNvSpPr/>
          <p:nvPr/>
        </p:nvSpPr>
        <p:spPr>
          <a:xfrm>
            <a:off x="502920" y="1143000"/>
            <a:ext cx="11247120" cy="180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17 / 18</a:t>
            </a:r>
          </a:p>
        </p:txBody>
      </p:sp>
      <p:sp>
        <p:nvSpPr>
          <p:cNvPr id="6" name="Rectangle 5"/>
          <p:cNvSpPr/>
          <p:nvPr/>
        </p:nvSpPr>
        <p:spPr>
          <a:xfrm>
            <a:off x="731520" y="1554480"/>
            <a:ext cx="3657600" cy="8686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3474720" cy="868680"/>
          </a:xfrm>
          <a:prstGeom prst="rect">
            <a:avLst/>
          </a:prstGeom>
          <a:noFill/>
        </p:spPr>
        <p:txBody>
          <a:bodyPr wrap="square" lIns="45720" tIns="18288" rIns="45720" bIns="18288" anchor="ctr">
            <a:spAutoFit/>
          </a:bodyPr>
          <a:lstStyle/>
          <a:p>
            <a:pPr algn="l"/>
            <a:r>
              <a:rPr sz="1600" b="1">
                <a:solidFill>
                  <a:srgbClr val="FFFFFF"/>
                </a:solidFill>
                <a:latin typeface="Calibri"/>
              </a:rPr>
              <a:t>Multispectral input</a:t>
            </a:r>
          </a:p>
        </p:txBody>
      </p:sp>
      <p:sp>
        <p:nvSpPr>
          <p:cNvPr id="8" name="Rectangle 7"/>
          <p:cNvSpPr/>
          <p:nvPr/>
        </p:nvSpPr>
        <p:spPr>
          <a:xfrm>
            <a:off x="4480560" y="1554480"/>
            <a:ext cx="6949440"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554480"/>
            <a:ext cx="6675120" cy="868680"/>
          </a:xfrm>
          <a:prstGeom prst="rect">
            <a:avLst/>
          </a:prstGeom>
          <a:noFill/>
        </p:spPr>
        <p:txBody>
          <a:bodyPr wrap="square" lIns="45720" tIns="18288" rIns="45720" bIns="18288" anchor="ctr">
            <a:spAutoFit/>
          </a:bodyPr>
          <a:lstStyle/>
          <a:p>
            <a:pPr algn="l"/>
            <a:r>
              <a:rPr sz="1400" b="0">
                <a:solidFill>
                  <a:srgbClr val="1F2D3D"/>
                </a:solidFill>
                <a:latin typeface="Calibri"/>
              </a:rPr>
              <a:t>all 13 Sentinel-2 bands (including NIR and SWIR)</a:t>
            </a:r>
          </a:p>
        </p:txBody>
      </p:sp>
      <p:sp>
        <p:nvSpPr>
          <p:cNvPr id="10" name="Rectangle 9"/>
          <p:cNvSpPr/>
          <p:nvPr/>
        </p:nvSpPr>
        <p:spPr>
          <a:xfrm>
            <a:off x="731520" y="2496312"/>
            <a:ext cx="3657600" cy="8686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496312"/>
            <a:ext cx="3474720" cy="868680"/>
          </a:xfrm>
          <a:prstGeom prst="rect">
            <a:avLst/>
          </a:prstGeom>
          <a:noFill/>
        </p:spPr>
        <p:txBody>
          <a:bodyPr wrap="square" lIns="45720" tIns="18288" rIns="45720" bIns="18288" anchor="ctr">
            <a:spAutoFit/>
          </a:bodyPr>
          <a:lstStyle/>
          <a:p>
            <a:pPr algn="l"/>
            <a:r>
              <a:rPr sz="1600" b="1">
                <a:solidFill>
                  <a:srgbClr val="FFFFFF"/>
                </a:solidFill>
                <a:latin typeface="Calibri"/>
              </a:rPr>
              <a:t>Data augmentation</a:t>
            </a:r>
          </a:p>
        </p:txBody>
      </p:sp>
      <p:sp>
        <p:nvSpPr>
          <p:cNvPr id="12" name="Rectangle 11"/>
          <p:cNvSpPr/>
          <p:nvPr/>
        </p:nvSpPr>
        <p:spPr>
          <a:xfrm>
            <a:off x="4480560" y="2496312"/>
            <a:ext cx="6949440"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2496312"/>
            <a:ext cx="6675120" cy="868680"/>
          </a:xfrm>
          <a:prstGeom prst="rect">
            <a:avLst/>
          </a:prstGeom>
          <a:noFill/>
        </p:spPr>
        <p:txBody>
          <a:bodyPr wrap="square" lIns="45720" tIns="18288" rIns="45720" bIns="18288" anchor="ctr">
            <a:spAutoFit/>
          </a:bodyPr>
          <a:lstStyle/>
          <a:p>
            <a:pPr algn="l"/>
            <a:r>
              <a:rPr sz="1400" b="0">
                <a:solidFill>
                  <a:srgbClr val="1F2D3D"/>
                </a:solidFill>
                <a:latin typeface="Calibri"/>
              </a:rPr>
              <a:t>flips, rotations, spectral jitter</a:t>
            </a:r>
          </a:p>
        </p:txBody>
      </p:sp>
      <p:sp>
        <p:nvSpPr>
          <p:cNvPr id="14" name="Rectangle 13"/>
          <p:cNvSpPr/>
          <p:nvPr/>
        </p:nvSpPr>
        <p:spPr>
          <a:xfrm>
            <a:off x="731520" y="3438144"/>
            <a:ext cx="3657600" cy="8686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438144"/>
            <a:ext cx="3474720" cy="868680"/>
          </a:xfrm>
          <a:prstGeom prst="rect">
            <a:avLst/>
          </a:prstGeom>
          <a:noFill/>
        </p:spPr>
        <p:txBody>
          <a:bodyPr wrap="square" lIns="45720" tIns="18288" rIns="45720" bIns="18288" anchor="ctr">
            <a:spAutoFit/>
          </a:bodyPr>
          <a:lstStyle/>
          <a:p>
            <a:pPr algn="l"/>
            <a:r>
              <a:rPr sz="1600" b="1">
                <a:solidFill>
                  <a:srgbClr val="FFFFFF"/>
                </a:solidFill>
                <a:latin typeface="Calibri"/>
              </a:rPr>
              <a:t>Transfer learning</a:t>
            </a:r>
          </a:p>
        </p:txBody>
      </p:sp>
      <p:sp>
        <p:nvSpPr>
          <p:cNvPr id="16" name="Rectangle 15"/>
          <p:cNvSpPr/>
          <p:nvPr/>
        </p:nvSpPr>
        <p:spPr>
          <a:xfrm>
            <a:off x="4480560" y="3438144"/>
            <a:ext cx="6949440"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3438144"/>
            <a:ext cx="6675120" cy="868680"/>
          </a:xfrm>
          <a:prstGeom prst="rect">
            <a:avLst/>
          </a:prstGeom>
          <a:noFill/>
        </p:spPr>
        <p:txBody>
          <a:bodyPr wrap="square" lIns="45720" tIns="18288" rIns="45720" bIns="18288" anchor="ctr">
            <a:spAutoFit/>
          </a:bodyPr>
          <a:lstStyle/>
          <a:p>
            <a:pPr algn="l"/>
            <a:r>
              <a:rPr sz="1400" b="0">
                <a:solidFill>
                  <a:srgbClr val="1F2D3D"/>
                </a:solidFill>
                <a:latin typeface="Calibri"/>
              </a:rPr>
              <a:t>fine-tune ResNet-50 / EfficientNet as a U-Net encoder</a:t>
            </a:r>
          </a:p>
        </p:txBody>
      </p:sp>
      <p:sp>
        <p:nvSpPr>
          <p:cNvPr id="18" name="Rectangle 17"/>
          <p:cNvSpPr/>
          <p:nvPr/>
        </p:nvSpPr>
        <p:spPr>
          <a:xfrm>
            <a:off x="731520" y="4379976"/>
            <a:ext cx="3657600" cy="8686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379976"/>
            <a:ext cx="3474720" cy="868680"/>
          </a:xfrm>
          <a:prstGeom prst="rect">
            <a:avLst/>
          </a:prstGeom>
          <a:noFill/>
        </p:spPr>
        <p:txBody>
          <a:bodyPr wrap="square" lIns="45720" tIns="18288" rIns="45720" bIns="18288" anchor="ctr">
            <a:spAutoFit/>
          </a:bodyPr>
          <a:lstStyle/>
          <a:p>
            <a:pPr algn="l"/>
            <a:r>
              <a:rPr sz="1600" b="1">
                <a:solidFill>
                  <a:srgbClr val="FFFFFF"/>
                </a:solidFill>
                <a:latin typeface="Calibri"/>
              </a:rPr>
              <a:t>Temporal fusion</a:t>
            </a:r>
          </a:p>
        </p:txBody>
      </p:sp>
      <p:sp>
        <p:nvSpPr>
          <p:cNvPr id="20" name="Rectangle 19"/>
          <p:cNvSpPr/>
          <p:nvPr/>
        </p:nvSpPr>
        <p:spPr>
          <a:xfrm>
            <a:off x="4480560" y="4379976"/>
            <a:ext cx="6949440"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63440" y="4379976"/>
            <a:ext cx="6675120" cy="868680"/>
          </a:xfrm>
          <a:prstGeom prst="rect">
            <a:avLst/>
          </a:prstGeom>
          <a:noFill/>
        </p:spPr>
        <p:txBody>
          <a:bodyPr wrap="square" lIns="45720" tIns="18288" rIns="45720" bIns="18288" anchor="ctr">
            <a:spAutoFit/>
          </a:bodyPr>
          <a:lstStyle/>
          <a:p>
            <a:pPr algn="l"/>
            <a:r>
              <a:rPr sz="1400" b="0">
                <a:solidFill>
                  <a:srgbClr val="1F2D3D"/>
                </a:solidFill>
                <a:latin typeface="Calibri"/>
              </a:rPr>
              <a:t>multi-date imagery — useful for seasonal crops</a:t>
            </a:r>
          </a:p>
        </p:txBody>
      </p:sp>
      <p:sp>
        <p:nvSpPr>
          <p:cNvPr id="22" name="Rectangle 21"/>
          <p:cNvSpPr/>
          <p:nvPr/>
        </p:nvSpPr>
        <p:spPr>
          <a:xfrm>
            <a:off x="731520" y="5321808"/>
            <a:ext cx="3657600" cy="8686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321808"/>
            <a:ext cx="3474720" cy="868680"/>
          </a:xfrm>
          <a:prstGeom prst="rect">
            <a:avLst/>
          </a:prstGeom>
          <a:noFill/>
        </p:spPr>
        <p:txBody>
          <a:bodyPr wrap="square" lIns="45720" tIns="18288" rIns="45720" bIns="18288" anchor="ctr">
            <a:spAutoFit/>
          </a:bodyPr>
          <a:lstStyle/>
          <a:p>
            <a:pPr algn="l"/>
            <a:r>
              <a:rPr sz="1600" b="1">
                <a:solidFill>
                  <a:srgbClr val="FFFFFF"/>
                </a:solidFill>
                <a:latin typeface="Calibri"/>
              </a:rPr>
              <a:t>Interpretability</a:t>
            </a:r>
          </a:p>
        </p:txBody>
      </p:sp>
      <p:sp>
        <p:nvSpPr>
          <p:cNvPr id="24" name="Rectangle 23"/>
          <p:cNvSpPr/>
          <p:nvPr/>
        </p:nvSpPr>
        <p:spPr>
          <a:xfrm>
            <a:off x="4480560" y="5321808"/>
            <a:ext cx="6949440"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63440" y="5321808"/>
            <a:ext cx="6675120" cy="868680"/>
          </a:xfrm>
          <a:prstGeom prst="rect">
            <a:avLst/>
          </a:prstGeom>
          <a:noFill/>
        </p:spPr>
        <p:txBody>
          <a:bodyPr wrap="square" lIns="45720" tIns="18288" rIns="45720" bIns="18288" anchor="ctr">
            <a:spAutoFit/>
          </a:bodyPr>
          <a:lstStyle/>
          <a:p>
            <a:pPr algn="l"/>
            <a:r>
              <a:rPr sz="1400" b="0">
                <a:solidFill>
                  <a:srgbClr val="1F2D3D"/>
                </a:solidFill>
                <a:latin typeface="Calibri"/>
              </a:rPr>
              <a:t>Grad-CAM — which regions drive the prediction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572000"/>
            <a:ext cx="12191695" cy="731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0"/>
            <a:ext cx="11247120" cy="1371600"/>
          </a:xfrm>
          <a:prstGeom prst="rect">
            <a:avLst/>
          </a:prstGeom>
          <a:noFill/>
        </p:spPr>
        <p:txBody>
          <a:bodyPr wrap="square" lIns="45720" tIns="18288" rIns="45720" bIns="18288" anchor="t">
            <a:spAutoFit/>
          </a:bodyPr>
          <a:lstStyle/>
          <a:p>
            <a:pPr algn="ctr"/>
            <a:r>
              <a:rPr sz="6000" b="1">
                <a:solidFill>
                  <a:srgbClr val="FFFFFF"/>
                </a:solidFill>
                <a:latin typeface="Calibri"/>
              </a:rPr>
              <a:t>Thank you for your attention!</a:t>
            </a:r>
          </a:p>
        </p:txBody>
      </p:sp>
      <p:sp>
        <p:nvSpPr>
          <p:cNvPr id="5" name="TextBox 4"/>
          <p:cNvSpPr txBox="1"/>
          <p:nvPr/>
        </p:nvSpPr>
        <p:spPr>
          <a:xfrm>
            <a:off x="457200" y="3657600"/>
            <a:ext cx="11247120" cy="731520"/>
          </a:xfrm>
          <a:prstGeom prst="rect">
            <a:avLst/>
          </a:prstGeom>
          <a:noFill/>
        </p:spPr>
        <p:txBody>
          <a:bodyPr wrap="square" lIns="45720" tIns="18288" rIns="45720" bIns="18288" anchor="t">
            <a:spAutoFit/>
          </a:bodyPr>
          <a:lstStyle/>
          <a:p>
            <a:pPr algn="ctr"/>
            <a:r>
              <a:rPr sz="2400" b="0">
                <a:solidFill>
                  <a:srgbClr val="F5F7FA"/>
                </a:solidFill>
                <a:latin typeface="Calibri"/>
              </a:rPr>
              <a:t>We are happy to take your questions</a:t>
            </a:r>
          </a:p>
        </p:txBody>
      </p:sp>
      <p:sp>
        <p:nvSpPr>
          <p:cNvPr id="6" name="TextBox 5"/>
          <p:cNvSpPr txBox="1"/>
          <p:nvPr/>
        </p:nvSpPr>
        <p:spPr>
          <a:xfrm>
            <a:off x="457200" y="5852160"/>
            <a:ext cx="11247120" cy="365760"/>
          </a:xfrm>
          <a:prstGeom prst="rect">
            <a:avLst/>
          </a:prstGeom>
          <a:noFill/>
        </p:spPr>
        <p:txBody>
          <a:bodyPr wrap="square" lIns="45720" tIns="18288" rIns="45720" bIns="18288" anchor="t">
            <a:spAutoFit/>
          </a:bodyPr>
          <a:lstStyle/>
          <a:p>
            <a:pPr algn="ctr"/>
            <a:r>
              <a:rPr sz="1600" b="0">
                <a:solidFill>
                  <a:srgbClr val="F5F7FA"/>
                </a:solidFill>
                <a:latin typeface="Calibri"/>
              </a:rPr>
              <a:t>Khrestyanovskiy Daniil  •  Shmeleva Mariia  •  SPbPU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1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do you use only RGB bands and not all 13 spectral bands of Sentinel-2?</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This is a deliberate simplification. First, the RGB version of EuroSAT is widely used as a standard benchmark and makes our results directly comparable with other published work. Second, we wanted to measure the contribution of the architecture itself, not of extra spectral information. Moving to all 13 bands is one of the key directions for our future work; it should especially help the vegetation-related classes thanks to the NIR and SWIR bands.</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1/10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2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does U-Net, designed for segmentation, work as a classifier?</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We adapted it: we removed the head that predicts a per-pixel mask and replaced it with AdaptiveAvgPool, which collapses all spatial features into a single 64-dimensional vector, plus a single fully connected layer to 10 classes. The encoder, decoder and skip connections remain — so the model still extracts multi-scale features, it just outputs one label per image instead of a map.</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2/10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3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do you select the best epoch by val_loss and not val_accuracy?</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val_loss is a more sensitive, continuous signal. Accuracy is stepwise — two networks can have identical accuracy but very different confidence. Loss captures that confidence and usually starts to degrade earlier than accuracy, meaning the overfitting signal appears in the loss before accuracy visibly drops. Selection by val_loss therefore typically yields more stable checkpoints.</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3/10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4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is there no data augmentation in the training loop?</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In this version we deliberately skipped augmentation to get a clean comparison of the two architectures under identical conditions, without extra factors that complicate interpretation. Augmentation is a natural next step and will likely help SimpleCNN more than U-Net, because the baseline has more room to under-fit and less built-in robustness.</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4/10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5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Which classes are confused most often and why?</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For SimpleCNN the hardest are River (F1 = 0.836) and PermanentCrop (F1 = 0.833). At 10 m per pixel a river often appears as a thin strip easily confused with a highway or the surrounding fields. PermanentCrop — orchards and vineyards — is visually very similar to AnnualCrop and HerbaceousVegetation in texture. For U-Net these are still relatively harder, but they rise to 0.95 and 0.94 — skip connections help exactly with such borderline cases.</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5/10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6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U-Net is 1.8× larger and takes almost twice as long to train — is that worth it?</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Yes: the accuracy gain is almost 7 percentage points, the validation loss drops by 64 percent, and the worst-class F1 improves by 0.115. This is not a marginal gain; it is a qualitative change for the hard classes. For inference the extra 30 MB is a very small cost, and training is a one-time expense.</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6/10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7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How do you guard against data leakage between train, val and test?</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We use torchvision.random_split with a fixed seed of 42. This guarantees that training and evaluation scripts see exactly the same split, even across independent runs. The test set is never used for hyperparameter or checkpoint selection — only for the final metrics. The validation set is used solely for early stopping. That gives us an honest, non-inflated estimate of generalization.</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7/10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8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BatchNorm rather than LayerNorm or GroupNorm?</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Batch Normalization is the standard, well-understood choice for convolutional networks with medium-sized batches (64 in our case). It normalizes activations within a batch, reducing internal covariate shift and accelerating convergence. In our preliminary experiments removing it dropped accuracy by about 3%. LayerNorm and GroupNorm would be more useful with very small batches or in transformer architectures, but here BN does the job.</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8/10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9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Why is F1 averaged with the 'weighted' setting?</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'Weighted' means each class's F1 is weighted by the number of samples in the test set. This correctly reflects the real class balance: we have 2,000 Pasture samples versus 3,000 Forest samples. Macro averaging would give rare and frequent classes equal weight, distorting the metric relative to the real distribution. Weighted gives a more realistic picture for practical use.</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9/10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515600" cy="457200"/>
          </a:xfrm>
          <a:prstGeom prst="rect">
            <a:avLst/>
          </a:prstGeom>
          <a:noFill/>
        </p:spPr>
        <p:txBody>
          <a:bodyPr wrap="square" lIns="45720" tIns="18288" rIns="45720" bIns="18288" anchor="t">
            <a:spAutoFit/>
          </a:bodyPr>
          <a:lstStyle/>
          <a:p>
            <a:pPr algn="l"/>
            <a:r>
              <a:rPr sz="1600" b="0">
                <a:solidFill>
                  <a:srgbClr val="6B7A8F"/>
                </a:solidFill>
                <a:latin typeface="Calibri"/>
              </a:rPr>
              <a:t>Question 10 of 10</a:t>
            </a:r>
          </a:p>
        </p:txBody>
      </p:sp>
      <p:sp>
        <p:nvSpPr>
          <p:cNvPr id="4" name="Rectangle 3"/>
          <p:cNvSpPr/>
          <p:nvPr/>
        </p:nvSpPr>
        <p:spPr>
          <a:xfrm>
            <a:off x="502920" y="731520"/>
            <a:ext cx="11247120" cy="180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47120" cy="14630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548640" cy="457200"/>
          </a:xfrm>
          <a:prstGeom prst="rect">
            <a:avLst/>
          </a:prstGeom>
          <a:noFill/>
        </p:spPr>
        <p:txBody>
          <a:bodyPr wrap="square" lIns="45720" tIns="18288" rIns="45720" bIns="18288" anchor="t">
            <a:spAutoFit/>
          </a:bodyPr>
          <a:lstStyle/>
          <a:p>
            <a:pPr algn="l"/>
            <a:r>
              <a:rPr sz="2400" b="1">
                <a:solidFill>
                  <a:srgbClr val="E67E22"/>
                </a:solidFill>
                <a:latin typeface="Calibri"/>
              </a:rPr>
              <a:t>Q</a:t>
            </a:r>
          </a:p>
        </p:txBody>
      </p:sp>
      <p:sp>
        <p:nvSpPr>
          <p:cNvPr id="7" name="TextBox 6"/>
          <p:cNvSpPr txBox="1"/>
          <p:nvPr/>
        </p:nvSpPr>
        <p:spPr>
          <a:xfrm>
            <a:off x="1417320" y="1097280"/>
            <a:ext cx="10149840" cy="1280160"/>
          </a:xfrm>
          <a:prstGeom prst="rect">
            <a:avLst/>
          </a:prstGeom>
          <a:noFill/>
        </p:spPr>
        <p:txBody>
          <a:bodyPr wrap="square" lIns="45720" tIns="18288" rIns="45720" bIns="18288" anchor="ctr">
            <a:spAutoFit/>
          </a:bodyPr>
          <a:lstStyle/>
          <a:p>
            <a:pPr algn="l"/>
            <a:r>
              <a:rPr sz="2000" b="1">
                <a:solidFill>
                  <a:srgbClr val="FFFFFF"/>
                </a:solidFill>
                <a:latin typeface="Calibri"/>
              </a:rPr>
              <a:t>How do you ensure reproducibility of the experiments?</a:t>
            </a:r>
          </a:p>
        </p:txBody>
      </p:sp>
      <p:sp>
        <p:nvSpPr>
          <p:cNvPr id="8" name="Rectangle 7"/>
          <p:cNvSpPr/>
          <p:nvPr/>
        </p:nvSpPr>
        <p:spPr>
          <a:xfrm>
            <a:off x="502920" y="2651760"/>
            <a:ext cx="11247120"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43200"/>
            <a:ext cx="548640" cy="457200"/>
          </a:xfrm>
          <a:prstGeom prst="rect">
            <a:avLst/>
          </a:prstGeom>
          <a:noFill/>
        </p:spPr>
        <p:txBody>
          <a:bodyPr wrap="square" lIns="45720" tIns="18288" rIns="45720" bIns="18288" anchor="t">
            <a:spAutoFit/>
          </a:bodyPr>
          <a:lstStyle/>
          <a:p>
            <a:pPr algn="l"/>
            <a:r>
              <a:rPr sz="2400" b="1">
                <a:solidFill>
                  <a:srgbClr val="0B3D91"/>
                </a:solidFill>
                <a:latin typeface="Calibri"/>
              </a:rPr>
              <a:t>A</a:t>
            </a:r>
          </a:p>
        </p:txBody>
      </p:sp>
      <p:sp>
        <p:nvSpPr>
          <p:cNvPr id="10" name="TextBox 9"/>
          <p:cNvSpPr txBox="1"/>
          <p:nvPr/>
        </p:nvSpPr>
        <p:spPr>
          <a:xfrm>
            <a:off x="1417320" y="2743200"/>
            <a:ext cx="10149840" cy="3749039"/>
          </a:xfrm>
          <a:prstGeom prst="rect">
            <a:avLst/>
          </a:prstGeom>
          <a:noFill/>
        </p:spPr>
        <p:txBody>
          <a:bodyPr wrap="square" lIns="45720" tIns="18288" rIns="45720" bIns="18288" anchor="t">
            <a:spAutoFit/>
          </a:bodyPr>
          <a:lstStyle/>
          <a:p>
            <a:pPr algn="l"/>
            <a:r>
              <a:rPr sz="1700" b="0">
                <a:solidFill>
                  <a:srgbClr val="1F2D3D"/>
                </a:solidFill>
                <a:latin typeface="Calibri"/>
              </a:rPr>
              <a:t>Through four measures. First, the fixed seed 42 in random_split ensures the same data partition across all runs. Second, pipeline.py launches train.py and evaluate.py with the same Python interpreter via sys.executable — no discrepancies between the venv and the system Python. Third, the Dockerfile pins the Python version and the requirements. Fourth, all hyperparameters are stored in results/*_training_summary.json and all metrics in *_metrics.json, so any run is fully reconstructible.</a:t>
            </a:r>
          </a:p>
        </p:txBody>
      </p:sp>
      <p:sp>
        <p:nvSpPr>
          <p:cNvPr id="11" name="TextBox 10"/>
          <p:cNvSpPr txBox="1"/>
          <p:nvPr/>
        </p:nvSpPr>
        <p:spPr>
          <a:xfrm>
            <a:off x="11155680" y="6446520"/>
            <a:ext cx="914400" cy="274320"/>
          </a:xfrm>
          <a:prstGeom prst="rect">
            <a:avLst/>
          </a:prstGeom>
          <a:noFill/>
        </p:spPr>
        <p:txBody>
          <a:bodyPr wrap="square" lIns="45720" tIns="18288" rIns="45720" bIns="18288" anchor="t">
            <a:spAutoFit/>
          </a:bodyPr>
          <a:lstStyle/>
          <a:p>
            <a:pPr algn="r"/>
            <a:r>
              <a:rPr sz="1000" b="0">
                <a:solidFill>
                  <a:srgbClr val="6B7A8F"/>
                </a:solidFill>
                <a:latin typeface="Calibri"/>
              </a:rPr>
              <a:t>Q&amp;A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5645</Words>
  <Application>Microsoft Office PowerPoint</Application>
  <PresentationFormat>Широкоэкранный</PresentationFormat>
  <Paragraphs>379</Paragraphs>
  <Slides>28</Slides>
  <Notes>28</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28</vt:i4>
      </vt:variant>
    </vt:vector>
  </HeadingPairs>
  <TitlesOfParts>
    <vt:vector size="31"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Даня Хрестьяновский</cp:lastModifiedBy>
  <cp:revision>2</cp:revision>
  <dcterms:created xsi:type="dcterms:W3CDTF">2013-01-27T09:14:16Z</dcterms:created>
  <dcterms:modified xsi:type="dcterms:W3CDTF">2026-04-16T20:32:13Z</dcterms:modified>
  <cp:category/>
</cp:coreProperties>
</file>