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364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Good morning, everyone. My name is [your name], and I am presenting our project "Land Cover Classification from Satellite Imagery Using CNN and U-Net Architectures." This work was carried out at Peter the Great St. Petersburg Polytechnic University, Institute of Cybersecurity and Computer Science, under the supervision of Mohamad Khalil. Our goal was to train two deep learning models — a simple baseline CNN and a U-Net-based classifier — that automatically determine what type of land cover appears in a 64×64 satellite image patch from the EuroSAT dataset. The talk will take 20 to 25 minutes, after which we are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a:t>
            </a:r>
          </a:p>
          <a:p>
            <a:r>
              <a:t>Let me walk you through what we will cover. We start with the problem statement and motivation, move to related work and our contribution, then describe the EuroSAT dataset in detail. After that we look at data preparation and how it is loaded in code. The bulk of the talk covers the two model architectures, how they were trained, tested, and how the results compare. We close with conclusions and references.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a:t>
            </a:r>
          </a:p>
          <a:p>
            <a:r>
              <a:t>Why do we need automatic land cover classification? The scale of modern Earth observation makes manual labeling impractical. Sentinel-2 covers the entire European continent every five days — one week of imagery would take a team of analysts months to review by hand. Decision-makers in urban planning, agriculture, and environmental monitoring need frequent, accurate land use maps. Our objective is clear: design and fairly compare two architectures — a lightweight SimpleCNN baseline and a U-Net repurposed for scene-level classification — trained entirely from scratch on EuroSAT RGB imagery, with no ImageNet pre-training.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[~1:30]</a:t>
            </a:r>
          </a:p>
          <a:p>
            <a:r>
              <a:rPr dirty="0"/>
              <a:t>The </a:t>
            </a:r>
            <a:r>
              <a:rPr dirty="0" err="1"/>
              <a:t>EuroSAT</a:t>
            </a:r>
            <a:r>
              <a:rPr dirty="0"/>
              <a:t> dataset comes from the Sentinel-2 satellite constellation, part of ESA's Copernicus </a:t>
            </a:r>
            <a:r>
              <a:rPr dirty="0" err="1"/>
              <a:t>programme</a:t>
            </a:r>
            <a:r>
              <a:rPr dirty="0"/>
              <a:t>. It contains 27,000 image patches, each 64×64 pixels, across 10 land cover classes. Although Sentinel-2 provides 13 spectral bands at resolutions from 10 to 60 meters per pixel, we use only the RGB version — the three visible bands. This makes our results directly comparable with published benchmarks. Before feeding images into the network, we normalize each channel using ImageNet statistics: mean [0.485, 0.456, 0.406] and standard deviation [0.229, 0.224, 0.225]. This is standard practice for RGB CNNs. The class distribution is slightly imbalanced: Forest, </a:t>
            </a:r>
            <a:r>
              <a:rPr dirty="0" err="1"/>
              <a:t>AnnualCrop</a:t>
            </a:r>
            <a:r>
              <a:rPr dirty="0"/>
              <a:t>, and Residential each have 3,000 samples, while Pasture has only 2,000. This mild imbalance is worth keeping in mind when looking at per-class results.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Here are the 10 land cover classes. Notice the variation in sample counts — Pasture has the fewest images at 2,000, which makes it potentially the hardest class to learn. The classes span a wide range of visual appearances: from dense Forest and open SeaLake — which are visually distinctive — to HerbaceousVegetation and PermanentCrop, which are difficult to separate even for a human expert at this resolution. This diversity is what makes EuroSAT a meaningful benchmark.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a:t>
            </a:r>
          </a:p>
          <a:p>
            <a:r>
              <a:t>Here you can see one sample patch for each of the 10 classes. Notice how Forest looks dark and textured, SeaLake is uniformly dark blue, and Residential shows the regular grid of streets and rooftops. The hardest pairs are immediately apparent: HerbaceousVegetation and Pasture look almost identical; PermanentCrop and AnnualCrop share similar textures. At 64×64 pixels and 10 meters per pixel, these distinctions are genuinely challenging.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The dataset lives on disk in an ImageFolder-compatible layout: one sub-directory per class, images inside. This is the format expected by torchvision's ImageFolder class. The class integer ID is assigned alphabetically — AnnualCrop gets index 0, Forest gets 1, and so on up to SeaLake at index 9. No annotation files, no CSV — the directory structure is the label. The key benefit is simplicity: adding a new class means adding a new folder.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We split the 27,000 images 70 / 15 / 15 using torch.utils.data.random_split with a fixed generator seed of 42. That gives 18,900 training images, 4,050 for validation, and 4,050 for the test set. The roles are strictly separated. Training set: gradient updates only. Validation set: one purpose — choose which epoch's checkpoint to save. Test set: touched exactly once at the end to report final metrics. This strict separation is the foundation of our unbiased evaluation.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Here is the actual code from data_utils.py. Notice the transform pipeline: ToTensor converts a PIL image from uint8 [0,255] to float [0.0,1.0], then Normalize subtracts the ImageNet per-channel mean and divides by the standard deviation. ImageFolder discovers all 10 classes automatically from the directory names. random_split with the fixed seed produces the same three disjoint subsets on every run — this is what makes our experiments reproducible. Batch size 64 feeds the DataLoader: large enough for stable gradient estimates, small enough to fit comfortably in GPU memory.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[~1:45]</a:t>
            </a:r>
          </a:p>
          <a:p>
            <a:r>
              <a:rPr dirty="0" err="1"/>
              <a:t>SimpleCNN</a:t>
            </a:r>
            <a:r>
              <a:rPr dirty="0"/>
              <a:t> is our baseline. It has three convolutional blocks, each with a 3×3 convolution with padding=1 — which preserves spatial size before pooling — followed by Batch Normalization, </a:t>
            </a:r>
            <a:r>
              <a:rPr dirty="0" err="1"/>
              <a:t>ReLU</a:t>
            </a:r>
            <a:r>
              <a:rPr dirty="0"/>
              <a:t> activation, and 2×2 </a:t>
            </a:r>
            <a:r>
              <a:rPr dirty="0" err="1"/>
              <a:t>MaxPool</a:t>
            </a:r>
            <a:r>
              <a:rPr dirty="0"/>
              <a:t> that halves spatial dimensions. The channel depth grows: 3 → 32 → 64 → 128. After three pools, the 8×8 feature map is flattened to a vector of 8,192 elements. Two fully connected layers follow: 8192→512 with Dropout 0.5 to prevent overfitting, then 512→10 for the class logits. Total: ~4.5 million parameters. Batch Normalization proved critical — removing it reduced accuracy by ~3 percentage points in our preliminary experiments.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a:t>
            </a:r>
          </a:p>
          <a:p>
            <a:r>
              <a:t>The U-Net Classifier has an encoder path of four DoubleConv blocks — two 3×3 convolutions per stage, each with BatchNorm and ReLU — interspersed with MaxPool operations. Channels grow: 3→64→128→256→512, while spatial size shrinks from 64×64 down to 8×8. The decoder mirrors this with transposed convolutions that upsample back to full resolution. The key innovation is skip connections: before each DoubleConv in the decoder, we concatenate the upsampled feature map with the matching encoder feature map, preserving fine spatial detail that would otherwise be lost during downsampling. Our adaptation for classification: instead of the original 1×1 segmentation head, we attach an AdaptiveAvgPool that collapses the spatial map to a single 64-dimensional vector, followed by a Linear layer to 10 classes. Total: ~8.1 million parameters.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This workflow diagram summarizes the full pipeline. On the left: the EuroSAT dataset. Then preprocessing: 70/15/15 split, ImageNet normalization. The two models are trained in parallel under identical conditions. Finally evaluation on the shared test set. The diagram also shows the key characteristics of each model side by side — you can already see the accuracy gap: 89.23% for SimpleCNN versus 96.10% for U-Net.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a:t>
            </a:r>
          </a:p>
          <a:p>
            <a:r>
              <a:t>SimpleCNN in numbers. The layer table shows that the dominant cost is the first fully connected layer: 8,192 × 512 = ~4.2 million parameters out of 4.5 million total. This is why Dropout at that layer is so important — without it, that many free parameters on 18,900 training images would overfit quickly. The convolutional layers themselves are lightweight: the three conv blocks together account for fewer than 100K parameters. The model fits in 17.2 MB and trains to its best checkpoint in just 11 epochs.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a:t>
            </a:r>
          </a:p>
          <a:p>
            <a:r>
              <a:t>U-Net Classifier in numbers. The parameter count is distributed much more evenly across the network. The encoder bottleneck — the 256→512 DoubleConv — accounts for ~3.5M parameters. The decoder adds another ~2M in upsampling and DoubleConv blocks. The classification head — AdaptiveAvgPool plus a single linear layer of 64×10 = 640 weights — is almost negligible. Total ~8.1M, model size 30.9 MB — 1.8× larger than SimpleCNN. Best epoch 24, test accuracy 96.10%.</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a:t>
            </a:r>
          </a:p>
          <a:p>
            <a:r>
              <a:t>Both models share identical training conditions — this is essential for a fair comparison. Adam optimizer with learning rate 0.001 proved the most stable; lr=0.01 caused oscillation in early epochs. CrossEntropyLoss is the standard multi-class objective. Batch size 64 balances gradient noise and memory. The early stopping mechanism checks validation loss every epoch: if it improves by more than min_delta, save a checkpoint and reset the patience counter; if no improvement for 5 consecutive epochs, stop training and load the best saved checkpoint. The min_delta differs: 0.001 for SimpleCNN (noisier curve) and 0.0 for U-Net (smoother curve). Early stopping saved 34 unnecessary epochs for SimpleCNN and 21 for U-Net.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Our test protocol uses the 4,050 held-out images seen at no point during training or hyperparameter selection. We report four metrics: accuracy, weighted F1, weighted precision, and weighted recall. Weighted averaging weights each class's score by its frequency in the test set — correct for a mildly imbalanced dataset. We also inspect the full 10×10 confusion matrix, which reveals which class pairs are most often confused. The checkpoint used is always the one with the lowest validation loss — not the last epoch — because validation loss starts degrading before accuracy does, giving an earlier and more reliable signal.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a:t>
            </a:r>
          </a:p>
          <a:p>
            <a:r>
              <a:t>SimpleCNN results. The training curves on the left show loss and accuracy over 16 epochs, with the best checkpoint at epoch 11 marked by a vertical line. Validation loss at best epoch: 0.3105. On the test set: accuracy 89.23%, weighted F1 0.8930. Looking at per-class results, the model handles visually distinctive classes well — Forest 0.954, SeaLake 0.948, Residential 0.939. The hardest classes are HerbaceousVegetation at 0.821, PermanentCrop at 0.833, and River at 0.836. These failures are predictable: at 10 meters per pixel, a river is a thin strip easily confused with a highway or surrounding fields; herbaceous vegetation and pastures look nearly identical.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a:t>
            </a:r>
          </a:p>
          <a:p>
            <a:r>
              <a:t>U-Net Classifier results. Best validation loss: 0.1116 at epoch 24. On the test set: accuracy 96.10%, weighted F1 0.9610 — a 6.87 percentage point improvement over SimpleCNN. What is most striking is that the gains are consistent across all classes. River jumps from 0.836 to 0.951 — a gain of +0.115 from one architectural change. PermanentCrop: +0.107. HerbaceousVegetation: +0.118. Even the already-strong classes improve: Highway from 0.848 to 0.978, Residential from 0.939 to 0.986. Why? Skip connections allow the network to simultaneously access fine spatial detail from shallow encoder layers and abstract semantic features from deep layers. For distinguishing visually similar land types, this dual access to local and global context is the key advantage.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a:t>
            </a:r>
          </a:p>
          <a:p>
            <a:r>
              <a:t>The comparison table summarizes everything. Accuracy improves 6.87 pp. Weighted F1 up 0.068. Best validation loss drops 64%. U-Net takes twice as many epochs and is 1.8× larger — but the worst-class F1 improves by 0.118. The bar charts confirm: every single metric improves, and every single class improves. The cost — 1.8× more parameters, 2× more training epochs, 13 extra MB of storage — is clearly justified. In any real deployment scenario where accuracy matters, U-Net is the better choice.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a:t>
            </a:r>
          </a:p>
          <a:p>
            <a:r>
              <a:t>To summarize: we designed, trained, and evaluated two architectures. SimpleCNN gives 89.23% accuracy with 4.5M parameters in 11 epochs — a strong and practical lightweight baseline. U-Net Classifier gives 96.10% with 8.1M parameters in 24 epochs — a systematic +6.87 pp across all classes. The central lesson: skip connections and hierarchical feature reuse, the defining properties of U-Net, are highly effective for satellite imagery because they allow the model to exploit both local texture and global context simultaneously. From an engineering standpoint, fixed seed, Docker, and the modular pipeline ensure full reproducibility. Looking ahead, the most promising directions are using all 13 Sentinel-2 bands, adding data augmentation, and fine-tuning a pre-trained backbone.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a:t>
            </a:r>
          </a:p>
          <a:p>
            <a:r>
              <a:t>Here are the references we cited throughout the presentation. The key papers are Helber et al. for EuroSAT, Ronneberger et al. for U-Net, and He et al. for ResNet. Thank you very much for your attention — we are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914400"/>
            <a:ext cx="11457432"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914400"/>
            <a:ext cx="109728" cy="51206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097280"/>
            <a:ext cx="10789920" cy="1097280"/>
          </a:xfrm>
          <a:prstGeom prst="rect">
            <a:avLst/>
          </a:prstGeom>
          <a:noFill/>
        </p:spPr>
        <p:txBody>
          <a:bodyPr wrap="square">
            <a:spAutoFit/>
          </a:bodyPr>
          <a:lstStyle/>
          <a:p>
            <a:pPr algn="l"/>
            <a:r>
              <a:rPr sz="3600" b="1" i="0">
                <a:solidFill>
                  <a:srgbClr val="0D2B55"/>
                </a:solidFill>
                <a:latin typeface="Calibri"/>
              </a:rPr>
              <a:t>Land Cover Classification from Satellite Imagery</a:t>
            </a:r>
          </a:p>
        </p:txBody>
      </p:sp>
      <p:sp>
        <p:nvSpPr>
          <p:cNvPr id="6" name="TextBox 5"/>
          <p:cNvSpPr txBox="1"/>
          <p:nvPr/>
        </p:nvSpPr>
        <p:spPr>
          <a:xfrm>
            <a:off x="594360" y="2148840"/>
            <a:ext cx="10789920" cy="640080"/>
          </a:xfrm>
          <a:prstGeom prst="rect">
            <a:avLst/>
          </a:prstGeom>
          <a:noFill/>
        </p:spPr>
        <p:txBody>
          <a:bodyPr wrap="square">
            <a:spAutoFit/>
          </a:bodyPr>
          <a:lstStyle/>
          <a:p>
            <a:pPr algn="l"/>
            <a:r>
              <a:rPr sz="3000" b="1" i="0">
                <a:solidFill>
                  <a:srgbClr val="1F6FC3"/>
                </a:solidFill>
                <a:latin typeface="Calibri"/>
              </a:rPr>
              <a:t>Using CNN and U-Net Architectures</a:t>
            </a:r>
          </a:p>
        </p:txBody>
      </p:sp>
      <p:sp>
        <p:nvSpPr>
          <p:cNvPr id="7" name="Rectangle 6"/>
          <p:cNvSpPr/>
          <p:nvPr/>
        </p:nvSpPr>
        <p:spPr>
          <a:xfrm>
            <a:off x="594360" y="2834640"/>
            <a:ext cx="10515600" cy="254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971800"/>
            <a:ext cx="10789920" cy="400110"/>
          </a:xfrm>
          <a:prstGeom prst="rect">
            <a:avLst/>
          </a:prstGeom>
          <a:noFill/>
        </p:spPr>
        <p:txBody>
          <a:bodyPr wrap="square">
            <a:spAutoFit/>
          </a:bodyPr>
          <a:lstStyle/>
          <a:p>
            <a:pPr algn="l"/>
            <a:r>
              <a:rPr sz="2000" b="0" i="0" dirty="0">
                <a:solidFill>
                  <a:srgbClr val="1A1A2E"/>
                </a:solidFill>
                <a:latin typeface="Calibri"/>
              </a:rPr>
              <a:t>Daniil </a:t>
            </a:r>
            <a:r>
              <a:rPr sz="2000" b="0" i="0" dirty="0" err="1">
                <a:solidFill>
                  <a:srgbClr val="1A1A2E"/>
                </a:solidFill>
                <a:latin typeface="Calibri"/>
              </a:rPr>
              <a:t>Khrest</a:t>
            </a:r>
            <a:r>
              <a:rPr lang="en-US" sz="2000" dirty="0" err="1">
                <a:solidFill>
                  <a:srgbClr val="1A1A2E"/>
                </a:solidFill>
                <a:latin typeface="Calibri"/>
              </a:rPr>
              <a:t>i</a:t>
            </a:r>
            <a:r>
              <a:rPr sz="2000" b="0" i="0" dirty="0" err="1">
                <a:solidFill>
                  <a:srgbClr val="1A1A2E"/>
                </a:solidFill>
                <a:latin typeface="Calibri"/>
              </a:rPr>
              <a:t>anovski</a:t>
            </a:r>
            <a:r>
              <a:rPr lang="en-US" sz="2000" b="0" i="0" dirty="0" err="1">
                <a:solidFill>
                  <a:srgbClr val="1A1A2E"/>
                </a:solidFill>
                <a:latin typeface="Calibri"/>
              </a:rPr>
              <a:t>i</a:t>
            </a:r>
            <a:r>
              <a:rPr sz="2000" b="0" i="0" dirty="0">
                <a:solidFill>
                  <a:srgbClr val="1A1A2E"/>
                </a:solidFill>
                <a:latin typeface="Calibri"/>
              </a:rPr>
              <a:t>   ·   </a:t>
            </a:r>
            <a:r>
              <a:rPr sz="2000" b="0" i="0" dirty="0" err="1">
                <a:solidFill>
                  <a:srgbClr val="1A1A2E"/>
                </a:solidFill>
                <a:latin typeface="Calibri"/>
              </a:rPr>
              <a:t>Mariia</a:t>
            </a:r>
            <a:r>
              <a:rPr sz="2000" b="0" i="0" dirty="0">
                <a:solidFill>
                  <a:srgbClr val="1A1A2E"/>
                </a:solidFill>
                <a:latin typeface="Calibri"/>
              </a:rPr>
              <a:t> </a:t>
            </a:r>
            <a:r>
              <a:rPr sz="2000" b="0" i="0" dirty="0" err="1">
                <a:solidFill>
                  <a:srgbClr val="1A1A2E"/>
                </a:solidFill>
                <a:latin typeface="Calibri"/>
              </a:rPr>
              <a:t>Shmeleva</a:t>
            </a:r>
            <a:endParaRPr sz="2000" b="0" i="0" dirty="0">
              <a:solidFill>
                <a:srgbClr val="1A1A2E"/>
              </a:solidFill>
              <a:latin typeface="Calibri"/>
            </a:endParaRPr>
          </a:p>
        </p:txBody>
      </p:sp>
      <p:sp>
        <p:nvSpPr>
          <p:cNvPr id="9" name="TextBox 8"/>
          <p:cNvSpPr txBox="1"/>
          <p:nvPr/>
        </p:nvSpPr>
        <p:spPr>
          <a:xfrm>
            <a:off x="594360" y="3520440"/>
            <a:ext cx="10789920" cy="731520"/>
          </a:xfrm>
          <a:prstGeom prst="rect">
            <a:avLst/>
          </a:prstGeom>
          <a:noFill/>
        </p:spPr>
        <p:txBody>
          <a:bodyPr wrap="square">
            <a:spAutoFit/>
          </a:bodyPr>
          <a:lstStyle/>
          <a:p>
            <a:pPr algn="l"/>
            <a:r>
              <a:rPr sz="1600" b="0" i="0">
                <a:solidFill>
                  <a:srgbClr val="1A1A2E"/>
                </a:solidFill>
                <a:latin typeface="Calibri"/>
              </a:rPr>
              <a:t>Peter the Great St. Petersburg Polytechnic University
Institute of Cybersecurity and Computer Science</a:t>
            </a:r>
          </a:p>
        </p:txBody>
      </p:sp>
      <p:sp>
        <p:nvSpPr>
          <p:cNvPr id="10" name="TextBox 9"/>
          <p:cNvSpPr txBox="1"/>
          <p:nvPr/>
        </p:nvSpPr>
        <p:spPr>
          <a:xfrm>
            <a:off x="594360" y="4343400"/>
            <a:ext cx="10789920" cy="457200"/>
          </a:xfrm>
          <a:prstGeom prst="rect">
            <a:avLst/>
          </a:prstGeom>
          <a:noFill/>
        </p:spPr>
        <p:txBody>
          <a:bodyPr wrap="square">
            <a:spAutoFit/>
          </a:bodyPr>
          <a:lstStyle/>
          <a:p>
            <a:pPr algn="l"/>
            <a:r>
              <a:rPr sz="1600" b="0" i="0">
                <a:solidFill>
                  <a:srgbClr val="1A1A2E"/>
                </a:solidFill>
                <a:latin typeface="Calibri"/>
              </a:rPr>
              <a:t>Supervisor: Mohamad Khalil</a:t>
            </a:r>
          </a:p>
        </p:txBody>
      </p:sp>
      <p:sp>
        <p:nvSpPr>
          <p:cNvPr id="11" name="TextBox 10"/>
          <p:cNvSpPr txBox="1"/>
          <p:nvPr/>
        </p:nvSpPr>
        <p:spPr>
          <a:xfrm>
            <a:off x="594360" y="4937760"/>
            <a:ext cx="10789920" cy="307777"/>
          </a:xfrm>
          <a:prstGeom prst="rect">
            <a:avLst/>
          </a:prstGeom>
          <a:noFill/>
        </p:spPr>
        <p:txBody>
          <a:bodyPr wrap="square">
            <a:spAutoFit/>
          </a:bodyPr>
          <a:lstStyle/>
          <a:p>
            <a:pPr algn="l"/>
            <a:r>
              <a:rPr sz="1400" b="0" i="0" dirty="0">
                <a:solidFill>
                  <a:srgbClr val="778899"/>
                </a:solidFill>
                <a:latin typeface="Calibri"/>
              </a:rPr>
              <a:t>202</a:t>
            </a:r>
            <a:r>
              <a:rPr lang="en-US" sz="1400" b="0" i="0" dirty="0">
                <a:solidFill>
                  <a:srgbClr val="778899"/>
                </a:solidFill>
                <a:latin typeface="Calibri"/>
              </a:rPr>
              <a:t>6</a:t>
            </a:r>
            <a:endParaRPr sz="1400" b="0" i="0" dirty="0">
              <a:solidFill>
                <a:srgbClr val="778899"/>
              </a:solidFill>
              <a:latin typeface="Calibri"/>
            </a:endParaRPr>
          </a:p>
        </p:txBody>
      </p:sp>
      <p:pic>
        <p:nvPicPr>
          <p:cNvPr id="13" name="Рисунок 12" descr="Изображение выглядит как логотип, символ, Графика, Шрифт&#10;&#10;Контент, сгенерированный ИИ, может содержать ошибки.">
            <a:extLst>
              <a:ext uri="{FF2B5EF4-FFF2-40B4-BE49-F238E27FC236}">
                <a16:creationId xmlns:a16="http://schemas.microsoft.com/office/drawing/2014/main" id="{E2A88F45-F7BD-ECF9-DA66-9777D13CCD45}"/>
              </a:ext>
            </a:extLst>
          </p:cNvPr>
          <p:cNvPicPr>
            <a:picLocks noChangeAspect="1"/>
          </p:cNvPicPr>
          <p:nvPr/>
        </p:nvPicPr>
        <p:blipFill>
          <a:blip r:embed="rId3"/>
          <a:srcRect l="32213" t="22277" r="37355" b="27361"/>
          <a:stretch/>
        </p:blipFill>
        <p:spPr>
          <a:xfrm>
            <a:off x="10464075" y="1066800"/>
            <a:ext cx="1189337" cy="1209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Outline</a:t>
            </a:r>
          </a:p>
        </p:txBody>
      </p:sp>
      <p:sp>
        <p:nvSpPr>
          <p:cNvPr id="5" name="Rectangle 4"/>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8" name="TextBox 7"/>
          <p:cNvSpPr txBox="1"/>
          <p:nvPr/>
        </p:nvSpPr>
        <p:spPr>
          <a:xfrm>
            <a:off x="914400" y="1188720"/>
            <a:ext cx="10515600" cy="5303520"/>
          </a:xfrm>
          <a:prstGeom prst="rect">
            <a:avLst/>
          </a:prstGeom>
          <a:noFill/>
        </p:spPr>
        <p:txBody>
          <a:bodyPr wrap="square">
            <a:spAutoFit/>
          </a:bodyPr>
          <a:lstStyle/>
          <a:p>
            <a:pPr>
              <a:spcBef>
                <a:spcPts val="500"/>
              </a:spcBef>
            </a:pPr>
            <a:r>
              <a:rPr sz="1800">
                <a:solidFill>
                  <a:srgbClr val="1A1A2E"/>
                </a:solidFill>
                <a:latin typeface="Calibri"/>
              </a:rPr>
              <a:t>1.  Introduction &amp; Problem Statement</a:t>
            </a:r>
          </a:p>
          <a:p>
            <a:pPr>
              <a:spcBef>
                <a:spcPts val="500"/>
              </a:spcBef>
            </a:pPr>
            <a:r>
              <a:rPr sz="1800">
                <a:solidFill>
                  <a:srgbClr val="1F6FC3"/>
                </a:solidFill>
                <a:latin typeface="Calibri"/>
              </a:rPr>
              <a:t>2.  State of the Art &amp; Motivation</a:t>
            </a:r>
          </a:p>
          <a:p>
            <a:pPr>
              <a:spcBef>
                <a:spcPts val="500"/>
              </a:spcBef>
            </a:pPr>
            <a:r>
              <a:rPr sz="1800">
                <a:solidFill>
                  <a:srgbClr val="1A1A2E"/>
                </a:solidFill>
                <a:latin typeface="Calibri"/>
              </a:rPr>
              <a:t>3.  EuroSAT Dataset</a:t>
            </a:r>
          </a:p>
          <a:p>
            <a:pPr>
              <a:spcBef>
                <a:spcPts val="500"/>
              </a:spcBef>
            </a:pPr>
            <a:r>
              <a:rPr sz="1800">
                <a:solidFill>
                  <a:srgbClr val="1F6FC3"/>
                </a:solidFill>
                <a:latin typeface="Calibri"/>
              </a:rPr>
              <a:t>4.  Data Preparation</a:t>
            </a:r>
          </a:p>
          <a:p>
            <a:pPr>
              <a:spcBef>
                <a:spcPts val="500"/>
              </a:spcBef>
            </a:pPr>
            <a:r>
              <a:rPr sz="1800">
                <a:solidFill>
                  <a:srgbClr val="1A1A2E"/>
                </a:solidFill>
                <a:latin typeface="Calibri"/>
              </a:rPr>
              <a:t>5.  Reading the Dataset (code)</a:t>
            </a:r>
          </a:p>
          <a:p>
            <a:pPr>
              <a:spcBef>
                <a:spcPts val="500"/>
              </a:spcBef>
            </a:pPr>
            <a:r>
              <a:rPr sz="1800">
                <a:solidFill>
                  <a:srgbClr val="1F6FC3"/>
                </a:solidFill>
                <a:latin typeface="Calibri"/>
              </a:rPr>
              <a:t>6.  Model Architectures — SimpleCNN &amp; U-Net Classifier</a:t>
            </a:r>
          </a:p>
          <a:p>
            <a:pPr>
              <a:spcBef>
                <a:spcPts val="500"/>
              </a:spcBef>
            </a:pPr>
            <a:r>
              <a:rPr sz="1800">
                <a:solidFill>
                  <a:srgbClr val="1A1A2E"/>
                </a:solidFill>
                <a:latin typeface="Calibri"/>
              </a:rPr>
              <a:t>7.  Model Characteristics</a:t>
            </a:r>
          </a:p>
          <a:p>
            <a:pPr>
              <a:spcBef>
                <a:spcPts val="500"/>
              </a:spcBef>
            </a:pPr>
            <a:r>
              <a:rPr sz="1800">
                <a:solidFill>
                  <a:srgbClr val="1F6FC3"/>
                </a:solidFill>
                <a:latin typeface="Calibri"/>
              </a:rPr>
              <a:t>8.  Training Techniques &amp; Hyperparameters</a:t>
            </a:r>
          </a:p>
          <a:p>
            <a:pPr>
              <a:spcBef>
                <a:spcPts val="500"/>
              </a:spcBef>
            </a:pPr>
            <a:r>
              <a:rPr sz="1800">
                <a:solidFill>
                  <a:srgbClr val="1A1A2E"/>
                </a:solidFill>
                <a:latin typeface="Calibri"/>
              </a:rPr>
              <a:t>9.  Testing Protocol &amp; Evaluation Metrics</a:t>
            </a:r>
          </a:p>
          <a:p>
            <a:pPr>
              <a:spcBef>
                <a:spcPts val="500"/>
              </a:spcBef>
            </a:pPr>
            <a:r>
              <a:rPr sz="1800">
                <a:solidFill>
                  <a:srgbClr val="1F6FC3"/>
                </a:solidFill>
                <a:latin typeface="Calibri"/>
              </a:rPr>
              <a:t>10. Results &amp; Hyperparameter Analysis</a:t>
            </a:r>
          </a:p>
          <a:p>
            <a:pPr>
              <a:spcBef>
                <a:spcPts val="500"/>
              </a:spcBef>
            </a:pPr>
            <a:r>
              <a:rPr sz="1800">
                <a:solidFill>
                  <a:srgbClr val="1A1A2E"/>
                </a:solidFill>
                <a:latin typeface="Calibri"/>
              </a:rPr>
              <a:t>11. Conclusion</a:t>
            </a:r>
          </a:p>
          <a:p>
            <a:pPr>
              <a:spcBef>
                <a:spcPts val="500"/>
              </a:spcBef>
            </a:pPr>
            <a:r>
              <a:rPr sz="1800">
                <a:solidFill>
                  <a:srgbClr val="1F6FC3"/>
                </a:solidFill>
                <a:latin typeface="Calibri"/>
              </a:rPr>
              <a:t>12.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State of the Art — Aim of the Work</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Why do we need automatic land cover classification?</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188720"/>
            <a:ext cx="539496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80160"/>
            <a:ext cx="5029200" cy="411480"/>
          </a:xfrm>
          <a:prstGeom prst="rect">
            <a:avLst/>
          </a:prstGeom>
          <a:noFill/>
        </p:spPr>
        <p:txBody>
          <a:bodyPr wrap="square">
            <a:spAutoFit/>
          </a:bodyPr>
          <a:lstStyle/>
          <a:p>
            <a:pPr algn="l"/>
            <a:r>
              <a:rPr sz="1800" b="1" i="0">
                <a:solidFill>
                  <a:srgbClr val="0D2B55"/>
                </a:solidFill>
                <a:latin typeface="Calibri"/>
              </a:rPr>
              <a:t>The Problem</a:t>
            </a:r>
          </a:p>
        </p:txBody>
      </p:sp>
      <p:sp>
        <p:nvSpPr>
          <p:cNvPr id="11" name="TextBox 10"/>
          <p:cNvSpPr txBox="1"/>
          <p:nvPr/>
        </p:nvSpPr>
        <p:spPr>
          <a:xfrm>
            <a:off x="457200" y="1737360"/>
            <a:ext cx="5029200" cy="4297680"/>
          </a:xfrm>
          <a:prstGeom prst="rect">
            <a:avLst/>
          </a:prstGeom>
          <a:noFill/>
        </p:spPr>
        <p:txBody>
          <a:bodyPr wrap="square">
            <a:spAutoFit/>
          </a:bodyPr>
          <a:lstStyle/>
          <a:p>
            <a:pPr algn="l">
              <a:spcBef>
                <a:spcPts val="500"/>
              </a:spcBef>
            </a:pPr>
            <a:r>
              <a:rPr sz="1700" b="0">
                <a:solidFill>
                  <a:srgbClr val="1A1A2E"/>
                </a:solidFill>
                <a:latin typeface="Calibri"/>
              </a:rPr>
              <a:t>▸  Cities expand rapidly; land use changes constantly</a:t>
            </a:r>
          </a:p>
          <a:p>
            <a:pPr algn="l">
              <a:spcBef>
                <a:spcPts val="500"/>
              </a:spcBef>
            </a:pPr>
            <a:r>
              <a:rPr sz="1700" b="0">
                <a:solidFill>
                  <a:srgbClr val="1A1A2E"/>
                </a:solidFill>
                <a:latin typeface="Calibri"/>
              </a:rPr>
              <a:t>▸  Decision-makers need up-to-date, accurate land maps</a:t>
            </a:r>
          </a:p>
          <a:p>
            <a:pPr algn="l">
              <a:spcBef>
                <a:spcPts val="500"/>
              </a:spcBef>
            </a:pPr>
            <a:r>
              <a:rPr sz="1700" b="0">
                <a:solidFill>
                  <a:srgbClr val="1A1A2E"/>
                </a:solidFill>
                <a:latin typeface="Calibri"/>
              </a:rPr>
              <a:t>▸  Sentinel-2 revisit time: every 5 days over Europe</a:t>
            </a:r>
          </a:p>
          <a:p>
            <a:pPr algn="l">
              <a:spcBef>
                <a:spcPts val="500"/>
              </a:spcBef>
            </a:pPr>
            <a:r>
              <a:rPr sz="1700" b="0">
                <a:solidFill>
                  <a:srgbClr val="1A1A2E"/>
                </a:solidFill>
                <a:latin typeface="Calibri"/>
              </a:rPr>
              <a:t>▸  Volume of imagery: impossible to label manually</a:t>
            </a:r>
          </a:p>
          <a:p>
            <a:pPr algn="l">
              <a:spcBef>
                <a:spcPts val="500"/>
              </a:spcBef>
            </a:pPr>
            <a:r>
              <a:rPr sz="1700" b="0">
                <a:solidFill>
                  <a:srgbClr val="1A1A2E"/>
                </a:solidFill>
                <a:latin typeface="Calibri"/>
              </a:rPr>
              <a:t>▸  Scale demands automation</a:t>
            </a:r>
          </a:p>
        </p:txBody>
      </p:sp>
      <p:sp>
        <p:nvSpPr>
          <p:cNvPr id="12" name="Rectangle 11"/>
          <p:cNvSpPr/>
          <p:nvPr/>
        </p:nvSpPr>
        <p:spPr>
          <a:xfrm>
            <a:off x="5943600" y="1188720"/>
            <a:ext cx="5943600" cy="50292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26480" y="1280160"/>
            <a:ext cx="5577840" cy="411480"/>
          </a:xfrm>
          <a:prstGeom prst="rect">
            <a:avLst/>
          </a:prstGeom>
          <a:noFill/>
        </p:spPr>
        <p:txBody>
          <a:bodyPr wrap="square">
            <a:spAutoFit/>
          </a:bodyPr>
          <a:lstStyle/>
          <a:p>
            <a:pPr algn="l"/>
            <a:r>
              <a:rPr sz="1800" b="1" i="0">
                <a:solidFill>
                  <a:srgbClr val="E88C00"/>
                </a:solidFill>
                <a:latin typeface="Calibri"/>
              </a:rPr>
              <a:t>Project Objective</a:t>
            </a:r>
          </a:p>
        </p:txBody>
      </p:sp>
      <p:sp>
        <p:nvSpPr>
          <p:cNvPr id="14" name="TextBox 13"/>
          <p:cNvSpPr txBox="1"/>
          <p:nvPr/>
        </p:nvSpPr>
        <p:spPr>
          <a:xfrm>
            <a:off x="6126480" y="1783080"/>
            <a:ext cx="5577840" cy="4206240"/>
          </a:xfrm>
          <a:prstGeom prst="rect">
            <a:avLst/>
          </a:prstGeom>
          <a:noFill/>
        </p:spPr>
        <p:txBody>
          <a:bodyPr wrap="square">
            <a:spAutoFit/>
          </a:bodyPr>
          <a:lstStyle/>
          <a:p>
            <a:pPr>
              <a:spcBef>
                <a:spcPts val="600"/>
              </a:spcBef>
            </a:pPr>
            <a:r>
              <a:rPr sz="1700">
                <a:solidFill>
                  <a:srgbClr val="FFFFFF"/>
                </a:solidFill>
                <a:latin typeface="Calibri"/>
              </a:rPr>
              <a:t>▸  Design &amp; train two deep learning architectures</a:t>
            </a:r>
          </a:p>
          <a:p>
            <a:pPr>
              <a:spcBef>
                <a:spcPts val="600"/>
              </a:spcBef>
            </a:pPr>
            <a:r>
              <a:rPr sz="1700">
                <a:solidFill>
                  <a:srgbClr val="FFFFFF"/>
                </a:solidFill>
                <a:latin typeface="Calibri"/>
              </a:rPr>
              <a:t>▸  SimpleCNN — lightweight 3-block baseline</a:t>
            </a:r>
          </a:p>
          <a:p>
            <a:pPr>
              <a:spcBef>
                <a:spcPts val="600"/>
              </a:spcBef>
            </a:pPr>
            <a:r>
              <a:rPr sz="1700">
                <a:solidFill>
                  <a:srgbClr val="FFFFFF"/>
                </a:solidFill>
                <a:latin typeface="Calibri"/>
              </a:rPr>
              <a:t>▸  U-Net Classifier — encoder-decoder with skip connections</a:t>
            </a:r>
          </a:p>
          <a:p>
            <a:pPr>
              <a:spcBef>
                <a:spcPts val="600"/>
              </a:spcBef>
            </a:pPr>
            <a:r>
              <a:rPr sz="1700">
                <a:solidFill>
                  <a:srgbClr val="FFFFFF"/>
                </a:solidFill>
                <a:latin typeface="Calibri"/>
              </a:rPr>
              <a:t>▸  Classify 10 land cover types from satellite RGB images</a:t>
            </a:r>
          </a:p>
          <a:p>
            <a:pPr>
              <a:spcBef>
                <a:spcPts val="600"/>
              </a:spcBef>
            </a:pPr>
            <a:r>
              <a:rPr sz="1700">
                <a:solidFill>
                  <a:srgbClr val="FFFFFF"/>
                </a:solidFill>
                <a:latin typeface="Calibri"/>
              </a:rPr>
              <a:t>▸  Compare models on identical data split &amp; metrics</a:t>
            </a:r>
          </a:p>
          <a:p>
            <a:pPr>
              <a:spcBef>
                <a:spcPts val="600"/>
              </a:spcBef>
            </a:pPr>
            <a:r>
              <a:rPr sz="1700">
                <a:solidFill>
                  <a:srgbClr val="FFFFFF"/>
                </a:solidFill>
                <a:latin typeface="Calibri"/>
              </a:rPr>
              <a:t>▸  Ensure full reproducibility (fixed seed, Docker)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EuroSAT Dataset — Overview</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eurosat-api.com  ·  Sentinel-2 Satellite (ESA Copernicus)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234440"/>
            <a:ext cx="237744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280160"/>
            <a:ext cx="2231136" cy="502920"/>
          </a:xfrm>
          <a:prstGeom prst="rect">
            <a:avLst/>
          </a:prstGeom>
          <a:noFill/>
        </p:spPr>
        <p:txBody>
          <a:bodyPr wrap="square">
            <a:spAutoFit/>
          </a:bodyPr>
          <a:lstStyle/>
          <a:p>
            <a:pPr algn="ctr"/>
            <a:r>
              <a:rPr sz="2600" b="1" i="0">
                <a:solidFill>
                  <a:srgbClr val="E88C00"/>
                </a:solidFill>
                <a:latin typeface="Calibri"/>
              </a:rPr>
              <a:t>27,000</a:t>
            </a:r>
          </a:p>
        </p:txBody>
      </p:sp>
      <p:sp>
        <p:nvSpPr>
          <p:cNvPr id="11" name="TextBox 10"/>
          <p:cNvSpPr txBox="1"/>
          <p:nvPr/>
        </p:nvSpPr>
        <p:spPr>
          <a:xfrm>
            <a:off x="347472" y="1783080"/>
            <a:ext cx="2231136" cy="411480"/>
          </a:xfrm>
          <a:prstGeom prst="rect">
            <a:avLst/>
          </a:prstGeom>
          <a:noFill/>
        </p:spPr>
        <p:txBody>
          <a:bodyPr wrap="square">
            <a:spAutoFit/>
          </a:bodyPr>
          <a:lstStyle/>
          <a:p>
            <a:pPr algn="ctr"/>
            <a:r>
              <a:rPr sz="1200" b="0" i="0">
                <a:solidFill>
                  <a:srgbClr val="FFFFFF"/>
                </a:solidFill>
                <a:latin typeface="Calibri"/>
              </a:rPr>
              <a:t>Total Images</a:t>
            </a:r>
          </a:p>
        </p:txBody>
      </p:sp>
      <p:sp>
        <p:nvSpPr>
          <p:cNvPr id="12" name="Rectangle 11"/>
          <p:cNvSpPr/>
          <p:nvPr/>
        </p:nvSpPr>
        <p:spPr>
          <a:xfrm>
            <a:off x="2926080" y="1234440"/>
            <a:ext cx="237744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99232" y="1280160"/>
            <a:ext cx="2231136" cy="502920"/>
          </a:xfrm>
          <a:prstGeom prst="rect">
            <a:avLst/>
          </a:prstGeom>
          <a:noFill/>
        </p:spPr>
        <p:txBody>
          <a:bodyPr wrap="square">
            <a:spAutoFit/>
          </a:bodyPr>
          <a:lstStyle/>
          <a:p>
            <a:pPr algn="ctr"/>
            <a:r>
              <a:rPr sz="2600" b="1" i="0">
                <a:solidFill>
                  <a:srgbClr val="E88C00"/>
                </a:solidFill>
                <a:latin typeface="Calibri"/>
              </a:rPr>
              <a:t>64 × 64 px</a:t>
            </a:r>
          </a:p>
        </p:txBody>
      </p:sp>
      <p:sp>
        <p:nvSpPr>
          <p:cNvPr id="14" name="TextBox 13"/>
          <p:cNvSpPr txBox="1"/>
          <p:nvPr/>
        </p:nvSpPr>
        <p:spPr>
          <a:xfrm>
            <a:off x="2999232" y="1783080"/>
            <a:ext cx="2231136" cy="411480"/>
          </a:xfrm>
          <a:prstGeom prst="rect">
            <a:avLst/>
          </a:prstGeom>
          <a:noFill/>
        </p:spPr>
        <p:txBody>
          <a:bodyPr wrap="square">
            <a:spAutoFit/>
          </a:bodyPr>
          <a:lstStyle/>
          <a:p>
            <a:pPr algn="ctr"/>
            <a:r>
              <a:rPr sz="1200" b="0" i="0">
                <a:solidFill>
                  <a:srgbClr val="FFFFFF"/>
                </a:solidFill>
                <a:latin typeface="Calibri"/>
              </a:rPr>
              <a:t>Image Size</a:t>
            </a:r>
          </a:p>
        </p:txBody>
      </p:sp>
      <p:sp>
        <p:nvSpPr>
          <p:cNvPr id="15" name="Rectangle 14"/>
          <p:cNvSpPr/>
          <p:nvPr/>
        </p:nvSpPr>
        <p:spPr>
          <a:xfrm>
            <a:off x="5577840" y="1234440"/>
            <a:ext cx="237744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50992" y="1280160"/>
            <a:ext cx="2231136" cy="502920"/>
          </a:xfrm>
          <a:prstGeom prst="rect">
            <a:avLst/>
          </a:prstGeom>
          <a:noFill/>
        </p:spPr>
        <p:txBody>
          <a:bodyPr wrap="square">
            <a:spAutoFit/>
          </a:bodyPr>
          <a:lstStyle/>
          <a:p>
            <a:pPr algn="ctr"/>
            <a:r>
              <a:rPr sz="2600" b="1" i="0">
                <a:solidFill>
                  <a:srgbClr val="E88C00"/>
                </a:solidFill>
                <a:latin typeface="Calibri"/>
              </a:rPr>
              <a:t>10</a:t>
            </a:r>
          </a:p>
        </p:txBody>
      </p:sp>
      <p:sp>
        <p:nvSpPr>
          <p:cNvPr id="17" name="TextBox 16"/>
          <p:cNvSpPr txBox="1"/>
          <p:nvPr/>
        </p:nvSpPr>
        <p:spPr>
          <a:xfrm>
            <a:off x="5650992" y="1783080"/>
            <a:ext cx="2231136" cy="411480"/>
          </a:xfrm>
          <a:prstGeom prst="rect">
            <a:avLst/>
          </a:prstGeom>
          <a:noFill/>
        </p:spPr>
        <p:txBody>
          <a:bodyPr wrap="square">
            <a:spAutoFit/>
          </a:bodyPr>
          <a:lstStyle/>
          <a:p>
            <a:pPr algn="ctr"/>
            <a:r>
              <a:rPr sz="1200" b="0" i="0">
                <a:solidFill>
                  <a:srgbClr val="FFFFFF"/>
                </a:solidFill>
                <a:latin typeface="Calibri"/>
              </a:rPr>
              <a:t>Land Classes</a:t>
            </a:r>
          </a:p>
        </p:txBody>
      </p:sp>
      <p:sp>
        <p:nvSpPr>
          <p:cNvPr id="18" name="Rectangle 17"/>
          <p:cNvSpPr/>
          <p:nvPr/>
        </p:nvSpPr>
        <p:spPr>
          <a:xfrm>
            <a:off x="8229600" y="1234440"/>
            <a:ext cx="237744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1280160"/>
            <a:ext cx="2231136" cy="502920"/>
          </a:xfrm>
          <a:prstGeom prst="rect">
            <a:avLst/>
          </a:prstGeom>
          <a:noFill/>
        </p:spPr>
        <p:txBody>
          <a:bodyPr wrap="square">
            <a:spAutoFit/>
          </a:bodyPr>
          <a:lstStyle/>
          <a:p>
            <a:pPr algn="ctr"/>
            <a:r>
              <a:rPr sz="2600" b="1" i="0">
                <a:solidFill>
                  <a:srgbClr val="E88C00"/>
                </a:solidFill>
                <a:latin typeface="Calibri"/>
              </a:rPr>
              <a:t>13 (RGB used)</a:t>
            </a:r>
          </a:p>
        </p:txBody>
      </p:sp>
      <p:sp>
        <p:nvSpPr>
          <p:cNvPr id="20" name="TextBox 19"/>
          <p:cNvSpPr txBox="1"/>
          <p:nvPr/>
        </p:nvSpPr>
        <p:spPr>
          <a:xfrm>
            <a:off x="8302752" y="1783080"/>
            <a:ext cx="2231136" cy="411480"/>
          </a:xfrm>
          <a:prstGeom prst="rect">
            <a:avLst/>
          </a:prstGeom>
          <a:noFill/>
        </p:spPr>
        <p:txBody>
          <a:bodyPr wrap="square">
            <a:spAutoFit/>
          </a:bodyPr>
          <a:lstStyle/>
          <a:p>
            <a:pPr algn="ctr"/>
            <a:r>
              <a:rPr sz="1200" b="0" i="0">
                <a:solidFill>
                  <a:srgbClr val="FFFFFF"/>
                </a:solidFill>
                <a:latin typeface="Calibri"/>
              </a:rPr>
              <a:t>Spectral Bands</a:t>
            </a:r>
          </a:p>
        </p:txBody>
      </p:sp>
      <p:sp>
        <p:nvSpPr>
          <p:cNvPr id="21" name="Rectangle 20"/>
          <p:cNvSpPr/>
          <p:nvPr/>
        </p:nvSpPr>
        <p:spPr>
          <a:xfrm>
            <a:off x="274320" y="2423160"/>
            <a:ext cx="1161288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2514600"/>
            <a:ext cx="11247120" cy="3566160"/>
          </a:xfrm>
          <a:prstGeom prst="rect">
            <a:avLst/>
          </a:prstGeom>
          <a:noFill/>
        </p:spPr>
        <p:txBody>
          <a:bodyPr wrap="square">
            <a:spAutoFit/>
          </a:bodyPr>
          <a:lstStyle/>
          <a:p>
            <a:pPr>
              <a:spcBef>
                <a:spcPts val="600"/>
              </a:spcBef>
            </a:pPr>
            <a:r>
              <a:rPr sz="1600" b="1" dirty="0">
                <a:solidFill>
                  <a:srgbClr val="0D2B55"/>
                </a:solidFill>
                <a:latin typeface="Calibri"/>
              </a:rPr>
              <a:t>Dataset source:  </a:t>
            </a:r>
            <a:r>
              <a:rPr sz="1600" dirty="0" err="1">
                <a:solidFill>
                  <a:srgbClr val="1A1A2E"/>
                </a:solidFill>
                <a:latin typeface="Calibri"/>
              </a:rPr>
              <a:t>EuroSAT</a:t>
            </a:r>
            <a:r>
              <a:rPr sz="1600" dirty="0">
                <a:solidFill>
                  <a:srgbClr val="1A1A2E"/>
                </a:solidFill>
                <a:latin typeface="Calibri"/>
              </a:rPr>
              <a:t> — derived from the Sentinel-2 satellite constellation (ESA Copernicus </a:t>
            </a:r>
            <a:r>
              <a:rPr sz="1600" dirty="0" err="1">
                <a:solidFill>
                  <a:srgbClr val="1A1A2E"/>
                </a:solidFill>
                <a:latin typeface="Calibri"/>
              </a:rPr>
              <a:t>programme</a:t>
            </a:r>
            <a:r>
              <a:rPr sz="1600" dirty="0">
                <a:solidFill>
                  <a:srgbClr val="1A1A2E"/>
                </a:solidFill>
                <a:latin typeface="Calibri"/>
              </a:rPr>
              <a:t>)</a:t>
            </a:r>
          </a:p>
          <a:p>
            <a:pPr>
              <a:spcBef>
                <a:spcPts val="600"/>
              </a:spcBef>
            </a:pPr>
            <a:r>
              <a:rPr sz="1600" b="1" dirty="0">
                <a:solidFill>
                  <a:srgbClr val="0D2B55"/>
                </a:solidFill>
                <a:latin typeface="Calibri"/>
              </a:rPr>
              <a:t>Spatial resolution:  </a:t>
            </a:r>
            <a:r>
              <a:rPr sz="1600" dirty="0">
                <a:solidFill>
                  <a:srgbClr val="1A1A2E"/>
                </a:solidFill>
                <a:latin typeface="Calibri"/>
              </a:rPr>
              <a:t>10 – 60 m per pixel  |  Revisit time: every 5 days over Europe</a:t>
            </a:r>
          </a:p>
          <a:p>
            <a:pPr>
              <a:spcBef>
                <a:spcPts val="600"/>
              </a:spcBef>
            </a:pPr>
            <a:r>
              <a:rPr sz="1600" b="1" dirty="0">
                <a:solidFill>
                  <a:srgbClr val="0D2B55"/>
                </a:solidFill>
                <a:latin typeface="Calibri"/>
              </a:rPr>
              <a:t>Spectral bands:  </a:t>
            </a:r>
            <a:r>
              <a:rPr sz="1600" dirty="0">
                <a:solidFill>
                  <a:srgbClr val="1A1A2E"/>
                </a:solidFill>
                <a:latin typeface="Calibri"/>
              </a:rPr>
              <a:t>13 bands available; we use RGB (3 bands) for direct comparability with published benchmarks</a:t>
            </a:r>
          </a:p>
          <a:p>
            <a:pPr>
              <a:spcBef>
                <a:spcPts val="600"/>
              </a:spcBef>
            </a:pPr>
            <a:r>
              <a:rPr sz="1600" b="1" dirty="0" err="1">
                <a:solidFill>
                  <a:srgbClr val="0D2B55"/>
                </a:solidFill>
                <a:latin typeface="Calibri"/>
              </a:rPr>
              <a:t>Normalisation</a:t>
            </a:r>
            <a:r>
              <a:rPr sz="1600" b="1" dirty="0">
                <a:solidFill>
                  <a:srgbClr val="0D2B55"/>
                </a:solidFill>
                <a:latin typeface="Calibri"/>
              </a:rPr>
              <a:t>:  </a:t>
            </a:r>
            <a:r>
              <a:rPr sz="1600" dirty="0">
                <a:solidFill>
                  <a:srgbClr val="1A1A2E"/>
                </a:solidFill>
                <a:latin typeface="Calibri"/>
              </a:rPr>
              <a:t>ImageNet statistics: mean [0.485, 0.456, 0.406]  ·  std [0.229, 0.224, 0.225]</a:t>
            </a:r>
          </a:p>
          <a:p>
            <a:pPr>
              <a:spcBef>
                <a:spcPts val="600"/>
              </a:spcBef>
            </a:pPr>
            <a:r>
              <a:rPr sz="1600" b="1" dirty="0">
                <a:solidFill>
                  <a:srgbClr val="0D2B55"/>
                </a:solidFill>
                <a:latin typeface="Calibri"/>
              </a:rPr>
              <a:t>Class balance:  </a:t>
            </a:r>
            <a:r>
              <a:rPr sz="1600" dirty="0" err="1">
                <a:solidFill>
                  <a:srgbClr val="1A1A2E"/>
                </a:solidFill>
                <a:latin typeface="Calibri"/>
              </a:rPr>
              <a:t>AnnualCrop</a:t>
            </a:r>
            <a:r>
              <a:rPr sz="1600" dirty="0">
                <a:solidFill>
                  <a:srgbClr val="1A1A2E"/>
                </a:solidFill>
                <a:latin typeface="Calibri"/>
              </a:rPr>
              <a:t>, Forest, Residential: 3,000 samples each  |  Pasture: 2,000  |  others: 2,500</a:t>
            </a:r>
          </a:p>
          <a:p>
            <a:pPr>
              <a:spcBef>
                <a:spcPts val="600"/>
              </a:spcBef>
            </a:pPr>
            <a:r>
              <a:rPr sz="1600" b="1" dirty="0">
                <a:solidFill>
                  <a:srgbClr val="0D2B55"/>
                </a:solidFill>
                <a:latin typeface="Calibri"/>
              </a:rPr>
              <a:t>Link:  </a:t>
            </a:r>
            <a:r>
              <a:rPr sz="1600" dirty="0">
                <a:solidFill>
                  <a:srgbClr val="1A1A2E"/>
                </a:solidFill>
                <a:latin typeface="Calibri"/>
              </a:rPr>
              <a:t>https://github.com/phelber/EuroSAT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EuroSAT Dataset — 10 Land Cover Classes</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Each 64×64 patch is labelled with exactly one class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23444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23444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280160"/>
            <a:ext cx="3200400" cy="384048"/>
          </a:xfrm>
          <a:prstGeom prst="rect">
            <a:avLst/>
          </a:prstGeom>
          <a:noFill/>
        </p:spPr>
        <p:txBody>
          <a:bodyPr wrap="square">
            <a:spAutoFit/>
          </a:bodyPr>
          <a:lstStyle/>
          <a:p>
            <a:pPr algn="l"/>
            <a:r>
              <a:rPr sz="1500" b="1" i="0">
                <a:solidFill>
                  <a:srgbClr val="0D2B55"/>
                </a:solidFill>
                <a:latin typeface="Calibri"/>
              </a:rPr>
              <a:t>AnnualCrop</a:t>
            </a:r>
          </a:p>
        </p:txBody>
      </p:sp>
      <p:sp>
        <p:nvSpPr>
          <p:cNvPr id="12" name="TextBox 11"/>
          <p:cNvSpPr txBox="1"/>
          <p:nvPr/>
        </p:nvSpPr>
        <p:spPr>
          <a:xfrm>
            <a:off x="457200" y="1673352"/>
            <a:ext cx="3200400" cy="411480"/>
          </a:xfrm>
          <a:prstGeom prst="rect">
            <a:avLst/>
          </a:prstGeom>
          <a:noFill/>
        </p:spPr>
        <p:txBody>
          <a:bodyPr wrap="square">
            <a:spAutoFit/>
          </a:bodyPr>
          <a:lstStyle/>
          <a:p>
            <a:pPr algn="l"/>
            <a:r>
              <a:rPr sz="1300" b="0" i="0">
                <a:solidFill>
                  <a:srgbClr val="1A1A2E"/>
                </a:solidFill>
                <a:latin typeface="Calibri"/>
              </a:rPr>
              <a:t>Seasonal agricultural fields</a:t>
            </a:r>
          </a:p>
        </p:txBody>
      </p:sp>
      <p:sp>
        <p:nvSpPr>
          <p:cNvPr id="13" name="TextBox 12"/>
          <p:cNvSpPr txBox="1"/>
          <p:nvPr/>
        </p:nvSpPr>
        <p:spPr>
          <a:xfrm>
            <a:off x="3749039" y="1435608"/>
            <a:ext cx="2011680" cy="411480"/>
          </a:xfrm>
          <a:prstGeom prst="rect">
            <a:avLst/>
          </a:prstGeom>
          <a:noFill/>
        </p:spPr>
        <p:txBody>
          <a:bodyPr wrap="square">
            <a:spAutoFit/>
          </a:bodyPr>
          <a:lstStyle/>
          <a:p>
            <a:pPr algn="r"/>
            <a:r>
              <a:rPr sz="2000" b="1" i="0">
                <a:solidFill>
                  <a:srgbClr val="E88C00"/>
                </a:solidFill>
                <a:latin typeface="Calibri"/>
              </a:rPr>
              <a:t>3,000</a:t>
            </a:r>
          </a:p>
        </p:txBody>
      </p:sp>
      <p:sp>
        <p:nvSpPr>
          <p:cNvPr id="14" name="Rectangle 13"/>
          <p:cNvSpPr/>
          <p:nvPr/>
        </p:nvSpPr>
        <p:spPr>
          <a:xfrm>
            <a:off x="274320" y="224028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4320" y="224028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286000"/>
            <a:ext cx="3200400" cy="384048"/>
          </a:xfrm>
          <a:prstGeom prst="rect">
            <a:avLst/>
          </a:prstGeom>
          <a:noFill/>
        </p:spPr>
        <p:txBody>
          <a:bodyPr wrap="square">
            <a:spAutoFit/>
          </a:bodyPr>
          <a:lstStyle/>
          <a:p>
            <a:pPr algn="l"/>
            <a:r>
              <a:rPr sz="1500" b="1" i="0">
                <a:solidFill>
                  <a:srgbClr val="0D2B55"/>
                </a:solidFill>
                <a:latin typeface="Calibri"/>
              </a:rPr>
              <a:t>Forest</a:t>
            </a:r>
          </a:p>
        </p:txBody>
      </p:sp>
      <p:sp>
        <p:nvSpPr>
          <p:cNvPr id="17" name="TextBox 16"/>
          <p:cNvSpPr txBox="1"/>
          <p:nvPr/>
        </p:nvSpPr>
        <p:spPr>
          <a:xfrm>
            <a:off x="457200" y="2679192"/>
            <a:ext cx="3200400" cy="411480"/>
          </a:xfrm>
          <a:prstGeom prst="rect">
            <a:avLst/>
          </a:prstGeom>
          <a:noFill/>
        </p:spPr>
        <p:txBody>
          <a:bodyPr wrap="square">
            <a:spAutoFit/>
          </a:bodyPr>
          <a:lstStyle/>
          <a:p>
            <a:pPr algn="l"/>
            <a:r>
              <a:rPr sz="1300" b="0" i="0">
                <a:solidFill>
                  <a:srgbClr val="1A1A2E"/>
                </a:solidFill>
                <a:latin typeface="Calibri"/>
              </a:rPr>
              <a:t>Dense tree cover</a:t>
            </a:r>
          </a:p>
        </p:txBody>
      </p:sp>
      <p:sp>
        <p:nvSpPr>
          <p:cNvPr id="18" name="TextBox 17"/>
          <p:cNvSpPr txBox="1"/>
          <p:nvPr/>
        </p:nvSpPr>
        <p:spPr>
          <a:xfrm>
            <a:off x="3749039" y="2441448"/>
            <a:ext cx="2011680" cy="411480"/>
          </a:xfrm>
          <a:prstGeom prst="rect">
            <a:avLst/>
          </a:prstGeom>
          <a:noFill/>
        </p:spPr>
        <p:txBody>
          <a:bodyPr wrap="square">
            <a:spAutoFit/>
          </a:bodyPr>
          <a:lstStyle/>
          <a:p>
            <a:pPr algn="r"/>
            <a:r>
              <a:rPr sz="2000" b="1" i="0">
                <a:solidFill>
                  <a:srgbClr val="E88C00"/>
                </a:solidFill>
                <a:latin typeface="Calibri"/>
              </a:rPr>
              <a:t>3,000</a:t>
            </a:r>
          </a:p>
        </p:txBody>
      </p:sp>
      <p:sp>
        <p:nvSpPr>
          <p:cNvPr id="19" name="Rectangle 18"/>
          <p:cNvSpPr/>
          <p:nvPr/>
        </p:nvSpPr>
        <p:spPr>
          <a:xfrm>
            <a:off x="274320" y="324612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324612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3291840"/>
            <a:ext cx="3200400" cy="384048"/>
          </a:xfrm>
          <a:prstGeom prst="rect">
            <a:avLst/>
          </a:prstGeom>
          <a:noFill/>
        </p:spPr>
        <p:txBody>
          <a:bodyPr wrap="square">
            <a:spAutoFit/>
          </a:bodyPr>
          <a:lstStyle/>
          <a:p>
            <a:pPr algn="l"/>
            <a:r>
              <a:rPr sz="1500" b="1" i="0">
                <a:solidFill>
                  <a:srgbClr val="0D2B55"/>
                </a:solidFill>
                <a:latin typeface="Calibri"/>
              </a:rPr>
              <a:t>HerbaceousVegetation</a:t>
            </a:r>
          </a:p>
        </p:txBody>
      </p:sp>
      <p:sp>
        <p:nvSpPr>
          <p:cNvPr id="22" name="TextBox 21"/>
          <p:cNvSpPr txBox="1"/>
          <p:nvPr/>
        </p:nvSpPr>
        <p:spPr>
          <a:xfrm>
            <a:off x="457200" y="3685032"/>
            <a:ext cx="3200400" cy="411480"/>
          </a:xfrm>
          <a:prstGeom prst="rect">
            <a:avLst/>
          </a:prstGeom>
          <a:noFill/>
        </p:spPr>
        <p:txBody>
          <a:bodyPr wrap="square">
            <a:spAutoFit/>
          </a:bodyPr>
          <a:lstStyle/>
          <a:p>
            <a:pPr algn="l"/>
            <a:r>
              <a:rPr sz="1300" b="0" i="0">
                <a:solidFill>
                  <a:srgbClr val="1A1A2E"/>
                </a:solidFill>
                <a:latin typeface="Calibri"/>
              </a:rPr>
              <a:t>Grassland &amp; meadows</a:t>
            </a:r>
          </a:p>
        </p:txBody>
      </p:sp>
      <p:sp>
        <p:nvSpPr>
          <p:cNvPr id="23" name="TextBox 22"/>
          <p:cNvSpPr txBox="1"/>
          <p:nvPr/>
        </p:nvSpPr>
        <p:spPr>
          <a:xfrm>
            <a:off x="3749039" y="3447288"/>
            <a:ext cx="2011680" cy="411480"/>
          </a:xfrm>
          <a:prstGeom prst="rect">
            <a:avLst/>
          </a:prstGeom>
          <a:noFill/>
        </p:spPr>
        <p:txBody>
          <a:bodyPr wrap="square">
            <a:spAutoFit/>
          </a:bodyPr>
          <a:lstStyle/>
          <a:p>
            <a:pPr algn="r"/>
            <a:r>
              <a:rPr sz="2000" b="1" i="0">
                <a:solidFill>
                  <a:srgbClr val="E88C00"/>
                </a:solidFill>
                <a:latin typeface="Calibri"/>
              </a:rPr>
              <a:t>3,000</a:t>
            </a:r>
          </a:p>
        </p:txBody>
      </p:sp>
      <p:sp>
        <p:nvSpPr>
          <p:cNvPr id="24" name="Rectangle 23"/>
          <p:cNvSpPr/>
          <p:nvPr/>
        </p:nvSpPr>
        <p:spPr>
          <a:xfrm>
            <a:off x="274320" y="425196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425196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4297680"/>
            <a:ext cx="3200400" cy="384048"/>
          </a:xfrm>
          <a:prstGeom prst="rect">
            <a:avLst/>
          </a:prstGeom>
          <a:noFill/>
        </p:spPr>
        <p:txBody>
          <a:bodyPr wrap="square">
            <a:spAutoFit/>
          </a:bodyPr>
          <a:lstStyle/>
          <a:p>
            <a:pPr algn="l"/>
            <a:r>
              <a:rPr sz="1500" b="1" i="0">
                <a:solidFill>
                  <a:srgbClr val="0D2B55"/>
                </a:solidFill>
                <a:latin typeface="Calibri"/>
              </a:rPr>
              <a:t>Highway</a:t>
            </a:r>
          </a:p>
        </p:txBody>
      </p:sp>
      <p:sp>
        <p:nvSpPr>
          <p:cNvPr id="27" name="TextBox 26"/>
          <p:cNvSpPr txBox="1"/>
          <p:nvPr/>
        </p:nvSpPr>
        <p:spPr>
          <a:xfrm>
            <a:off x="457200" y="4690872"/>
            <a:ext cx="3200400" cy="411480"/>
          </a:xfrm>
          <a:prstGeom prst="rect">
            <a:avLst/>
          </a:prstGeom>
          <a:noFill/>
        </p:spPr>
        <p:txBody>
          <a:bodyPr wrap="square">
            <a:spAutoFit/>
          </a:bodyPr>
          <a:lstStyle/>
          <a:p>
            <a:pPr algn="l"/>
            <a:r>
              <a:rPr sz="1300" b="0" i="0">
                <a:solidFill>
                  <a:srgbClr val="1A1A2E"/>
                </a:solidFill>
                <a:latin typeface="Calibri"/>
              </a:rPr>
              <a:t>Major roads &amp; motorways</a:t>
            </a:r>
          </a:p>
        </p:txBody>
      </p:sp>
      <p:sp>
        <p:nvSpPr>
          <p:cNvPr id="28" name="TextBox 27"/>
          <p:cNvSpPr txBox="1"/>
          <p:nvPr/>
        </p:nvSpPr>
        <p:spPr>
          <a:xfrm>
            <a:off x="3749039" y="4453128"/>
            <a:ext cx="2011680" cy="411480"/>
          </a:xfrm>
          <a:prstGeom prst="rect">
            <a:avLst/>
          </a:prstGeom>
          <a:noFill/>
        </p:spPr>
        <p:txBody>
          <a:bodyPr wrap="square">
            <a:spAutoFit/>
          </a:bodyPr>
          <a:lstStyle/>
          <a:p>
            <a:pPr algn="r"/>
            <a:r>
              <a:rPr sz="2000" b="1" i="0">
                <a:solidFill>
                  <a:srgbClr val="E88C00"/>
                </a:solidFill>
                <a:latin typeface="Calibri"/>
              </a:rPr>
              <a:t>2,500</a:t>
            </a:r>
          </a:p>
        </p:txBody>
      </p:sp>
      <p:sp>
        <p:nvSpPr>
          <p:cNvPr id="29" name="Rectangle 28"/>
          <p:cNvSpPr/>
          <p:nvPr/>
        </p:nvSpPr>
        <p:spPr>
          <a:xfrm>
            <a:off x="274320" y="525780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74320" y="525780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5303520"/>
            <a:ext cx="3200400" cy="384048"/>
          </a:xfrm>
          <a:prstGeom prst="rect">
            <a:avLst/>
          </a:prstGeom>
          <a:noFill/>
        </p:spPr>
        <p:txBody>
          <a:bodyPr wrap="square">
            <a:spAutoFit/>
          </a:bodyPr>
          <a:lstStyle/>
          <a:p>
            <a:pPr algn="l"/>
            <a:r>
              <a:rPr sz="1500" b="1" i="0">
                <a:solidFill>
                  <a:srgbClr val="0D2B55"/>
                </a:solidFill>
                <a:latin typeface="Calibri"/>
              </a:rPr>
              <a:t>Industrial</a:t>
            </a:r>
          </a:p>
        </p:txBody>
      </p:sp>
      <p:sp>
        <p:nvSpPr>
          <p:cNvPr id="32" name="TextBox 31"/>
          <p:cNvSpPr txBox="1"/>
          <p:nvPr/>
        </p:nvSpPr>
        <p:spPr>
          <a:xfrm>
            <a:off x="457200" y="5696712"/>
            <a:ext cx="3200400" cy="411480"/>
          </a:xfrm>
          <a:prstGeom prst="rect">
            <a:avLst/>
          </a:prstGeom>
          <a:noFill/>
        </p:spPr>
        <p:txBody>
          <a:bodyPr wrap="square">
            <a:spAutoFit/>
          </a:bodyPr>
          <a:lstStyle/>
          <a:p>
            <a:pPr algn="l"/>
            <a:r>
              <a:rPr sz="1300" b="0" i="0">
                <a:solidFill>
                  <a:srgbClr val="1A1A2E"/>
                </a:solidFill>
                <a:latin typeface="Calibri"/>
              </a:rPr>
              <a:t>Factories, warehouses</a:t>
            </a:r>
          </a:p>
        </p:txBody>
      </p:sp>
      <p:sp>
        <p:nvSpPr>
          <p:cNvPr id="33" name="TextBox 32"/>
          <p:cNvSpPr txBox="1"/>
          <p:nvPr/>
        </p:nvSpPr>
        <p:spPr>
          <a:xfrm>
            <a:off x="3749039" y="5458968"/>
            <a:ext cx="2011680" cy="411480"/>
          </a:xfrm>
          <a:prstGeom prst="rect">
            <a:avLst/>
          </a:prstGeom>
          <a:noFill/>
        </p:spPr>
        <p:txBody>
          <a:bodyPr wrap="square">
            <a:spAutoFit/>
          </a:bodyPr>
          <a:lstStyle/>
          <a:p>
            <a:pPr algn="r"/>
            <a:r>
              <a:rPr sz="2000" b="1" i="0">
                <a:solidFill>
                  <a:srgbClr val="E88C00"/>
                </a:solidFill>
                <a:latin typeface="Calibri"/>
              </a:rPr>
              <a:t>2,500</a:t>
            </a:r>
          </a:p>
        </p:txBody>
      </p:sp>
      <p:sp>
        <p:nvSpPr>
          <p:cNvPr id="34" name="Rectangle 33"/>
          <p:cNvSpPr/>
          <p:nvPr/>
        </p:nvSpPr>
        <p:spPr>
          <a:xfrm>
            <a:off x="6309359" y="123444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309359" y="123444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1280160"/>
            <a:ext cx="3200400" cy="384048"/>
          </a:xfrm>
          <a:prstGeom prst="rect">
            <a:avLst/>
          </a:prstGeom>
          <a:noFill/>
        </p:spPr>
        <p:txBody>
          <a:bodyPr wrap="square">
            <a:spAutoFit/>
          </a:bodyPr>
          <a:lstStyle/>
          <a:p>
            <a:pPr algn="l"/>
            <a:r>
              <a:rPr sz="1500" b="1" i="0">
                <a:solidFill>
                  <a:srgbClr val="0D2B55"/>
                </a:solidFill>
                <a:latin typeface="Calibri"/>
              </a:rPr>
              <a:t>Pasture</a:t>
            </a:r>
          </a:p>
        </p:txBody>
      </p:sp>
      <p:sp>
        <p:nvSpPr>
          <p:cNvPr id="37" name="TextBox 36"/>
          <p:cNvSpPr txBox="1"/>
          <p:nvPr/>
        </p:nvSpPr>
        <p:spPr>
          <a:xfrm>
            <a:off x="6492240" y="1673352"/>
            <a:ext cx="3200400" cy="411480"/>
          </a:xfrm>
          <a:prstGeom prst="rect">
            <a:avLst/>
          </a:prstGeom>
          <a:noFill/>
        </p:spPr>
        <p:txBody>
          <a:bodyPr wrap="square">
            <a:spAutoFit/>
          </a:bodyPr>
          <a:lstStyle/>
          <a:p>
            <a:pPr algn="l"/>
            <a:r>
              <a:rPr sz="1300" b="0" i="0">
                <a:solidFill>
                  <a:srgbClr val="1A1A2E"/>
                </a:solidFill>
                <a:latin typeface="Calibri"/>
              </a:rPr>
              <a:t>Grazing land (smallest class)</a:t>
            </a:r>
          </a:p>
        </p:txBody>
      </p:sp>
      <p:sp>
        <p:nvSpPr>
          <p:cNvPr id="38" name="TextBox 37"/>
          <p:cNvSpPr txBox="1"/>
          <p:nvPr/>
        </p:nvSpPr>
        <p:spPr>
          <a:xfrm>
            <a:off x="9784080" y="1435608"/>
            <a:ext cx="2011680" cy="411480"/>
          </a:xfrm>
          <a:prstGeom prst="rect">
            <a:avLst/>
          </a:prstGeom>
          <a:noFill/>
        </p:spPr>
        <p:txBody>
          <a:bodyPr wrap="square">
            <a:spAutoFit/>
          </a:bodyPr>
          <a:lstStyle/>
          <a:p>
            <a:pPr algn="r"/>
            <a:r>
              <a:rPr sz="2000" b="1" i="0">
                <a:solidFill>
                  <a:srgbClr val="E88C00"/>
                </a:solidFill>
                <a:latin typeface="Calibri"/>
              </a:rPr>
              <a:t>2,000</a:t>
            </a:r>
          </a:p>
        </p:txBody>
      </p:sp>
      <p:sp>
        <p:nvSpPr>
          <p:cNvPr id="39" name="Rectangle 38"/>
          <p:cNvSpPr/>
          <p:nvPr/>
        </p:nvSpPr>
        <p:spPr>
          <a:xfrm>
            <a:off x="6309359" y="224028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09359" y="224028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92240" y="2286000"/>
            <a:ext cx="3200400" cy="384048"/>
          </a:xfrm>
          <a:prstGeom prst="rect">
            <a:avLst/>
          </a:prstGeom>
          <a:noFill/>
        </p:spPr>
        <p:txBody>
          <a:bodyPr wrap="square">
            <a:spAutoFit/>
          </a:bodyPr>
          <a:lstStyle/>
          <a:p>
            <a:pPr algn="l"/>
            <a:r>
              <a:rPr sz="1500" b="1" i="0">
                <a:solidFill>
                  <a:srgbClr val="0D2B55"/>
                </a:solidFill>
                <a:latin typeface="Calibri"/>
              </a:rPr>
              <a:t>PermanentCrop</a:t>
            </a:r>
          </a:p>
        </p:txBody>
      </p:sp>
      <p:sp>
        <p:nvSpPr>
          <p:cNvPr id="42" name="TextBox 41"/>
          <p:cNvSpPr txBox="1"/>
          <p:nvPr/>
        </p:nvSpPr>
        <p:spPr>
          <a:xfrm>
            <a:off x="6492240" y="2679192"/>
            <a:ext cx="3200400" cy="411480"/>
          </a:xfrm>
          <a:prstGeom prst="rect">
            <a:avLst/>
          </a:prstGeom>
          <a:noFill/>
        </p:spPr>
        <p:txBody>
          <a:bodyPr wrap="square">
            <a:spAutoFit/>
          </a:bodyPr>
          <a:lstStyle/>
          <a:p>
            <a:pPr algn="l"/>
            <a:r>
              <a:rPr sz="1300" b="0" i="0">
                <a:solidFill>
                  <a:srgbClr val="1A1A2E"/>
                </a:solidFill>
                <a:latin typeface="Calibri"/>
              </a:rPr>
              <a:t>Orchards &amp; vineyards</a:t>
            </a:r>
          </a:p>
        </p:txBody>
      </p:sp>
      <p:sp>
        <p:nvSpPr>
          <p:cNvPr id="43" name="TextBox 42"/>
          <p:cNvSpPr txBox="1"/>
          <p:nvPr/>
        </p:nvSpPr>
        <p:spPr>
          <a:xfrm>
            <a:off x="9784080" y="2441448"/>
            <a:ext cx="2011680" cy="411480"/>
          </a:xfrm>
          <a:prstGeom prst="rect">
            <a:avLst/>
          </a:prstGeom>
          <a:noFill/>
        </p:spPr>
        <p:txBody>
          <a:bodyPr wrap="square">
            <a:spAutoFit/>
          </a:bodyPr>
          <a:lstStyle/>
          <a:p>
            <a:pPr algn="r"/>
            <a:r>
              <a:rPr sz="2000" b="1" i="0">
                <a:solidFill>
                  <a:srgbClr val="E88C00"/>
                </a:solidFill>
                <a:latin typeface="Calibri"/>
              </a:rPr>
              <a:t>2,500</a:t>
            </a:r>
          </a:p>
        </p:txBody>
      </p:sp>
      <p:sp>
        <p:nvSpPr>
          <p:cNvPr id="44" name="Rectangle 43"/>
          <p:cNvSpPr/>
          <p:nvPr/>
        </p:nvSpPr>
        <p:spPr>
          <a:xfrm>
            <a:off x="6309359" y="324612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309359" y="324612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2240" y="3291840"/>
            <a:ext cx="3200400" cy="384048"/>
          </a:xfrm>
          <a:prstGeom prst="rect">
            <a:avLst/>
          </a:prstGeom>
          <a:noFill/>
        </p:spPr>
        <p:txBody>
          <a:bodyPr wrap="square">
            <a:spAutoFit/>
          </a:bodyPr>
          <a:lstStyle/>
          <a:p>
            <a:pPr algn="l"/>
            <a:r>
              <a:rPr sz="1500" b="1" i="0">
                <a:solidFill>
                  <a:srgbClr val="0D2B55"/>
                </a:solidFill>
                <a:latin typeface="Calibri"/>
              </a:rPr>
              <a:t>Residential</a:t>
            </a:r>
          </a:p>
        </p:txBody>
      </p:sp>
      <p:sp>
        <p:nvSpPr>
          <p:cNvPr id="47" name="TextBox 46"/>
          <p:cNvSpPr txBox="1"/>
          <p:nvPr/>
        </p:nvSpPr>
        <p:spPr>
          <a:xfrm>
            <a:off x="6492240" y="3685032"/>
            <a:ext cx="3200400" cy="411480"/>
          </a:xfrm>
          <a:prstGeom prst="rect">
            <a:avLst/>
          </a:prstGeom>
          <a:noFill/>
        </p:spPr>
        <p:txBody>
          <a:bodyPr wrap="square">
            <a:spAutoFit/>
          </a:bodyPr>
          <a:lstStyle/>
          <a:p>
            <a:pPr algn="l"/>
            <a:r>
              <a:rPr sz="1300" b="0" i="0">
                <a:solidFill>
                  <a:srgbClr val="1A1A2E"/>
                </a:solidFill>
                <a:latin typeface="Calibri"/>
              </a:rPr>
              <a:t>Urban housing areas</a:t>
            </a:r>
          </a:p>
        </p:txBody>
      </p:sp>
      <p:sp>
        <p:nvSpPr>
          <p:cNvPr id="48" name="TextBox 47"/>
          <p:cNvSpPr txBox="1"/>
          <p:nvPr/>
        </p:nvSpPr>
        <p:spPr>
          <a:xfrm>
            <a:off x="9784080" y="3447288"/>
            <a:ext cx="2011680" cy="411480"/>
          </a:xfrm>
          <a:prstGeom prst="rect">
            <a:avLst/>
          </a:prstGeom>
          <a:noFill/>
        </p:spPr>
        <p:txBody>
          <a:bodyPr wrap="square">
            <a:spAutoFit/>
          </a:bodyPr>
          <a:lstStyle/>
          <a:p>
            <a:pPr algn="r"/>
            <a:r>
              <a:rPr sz="2000" b="1" i="0">
                <a:solidFill>
                  <a:srgbClr val="E88C00"/>
                </a:solidFill>
                <a:latin typeface="Calibri"/>
              </a:rPr>
              <a:t>3,000</a:t>
            </a:r>
          </a:p>
        </p:txBody>
      </p:sp>
      <p:sp>
        <p:nvSpPr>
          <p:cNvPr id="49" name="Rectangle 48"/>
          <p:cNvSpPr/>
          <p:nvPr/>
        </p:nvSpPr>
        <p:spPr>
          <a:xfrm>
            <a:off x="6309359" y="425196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309359" y="425196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92240" y="4297680"/>
            <a:ext cx="3200400" cy="384048"/>
          </a:xfrm>
          <a:prstGeom prst="rect">
            <a:avLst/>
          </a:prstGeom>
          <a:noFill/>
        </p:spPr>
        <p:txBody>
          <a:bodyPr wrap="square">
            <a:spAutoFit/>
          </a:bodyPr>
          <a:lstStyle/>
          <a:p>
            <a:pPr algn="l"/>
            <a:r>
              <a:rPr sz="1500" b="1" i="0">
                <a:solidFill>
                  <a:srgbClr val="0D2B55"/>
                </a:solidFill>
                <a:latin typeface="Calibri"/>
              </a:rPr>
              <a:t>River</a:t>
            </a:r>
          </a:p>
        </p:txBody>
      </p:sp>
      <p:sp>
        <p:nvSpPr>
          <p:cNvPr id="52" name="TextBox 51"/>
          <p:cNvSpPr txBox="1"/>
          <p:nvPr/>
        </p:nvSpPr>
        <p:spPr>
          <a:xfrm>
            <a:off x="6492240" y="4690872"/>
            <a:ext cx="3200400" cy="411480"/>
          </a:xfrm>
          <a:prstGeom prst="rect">
            <a:avLst/>
          </a:prstGeom>
          <a:noFill/>
        </p:spPr>
        <p:txBody>
          <a:bodyPr wrap="square">
            <a:spAutoFit/>
          </a:bodyPr>
          <a:lstStyle/>
          <a:p>
            <a:pPr algn="l"/>
            <a:r>
              <a:rPr sz="1300" b="0" i="0">
                <a:solidFill>
                  <a:srgbClr val="1A1A2E"/>
                </a:solidFill>
                <a:latin typeface="Calibri"/>
              </a:rPr>
              <a:t>Waterways &amp; streams</a:t>
            </a:r>
          </a:p>
        </p:txBody>
      </p:sp>
      <p:sp>
        <p:nvSpPr>
          <p:cNvPr id="53" name="TextBox 52"/>
          <p:cNvSpPr txBox="1"/>
          <p:nvPr/>
        </p:nvSpPr>
        <p:spPr>
          <a:xfrm>
            <a:off x="9784080" y="4453128"/>
            <a:ext cx="2011680" cy="411480"/>
          </a:xfrm>
          <a:prstGeom prst="rect">
            <a:avLst/>
          </a:prstGeom>
          <a:noFill/>
        </p:spPr>
        <p:txBody>
          <a:bodyPr wrap="square">
            <a:spAutoFit/>
          </a:bodyPr>
          <a:lstStyle/>
          <a:p>
            <a:pPr algn="r"/>
            <a:r>
              <a:rPr sz="2000" b="1" i="0">
                <a:solidFill>
                  <a:srgbClr val="E88C00"/>
                </a:solidFill>
                <a:latin typeface="Calibri"/>
              </a:rPr>
              <a:t>2,500</a:t>
            </a:r>
          </a:p>
        </p:txBody>
      </p:sp>
      <p:sp>
        <p:nvSpPr>
          <p:cNvPr id="54" name="Rectangle 53"/>
          <p:cNvSpPr/>
          <p:nvPr/>
        </p:nvSpPr>
        <p:spPr>
          <a:xfrm>
            <a:off x="6309359" y="525780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09359" y="525780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92240" y="5303520"/>
            <a:ext cx="3200400" cy="384048"/>
          </a:xfrm>
          <a:prstGeom prst="rect">
            <a:avLst/>
          </a:prstGeom>
          <a:noFill/>
        </p:spPr>
        <p:txBody>
          <a:bodyPr wrap="square">
            <a:spAutoFit/>
          </a:bodyPr>
          <a:lstStyle/>
          <a:p>
            <a:pPr algn="l"/>
            <a:r>
              <a:rPr sz="1500" b="1" i="0">
                <a:solidFill>
                  <a:srgbClr val="0D2B55"/>
                </a:solidFill>
                <a:latin typeface="Calibri"/>
              </a:rPr>
              <a:t>SeaLake</a:t>
            </a:r>
          </a:p>
        </p:txBody>
      </p:sp>
      <p:sp>
        <p:nvSpPr>
          <p:cNvPr id="57" name="TextBox 56"/>
          <p:cNvSpPr txBox="1"/>
          <p:nvPr/>
        </p:nvSpPr>
        <p:spPr>
          <a:xfrm>
            <a:off x="6492240" y="5696712"/>
            <a:ext cx="3200400" cy="411480"/>
          </a:xfrm>
          <a:prstGeom prst="rect">
            <a:avLst/>
          </a:prstGeom>
          <a:noFill/>
        </p:spPr>
        <p:txBody>
          <a:bodyPr wrap="square">
            <a:spAutoFit/>
          </a:bodyPr>
          <a:lstStyle/>
          <a:p>
            <a:pPr algn="l"/>
            <a:r>
              <a:rPr sz="1300" b="0" i="0">
                <a:solidFill>
                  <a:srgbClr val="1A1A2E"/>
                </a:solidFill>
                <a:latin typeface="Calibri"/>
              </a:rPr>
              <a:t>Large open water bodies</a:t>
            </a:r>
          </a:p>
        </p:txBody>
      </p:sp>
      <p:sp>
        <p:nvSpPr>
          <p:cNvPr id="58" name="TextBox 57"/>
          <p:cNvSpPr txBox="1"/>
          <p:nvPr/>
        </p:nvSpPr>
        <p:spPr>
          <a:xfrm>
            <a:off x="9784080" y="5458968"/>
            <a:ext cx="2011680" cy="411480"/>
          </a:xfrm>
          <a:prstGeom prst="rect">
            <a:avLst/>
          </a:prstGeom>
          <a:noFill/>
        </p:spPr>
        <p:txBody>
          <a:bodyPr wrap="square">
            <a:spAutoFit/>
          </a:bodyPr>
          <a:lstStyle/>
          <a:p>
            <a:pPr algn="r"/>
            <a:r>
              <a:rPr sz="2000" b="1" i="0">
                <a:solidFill>
                  <a:srgbClr val="E88C00"/>
                </a:solidFill>
                <a:latin typeface="Calibri"/>
              </a:rPr>
              <a:t>3,000</a:t>
            </a:r>
          </a:p>
        </p:txBody>
      </p:sp>
      <p:sp>
        <p:nvSpPr>
          <p:cNvPr id="59" name="TextBox 58"/>
          <p:cNvSpPr txBox="1"/>
          <p:nvPr/>
        </p:nvSpPr>
        <p:spPr>
          <a:xfrm>
            <a:off x="5486400" y="6309360"/>
            <a:ext cx="1371600" cy="274320"/>
          </a:xfrm>
          <a:prstGeom prst="rect">
            <a:avLst/>
          </a:prstGeom>
          <a:noFill/>
        </p:spPr>
        <p:txBody>
          <a:bodyPr wrap="square">
            <a:spAutoFit/>
          </a:bodyPr>
          <a:lstStyle/>
          <a:p>
            <a:pPr algn="l"/>
            <a:r>
              <a:rPr sz="1000" b="0" i="0">
                <a:solidFill>
                  <a:srgbClr val="1A1A2E"/>
                </a:solidFill>
                <a:latin typeface="Calibri"/>
              </a:rPr>
              <a:t>images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EuroSAT Dataset — Sample Patches</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One representative 64×64 RGB patch per class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pic>
        <p:nvPicPr>
          <p:cNvPr id="9" name="Picture 8" descr="fig2_samples.png"/>
          <p:cNvPicPr>
            <a:picLocks noChangeAspect="1"/>
          </p:cNvPicPr>
          <p:nvPr/>
        </p:nvPicPr>
        <p:blipFill>
          <a:blip r:embed="rId3"/>
          <a:stretch>
            <a:fillRect/>
          </a:stretch>
        </p:blipFill>
        <p:spPr>
          <a:xfrm>
            <a:off x="548640" y="1143000"/>
            <a:ext cx="11064240" cy="48330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Preparing the Dataset — Folder Structure</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torchvision.datasets.ImageFolder-compatible layout</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188720"/>
            <a:ext cx="5486400" cy="530352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80160"/>
            <a:ext cx="5120640" cy="5029200"/>
          </a:xfrm>
          <a:prstGeom prst="rect">
            <a:avLst/>
          </a:prstGeom>
          <a:noFill/>
        </p:spPr>
        <p:txBody>
          <a:bodyPr wrap="square">
            <a:spAutoFit/>
          </a:bodyPr>
          <a:lstStyle/>
          <a:p>
            <a:pPr algn="l"/>
            <a:r>
              <a:rPr sz="1300" b="0" i="0">
                <a:solidFill>
                  <a:srgbClr val="A0FFA0"/>
                </a:solidFill>
                <a:latin typeface="Courier New"/>
              </a:rPr>
              <a:t>EuroSAT/
└── 2750/
    ├── AnnualCrop/
    │   ├── AnnualCrop_00001.jpg
    │   └── ...  (3 000 images)
    ├── Forest/
    │   └── ...  (3 000 images)
    ├── HerbaceousVegetation/
    ├── Highway/
    ├── Industrial/
    ├── Pasture/
    ├── PermanentCrop/
    ├── Residential/
    ├── River/
    └── SeaLake/
</a:t>
            </a:r>
          </a:p>
        </p:txBody>
      </p:sp>
      <p:sp>
        <p:nvSpPr>
          <p:cNvPr id="11" name="Rectangle 10"/>
          <p:cNvSpPr/>
          <p:nvPr/>
        </p:nvSpPr>
        <p:spPr>
          <a:xfrm>
            <a:off x="6035040" y="1188720"/>
            <a:ext cx="585216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280160"/>
            <a:ext cx="5486400" cy="5120640"/>
          </a:xfrm>
          <a:prstGeom prst="rect">
            <a:avLst/>
          </a:prstGeom>
          <a:noFill/>
        </p:spPr>
        <p:txBody>
          <a:bodyPr wrap="square">
            <a:spAutoFit/>
          </a:bodyPr>
          <a:lstStyle/>
          <a:p>
            <a:pPr>
              <a:spcBef>
                <a:spcPts val="500"/>
              </a:spcBef>
            </a:pPr>
            <a:r>
              <a:rPr sz="1500" b="1">
                <a:solidFill>
                  <a:srgbClr val="0D2B55"/>
                </a:solidFill>
                <a:latin typeface="Calibri"/>
              </a:rPr>
              <a:t>ImageFolder convention</a:t>
            </a:r>
          </a:p>
          <a:p>
            <a:pPr>
              <a:spcBef>
                <a:spcPts val="500"/>
              </a:spcBef>
            </a:pPr>
            <a:r>
              <a:rPr sz="1400" b="0">
                <a:solidFill>
                  <a:srgbClr val="1A1A2E"/>
                </a:solidFill>
                <a:latin typeface="Calibri"/>
              </a:rPr>
              <a:t>Each sub-directory name becomes the class label.</a:t>
            </a:r>
          </a:p>
          <a:p>
            <a:pPr>
              <a:spcBef>
                <a:spcPts val="500"/>
              </a:spcBef>
            </a:pPr>
            <a:r>
              <a:rPr sz="1400" b="0">
                <a:solidFill>
                  <a:srgbClr val="1A1A2E"/>
                </a:solidFill>
                <a:latin typeface="Calibri"/>
              </a:rPr>
              <a:t>The folder index determines the integer class ID (0-9 alphabetically).</a:t>
            </a:r>
          </a:p>
          <a:p>
            <a:pPr>
              <a:spcBef>
                <a:spcPts val="500"/>
              </a:spcBef>
            </a:pPr>
            <a:endParaRPr sz="1400" b="0">
              <a:solidFill>
                <a:srgbClr val="1A1A2E"/>
              </a:solidFill>
              <a:latin typeface="Calibri"/>
            </a:endParaRPr>
          </a:p>
          <a:p>
            <a:pPr>
              <a:spcBef>
                <a:spcPts val="500"/>
              </a:spcBef>
            </a:pPr>
            <a:r>
              <a:rPr sz="1500" b="1">
                <a:solidFill>
                  <a:srgbClr val="0D2B55"/>
                </a:solidFill>
                <a:latin typeface="Calibri"/>
              </a:rPr>
              <a:t>How PyTorch reads it</a:t>
            </a:r>
          </a:p>
          <a:p>
            <a:pPr>
              <a:spcBef>
                <a:spcPts val="500"/>
              </a:spcBef>
            </a:pPr>
            <a:r>
              <a:rPr sz="1400" b="0">
                <a:solidFill>
                  <a:srgbClr val="1F6FC3"/>
                </a:solidFill>
                <a:latin typeface="Courier New"/>
              </a:rPr>
              <a:t>datasets.ImageFolder(root='EuroSAT/2750')</a:t>
            </a:r>
          </a:p>
          <a:p>
            <a:pPr>
              <a:spcBef>
                <a:spcPts val="500"/>
              </a:spcBef>
            </a:pPr>
            <a:r>
              <a:rPr sz="1400" b="0">
                <a:solidFill>
                  <a:srgbClr val="1F6FC3"/>
                </a:solidFill>
                <a:latin typeface="Calibri"/>
              </a:rPr>
              <a:t>→ discovers 10 classes automatically</a:t>
            </a:r>
          </a:p>
          <a:p>
            <a:pPr>
              <a:spcBef>
                <a:spcPts val="500"/>
              </a:spcBef>
            </a:pPr>
            <a:r>
              <a:rPr sz="1400" b="0">
                <a:solidFill>
                  <a:srgbClr val="1F6FC3"/>
                </a:solidFill>
                <a:latin typeface="Calibri"/>
              </a:rPr>
              <a:t>→ returns (image_tensor, class_idx) pairs</a:t>
            </a:r>
          </a:p>
          <a:p>
            <a:pPr>
              <a:spcBef>
                <a:spcPts val="500"/>
              </a:spcBef>
            </a:pPr>
            <a:endParaRPr sz="1400" b="0">
              <a:solidFill>
                <a:srgbClr val="1F6FC3"/>
              </a:solidFill>
              <a:latin typeface="Calibri"/>
            </a:endParaRPr>
          </a:p>
          <a:p>
            <a:pPr>
              <a:spcBef>
                <a:spcPts val="500"/>
              </a:spcBef>
            </a:pPr>
            <a:r>
              <a:rPr sz="1500" b="1">
                <a:solidFill>
                  <a:srgbClr val="0D2B55"/>
                </a:solidFill>
                <a:latin typeface="Calibri"/>
              </a:rPr>
              <a:t>Key benefit</a:t>
            </a:r>
          </a:p>
          <a:p>
            <a:pPr>
              <a:spcBef>
                <a:spcPts val="500"/>
              </a:spcBef>
            </a:pPr>
            <a:r>
              <a:rPr sz="1400" b="0">
                <a:solidFill>
                  <a:srgbClr val="1A1A2E"/>
                </a:solidFill>
                <a:latin typeface="Calibri"/>
              </a:rPr>
              <a:t>No manual CSV or annotation file needed.</a:t>
            </a:r>
          </a:p>
          <a:p>
            <a:pPr>
              <a:spcBef>
                <a:spcPts val="500"/>
              </a:spcBef>
            </a:pPr>
            <a:r>
              <a:rPr sz="1400" b="0">
                <a:solidFill>
                  <a:srgbClr val="1A1A2E"/>
                </a:solidFill>
                <a:latin typeface="Calibri"/>
              </a:rPr>
              <a:t>Adding a new class = adding a new sub-folder.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Preparing the Dataset — Train / Val / Test Split</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Fixed random seed = 42 for full reproducibility</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457200" y="1234440"/>
            <a:ext cx="7892186" cy="8229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349386" y="1234440"/>
            <a:ext cx="1691182" cy="82296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040569" y="1234440"/>
            <a:ext cx="1691182" cy="82296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399032"/>
            <a:ext cx="7617866" cy="502920"/>
          </a:xfrm>
          <a:prstGeom prst="rect">
            <a:avLst/>
          </a:prstGeom>
          <a:noFill/>
        </p:spPr>
        <p:txBody>
          <a:bodyPr wrap="square">
            <a:spAutoFit/>
          </a:bodyPr>
          <a:lstStyle/>
          <a:p>
            <a:pPr algn="ctr"/>
            <a:r>
              <a:rPr sz="1800" b="1" i="0">
                <a:solidFill>
                  <a:srgbClr val="FFFFFF"/>
                </a:solidFill>
                <a:latin typeface="Calibri"/>
              </a:rPr>
              <a:t>TRAIN  70 %   18,900 images</a:t>
            </a:r>
          </a:p>
        </p:txBody>
      </p:sp>
      <p:sp>
        <p:nvSpPr>
          <p:cNvPr id="13" name="TextBox 12"/>
          <p:cNvSpPr txBox="1"/>
          <p:nvPr/>
        </p:nvSpPr>
        <p:spPr>
          <a:xfrm>
            <a:off x="8395106" y="1280160"/>
            <a:ext cx="1599742" cy="731520"/>
          </a:xfrm>
          <a:prstGeom prst="rect">
            <a:avLst/>
          </a:prstGeom>
          <a:noFill/>
        </p:spPr>
        <p:txBody>
          <a:bodyPr wrap="square">
            <a:spAutoFit/>
          </a:bodyPr>
          <a:lstStyle/>
          <a:p>
            <a:pPr algn="ctr"/>
            <a:r>
              <a:rPr sz="1300" b="1" i="0">
                <a:solidFill>
                  <a:srgbClr val="FFFFFF"/>
                </a:solidFill>
                <a:latin typeface="Calibri"/>
              </a:rPr>
              <a:t>VAL
15 %
4,050</a:t>
            </a:r>
          </a:p>
        </p:txBody>
      </p:sp>
      <p:sp>
        <p:nvSpPr>
          <p:cNvPr id="14" name="TextBox 13"/>
          <p:cNvSpPr txBox="1"/>
          <p:nvPr/>
        </p:nvSpPr>
        <p:spPr>
          <a:xfrm>
            <a:off x="10086289" y="1280160"/>
            <a:ext cx="1599742" cy="731520"/>
          </a:xfrm>
          <a:prstGeom prst="rect">
            <a:avLst/>
          </a:prstGeom>
          <a:noFill/>
        </p:spPr>
        <p:txBody>
          <a:bodyPr wrap="square">
            <a:spAutoFit/>
          </a:bodyPr>
          <a:lstStyle/>
          <a:p>
            <a:pPr algn="ctr"/>
            <a:r>
              <a:rPr sz="1300" b="1" i="0">
                <a:solidFill>
                  <a:srgbClr val="1A1A2E"/>
                </a:solidFill>
                <a:latin typeface="Calibri"/>
              </a:rPr>
              <a:t>TEST
15 %
4,050</a:t>
            </a:r>
          </a:p>
        </p:txBody>
      </p:sp>
      <p:sp>
        <p:nvSpPr>
          <p:cNvPr id="15" name="Rectangle 14"/>
          <p:cNvSpPr/>
          <p:nvPr/>
        </p:nvSpPr>
        <p:spPr>
          <a:xfrm>
            <a:off x="457200" y="2377440"/>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450592"/>
            <a:ext cx="2926080" cy="438912"/>
          </a:xfrm>
          <a:prstGeom prst="rect">
            <a:avLst/>
          </a:prstGeom>
          <a:noFill/>
        </p:spPr>
        <p:txBody>
          <a:bodyPr wrap="square">
            <a:spAutoFit/>
          </a:bodyPr>
          <a:lstStyle/>
          <a:p>
            <a:pPr algn="l"/>
            <a:r>
              <a:rPr sz="1400" b="1" i="0">
                <a:solidFill>
                  <a:srgbClr val="FFFFFF"/>
                </a:solidFill>
                <a:latin typeface="Calibri"/>
              </a:rPr>
              <a:t>Split method</a:t>
            </a:r>
          </a:p>
        </p:txBody>
      </p:sp>
      <p:sp>
        <p:nvSpPr>
          <p:cNvPr id="17" name="Rectangle 16"/>
          <p:cNvSpPr/>
          <p:nvPr/>
        </p:nvSpPr>
        <p:spPr>
          <a:xfrm>
            <a:off x="3657600" y="2377440"/>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94760" y="2450592"/>
            <a:ext cx="7955279" cy="438912"/>
          </a:xfrm>
          <a:prstGeom prst="rect">
            <a:avLst/>
          </a:prstGeom>
          <a:noFill/>
        </p:spPr>
        <p:txBody>
          <a:bodyPr wrap="square">
            <a:spAutoFit/>
          </a:bodyPr>
          <a:lstStyle/>
          <a:p>
            <a:pPr algn="l"/>
            <a:r>
              <a:rPr sz="1400" b="0" i="0">
                <a:solidFill>
                  <a:srgbClr val="1A1A2E"/>
                </a:solidFill>
                <a:latin typeface="Calibri"/>
              </a:rPr>
              <a:t>torch.utils.data.random_split</a:t>
            </a:r>
          </a:p>
        </p:txBody>
      </p:sp>
      <p:sp>
        <p:nvSpPr>
          <p:cNvPr id="19" name="Rectangle 18"/>
          <p:cNvSpPr/>
          <p:nvPr/>
        </p:nvSpPr>
        <p:spPr>
          <a:xfrm>
            <a:off x="457200" y="3035808"/>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108960"/>
            <a:ext cx="2926080" cy="438912"/>
          </a:xfrm>
          <a:prstGeom prst="rect">
            <a:avLst/>
          </a:prstGeom>
          <a:noFill/>
        </p:spPr>
        <p:txBody>
          <a:bodyPr wrap="square">
            <a:spAutoFit/>
          </a:bodyPr>
          <a:lstStyle/>
          <a:p>
            <a:pPr algn="l"/>
            <a:r>
              <a:rPr sz="1400" b="1" i="0">
                <a:solidFill>
                  <a:srgbClr val="FFFFFF"/>
                </a:solidFill>
                <a:latin typeface="Calibri"/>
              </a:rPr>
              <a:t>Random seed</a:t>
            </a:r>
          </a:p>
        </p:txBody>
      </p:sp>
      <p:sp>
        <p:nvSpPr>
          <p:cNvPr id="21" name="Rectangle 20"/>
          <p:cNvSpPr/>
          <p:nvPr/>
        </p:nvSpPr>
        <p:spPr>
          <a:xfrm>
            <a:off x="3657600" y="3035808"/>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94760" y="3108960"/>
            <a:ext cx="7955279" cy="438912"/>
          </a:xfrm>
          <a:prstGeom prst="rect">
            <a:avLst/>
          </a:prstGeom>
          <a:noFill/>
        </p:spPr>
        <p:txBody>
          <a:bodyPr wrap="square">
            <a:spAutoFit/>
          </a:bodyPr>
          <a:lstStyle/>
          <a:p>
            <a:pPr algn="l"/>
            <a:r>
              <a:rPr sz="1400" b="0" i="0">
                <a:solidFill>
                  <a:srgbClr val="1A1A2E"/>
                </a:solidFill>
                <a:latin typeface="Calibri"/>
              </a:rPr>
              <a:t>torch.Generator().manual_seed(42)</a:t>
            </a:r>
          </a:p>
        </p:txBody>
      </p:sp>
      <p:sp>
        <p:nvSpPr>
          <p:cNvPr id="23" name="Rectangle 22"/>
          <p:cNvSpPr/>
          <p:nvPr/>
        </p:nvSpPr>
        <p:spPr>
          <a:xfrm>
            <a:off x="457200" y="3694176"/>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3767328"/>
            <a:ext cx="2926080" cy="438912"/>
          </a:xfrm>
          <a:prstGeom prst="rect">
            <a:avLst/>
          </a:prstGeom>
          <a:noFill/>
        </p:spPr>
        <p:txBody>
          <a:bodyPr wrap="square">
            <a:spAutoFit/>
          </a:bodyPr>
          <a:lstStyle/>
          <a:p>
            <a:pPr algn="l"/>
            <a:r>
              <a:rPr sz="1400" b="1" i="0">
                <a:solidFill>
                  <a:srgbClr val="FFFFFF"/>
                </a:solidFill>
                <a:latin typeface="Calibri"/>
              </a:rPr>
              <a:t>Training set</a:t>
            </a:r>
          </a:p>
        </p:txBody>
      </p:sp>
      <p:sp>
        <p:nvSpPr>
          <p:cNvPr id="25" name="Rectangle 24"/>
          <p:cNvSpPr/>
          <p:nvPr/>
        </p:nvSpPr>
        <p:spPr>
          <a:xfrm>
            <a:off x="3657600" y="3694176"/>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794760" y="3767328"/>
            <a:ext cx="7955279" cy="438912"/>
          </a:xfrm>
          <a:prstGeom prst="rect">
            <a:avLst/>
          </a:prstGeom>
          <a:noFill/>
        </p:spPr>
        <p:txBody>
          <a:bodyPr wrap="square">
            <a:spAutoFit/>
          </a:bodyPr>
          <a:lstStyle/>
          <a:p>
            <a:pPr algn="l"/>
            <a:r>
              <a:rPr sz="1400" b="0" i="0">
                <a:solidFill>
                  <a:srgbClr val="1A1A2E"/>
                </a:solidFill>
                <a:latin typeface="Calibri"/>
              </a:rPr>
              <a:t>Gradient updates only — never inspected by hand</a:t>
            </a:r>
          </a:p>
        </p:txBody>
      </p:sp>
      <p:sp>
        <p:nvSpPr>
          <p:cNvPr id="27" name="Rectangle 26"/>
          <p:cNvSpPr/>
          <p:nvPr/>
        </p:nvSpPr>
        <p:spPr>
          <a:xfrm>
            <a:off x="457200" y="4352544"/>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4425696"/>
            <a:ext cx="2926080" cy="438912"/>
          </a:xfrm>
          <a:prstGeom prst="rect">
            <a:avLst/>
          </a:prstGeom>
          <a:noFill/>
        </p:spPr>
        <p:txBody>
          <a:bodyPr wrap="square">
            <a:spAutoFit/>
          </a:bodyPr>
          <a:lstStyle/>
          <a:p>
            <a:pPr algn="l"/>
            <a:r>
              <a:rPr sz="1400" b="1" i="0">
                <a:solidFill>
                  <a:srgbClr val="FFFFFF"/>
                </a:solidFill>
                <a:latin typeface="Calibri"/>
              </a:rPr>
              <a:t>Validation set</a:t>
            </a:r>
          </a:p>
        </p:txBody>
      </p:sp>
      <p:sp>
        <p:nvSpPr>
          <p:cNvPr id="29" name="Rectangle 28"/>
          <p:cNvSpPr/>
          <p:nvPr/>
        </p:nvSpPr>
        <p:spPr>
          <a:xfrm>
            <a:off x="3657600" y="4352544"/>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94760" y="4425696"/>
            <a:ext cx="7955279" cy="438912"/>
          </a:xfrm>
          <a:prstGeom prst="rect">
            <a:avLst/>
          </a:prstGeom>
          <a:noFill/>
        </p:spPr>
        <p:txBody>
          <a:bodyPr wrap="square">
            <a:spAutoFit/>
          </a:bodyPr>
          <a:lstStyle/>
          <a:p>
            <a:pPr algn="l"/>
            <a:r>
              <a:rPr sz="1400" b="0" i="0">
                <a:solidFill>
                  <a:srgbClr val="1A1A2E"/>
                </a:solidFill>
                <a:latin typeface="Calibri"/>
              </a:rPr>
              <a:t>One purpose: select the best epoch (lowest val_loss)</a:t>
            </a:r>
          </a:p>
        </p:txBody>
      </p:sp>
      <p:sp>
        <p:nvSpPr>
          <p:cNvPr id="31" name="Rectangle 30"/>
          <p:cNvSpPr/>
          <p:nvPr/>
        </p:nvSpPr>
        <p:spPr>
          <a:xfrm>
            <a:off x="457200" y="5010912"/>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5084064"/>
            <a:ext cx="2926080" cy="438912"/>
          </a:xfrm>
          <a:prstGeom prst="rect">
            <a:avLst/>
          </a:prstGeom>
          <a:noFill/>
        </p:spPr>
        <p:txBody>
          <a:bodyPr wrap="square">
            <a:spAutoFit/>
          </a:bodyPr>
          <a:lstStyle/>
          <a:p>
            <a:pPr algn="l"/>
            <a:r>
              <a:rPr sz="1400" b="1" i="0">
                <a:solidFill>
                  <a:srgbClr val="FFFFFF"/>
                </a:solidFill>
                <a:latin typeface="Calibri"/>
              </a:rPr>
              <a:t>Test set</a:t>
            </a:r>
          </a:p>
        </p:txBody>
      </p:sp>
      <p:sp>
        <p:nvSpPr>
          <p:cNvPr id="33" name="Rectangle 32"/>
          <p:cNvSpPr/>
          <p:nvPr/>
        </p:nvSpPr>
        <p:spPr>
          <a:xfrm>
            <a:off x="3657600" y="5010912"/>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794760" y="5084064"/>
            <a:ext cx="7955279" cy="438912"/>
          </a:xfrm>
          <a:prstGeom prst="rect">
            <a:avLst/>
          </a:prstGeom>
          <a:noFill/>
        </p:spPr>
        <p:txBody>
          <a:bodyPr wrap="square">
            <a:spAutoFit/>
          </a:bodyPr>
          <a:lstStyle/>
          <a:p>
            <a:pPr algn="l"/>
            <a:r>
              <a:rPr sz="1400" b="0" i="0">
                <a:solidFill>
                  <a:srgbClr val="1A1A2E"/>
                </a:solidFill>
                <a:latin typeface="Calibri"/>
              </a:rPr>
              <a:t>Touched exactly once, at the end — reports final metrics</a:t>
            </a:r>
          </a:p>
        </p:txBody>
      </p:sp>
      <p:sp>
        <p:nvSpPr>
          <p:cNvPr id="35" name="Rectangle 34"/>
          <p:cNvSpPr/>
          <p:nvPr/>
        </p:nvSpPr>
        <p:spPr>
          <a:xfrm>
            <a:off x="457200" y="5669279"/>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 y="5742431"/>
            <a:ext cx="2926080" cy="438912"/>
          </a:xfrm>
          <a:prstGeom prst="rect">
            <a:avLst/>
          </a:prstGeom>
          <a:noFill/>
        </p:spPr>
        <p:txBody>
          <a:bodyPr wrap="square">
            <a:spAutoFit/>
          </a:bodyPr>
          <a:lstStyle/>
          <a:p>
            <a:pPr algn="l"/>
            <a:r>
              <a:rPr sz="1400" b="1" i="0">
                <a:solidFill>
                  <a:srgbClr val="FFFFFF"/>
                </a:solidFill>
                <a:latin typeface="Calibri"/>
              </a:rPr>
              <a:t>Leakage prevention</a:t>
            </a:r>
          </a:p>
        </p:txBody>
      </p:sp>
      <p:sp>
        <p:nvSpPr>
          <p:cNvPr id="37" name="Rectangle 36"/>
          <p:cNvSpPr/>
          <p:nvPr/>
        </p:nvSpPr>
        <p:spPr>
          <a:xfrm>
            <a:off x="3657600" y="5669279"/>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94760" y="5742431"/>
            <a:ext cx="7955279" cy="438912"/>
          </a:xfrm>
          <a:prstGeom prst="rect">
            <a:avLst/>
          </a:prstGeom>
          <a:noFill/>
        </p:spPr>
        <p:txBody>
          <a:bodyPr wrap="square">
            <a:spAutoFit/>
          </a:bodyPr>
          <a:lstStyle/>
          <a:p>
            <a:pPr algn="l"/>
            <a:r>
              <a:rPr sz="1400" b="0" i="0">
                <a:solidFill>
                  <a:srgbClr val="1A1A2E"/>
                </a:solidFill>
                <a:latin typeface="Calibri"/>
              </a:rPr>
              <a:t>No hyperparameter tuning uses test set information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Reading the Dataset — data_utils.py</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Transforms · DataLoaders · Class discovery</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188720"/>
            <a:ext cx="11612880" cy="393192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80160"/>
            <a:ext cx="11247120" cy="3749039"/>
          </a:xfrm>
          <a:prstGeom prst="rect">
            <a:avLst/>
          </a:prstGeom>
          <a:noFill/>
        </p:spPr>
        <p:txBody>
          <a:bodyPr wrap="square">
            <a:spAutoFit/>
          </a:bodyPr>
          <a:lstStyle/>
          <a:p>
            <a:pPr algn="l"/>
            <a:r>
              <a:rPr sz="1300" b="0" i="0">
                <a:solidFill>
                  <a:srgbClr val="A0D0FF"/>
                </a:solidFill>
                <a:latin typeface="Courier New"/>
              </a:rPr>
              <a:t>from torchvision import datasets, transforms
from torch.utils.data import DataLoader, random_split
transform = transforms.Compose([
    transforms.ToTensor(),
    transforms.Normalize(mean=[0.485, 0.456, 0.406],
                         std= [0.229, 0.224, 0.225])
])
full_dataset = datasets.ImageFolder(root='EuroSAT/2750', transform=transform)
# classes: ['AnnualCrop', 'Forest', ..., 'SeaLake']  (10 total)
train_dataset, val_dataset, test_dataset = random_split(
    full_dataset, [18900, 4050, 4050],
    generator=torch.Generator().manual_seed(42)
)
train_loader = DataLoader(train_dataset, batch_size=64, shuffle=True)</a:t>
            </a:r>
          </a:p>
        </p:txBody>
      </p:sp>
      <p:sp>
        <p:nvSpPr>
          <p:cNvPr id="11" name="TextBox 10"/>
          <p:cNvSpPr txBox="1"/>
          <p:nvPr/>
        </p:nvSpPr>
        <p:spPr>
          <a:xfrm>
            <a:off x="287972" y="5161453"/>
            <a:ext cx="11612880" cy="1463040"/>
          </a:xfrm>
          <a:prstGeom prst="rect">
            <a:avLst/>
          </a:prstGeom>
          <a:noFill/>
        </p:spPr>
        <p:txBody>
          <a:bodyPr wrap="square">
            <a:spAutoFit/>
          </a:bodyPr>
          <a:lstStyle/>
          <a:p>
            <a:pPr algn="l">
              <a:spcBef>
                <a:spcPts val="500"/>
              </a:spcBef>
            </a:pPr>
            <a:r>
              <a:rPr sz="1400" b="0" dirty="0">
                <a:solidFill>
                  <a:srgbClr val="1A1A2E"/>
                </a:solidFill>
                <a:latin typeface="Calibri"/>
              </a:rPr>
              <a:t>▸  </a:t>
            </a:r>
            <a:r>
              <a:rPr sz="1400" b="0" dirty="0" err="1">
                <a:solidFill>
                  <a:srgbClr val="1A1A2E"/>
                </a:solidFill>
                <a:latin typeface="Calibri"/>
              </a:rPr>
              <a:t>ToTensor</a:t>
            </a:r>
            <a:r>
              <a:rPr sz="1400" b="0" dirty="0">
                <a:solidFill>
                  <a:srgbClr val="1A1A2E"/>
                </a:solidFill>
                <a:latin typeface="Calibri"/>
              </a:rPr>
              <a:t>()   — converts PIL image [0,255] → float tensor [0.0, 1.0]</a:t>
            </a:r>
          </a:p>
          <a:p>
            <a:pPr algn="l">
              <a:spcBef>
                <a:spcPts val="500"/>
              </a:spcBef>
            </a:pPr>
            <a:r>
              <a:rPr sz="1400" b="0" dirty="0">
                <a:solidFill>
                  <a:srgbClr val="1A1A2E"/>
                </a:solidFill>
                <a:latin typeface="Calibri"/>
              </a:rPr>
              <a:t>▸  Normalize()  — subtracts ImageNet channel mean, divides by channel std</a:t>
            </a:r>
          </a:p>
          <a:p>
            <a:pPr algn="l">
              <a:spcBef>
                <a:spcPts val="500"/>
              </a:spcBef>
            </a:pPr>
            <a:r>
              <a:rPr sz="1400" b="0" dirty="0">
                <a:solidFill>
                  <a:srgbClr val="1A1A2E"/>
                </a:solidFill>
                <a:latin typeface="Calibri"/>
              </a:rPr>
              <a:t>▸  </a:t>
            </a:r>
            <a:r>
              <a:rPr sz="1400" b="0" dirty="0" err="1">
                <a:solidFill>
                  <a:srgbClr val="1A1A2E"/>
                </a:solidFill>
                <a:latin typeface="Calibri"/>
              </a:rPr>
              <a:t>ImageFolder</a:t>
            </a:r>
            <a:r>
              <a:rPr sz="1400" b="0" dirty="0">
                <a:solidFill>
                  <a:srgbClr val="1A1A2E"/>
                </a:solidFill>
                <a:latin typeface="Calibri"/>
              </a:rPr>
              <a:t>  — auto-discovers classes from sub-directory names</a:t>
            </a:r>
          </a:p>
          <a:p>
            <a:pPr algn="l">
              <a:spcBef>
                <a:spcPts val="500"/>
              </a:spcBef>
            </a:pPr>
            <a:r>
              <a:rPr sz="1400" b="0" dirty="0">
                <a:solidFill>
                  <a:srgbClr val="1A1A2E"/>
                </a:solidFill>
                <a:latin typeface="Calibri"/>
              </a:rPr>
              <a:t>▸  </a:t>
            </a:r>
            <a:r>
              <a:rPr sz="1400" b="0" dirty="0" err="1">
                <a:solidFill>
                  <a:srgbClr val="1A1A2E"/>
                </a:solidFill>
                <a:latin typeface="Calibri"/>
              </a:rPr>
              <a:t>batch_size</a:t>
            </a:r>
            <a:r>
              <a:rPr sz="1400" b="0" dirty="0">
                <a:solidFill>
                  <a:srgbClr val="1A1A2E"/>
                </a:solidFill>
                <a:latin typeface="Calibri"/>
              </a:rPr>
              <a:t>=64 — good balance between gradient noise and memory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Creating the CNN — SimpleCNN Architecture</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Lightweight 3-block convolutional baseline  ·  ~4.5 M parameters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828800"/>
            <a:ext cx="1463040" cy="2560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920240"/>
            <a:ext cx="1371600" cy="2377439"/>
          </a:xfrm>
          <a:prstGeom prst="rect">
            <a:avLst/>
          </a:prstGeom>
          <a:noFill/>
        </p:spPr>
        <p:txBody>
          <a:bodyPr wrap="square">
            <a:spAutoFit/>
          </a:bodyPr>
          <a:lstStyle/>
          <a:p>
            <a:pPr algn="ctr"/>
            <a:r>
              <a:rPr sz="1300" b="0" i="0">
                <a:solidFill>
                  <a:srgbClr val="1A1A2E"/>
                </a:solidFill>
                <a:latin typeface="Calibri"/>
              </a:rPr>
              <a:t>Input
3×64×64</a:t>
            </a:r>
          </a:p>
        </p:txBody>
      </p:sp>
      <p:sp>
        <p:nvSpPr>
          <p:cNvPr id="11" name="Rectangle 10"/>
          <p:cNvSpPr/>
          <p:nvPr/>
        </p:nvSpPr>
        <p:spPr>
          <a:xfrm>
            <a:off x="2011680" y="1463040"/>
            <a:ext cx="1828800" cy="3200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57400" y="1554480"/>
            <a:ext cx="1737360" cy="3017520"/>
          </a:xfrm>
          <a:prstGeom prst="rect">
            <a:avLst/>
          </a:prstGeom>
          <a:noFill/>
        </p:spPr>
        <p:txBody>
          <a:bodyPr wrap="square">
            <a:spAutoFit/>
          </a:bodyPr>
          <a:lstStyle/>
          <a:p>
            <a:pPr algn="ctr"/>
            <a:r>
              <a:rPr sz="1300" b="0" i="0">
                <a:solidFill>
                  <a:srgbClr val="FFFFFF"/>
                </a:solidFill>
                <a:latin typeface="Calibri"/>
              </a:rPr>
              <a:t>Conv Block 1
3→32 ch
64→32 px
BN+ReLU+Pool</a:t>
            </a:r>
          </a:p>
        </p:txBody>
      </p:sp>
      <p:sp>
        <p:nvSpPr>
          <p:cNvPr id="13" name="Rectangle 12"/>
          <p:cNvSpPr/>
          <p:nvPr/>
        </p:nvSpPr>
        <p:spPr>
          <a:xfrm>
            <a:off x="4114800" y="1463040"/>
            <a:ext cx="1828800" cy="3200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60520" y="1554480"/>
            <a:ext cx="1737360" cy="3017520"/>
          </a:xfrm>
          <a:prstGeom prst="rect">
            <a:avLst/>
          </a:prstGeom>
          <a:noFill/>
        </p:spPr>
        <p:txBody>
          <a:bodyPr wrap="square">
            <a:spAutoFit/>
          </a:bodyPr>
          <a:lstStyle/>
          <a:p>
            <a:pPr algn="ctr"/>
            <a:r>
              <a:rPr sz="1300" b="0" i="0">
                <a:solidFill>
                  <a:srgbClr val="FFFFFF"/>
                </a:solidFill>
                <a:latin typeface="Calibri"/>
              </a:rPr>
              <a:t>Conv Block 2
32→64 ch
32→16 px
BN+ReLU+Pool</a:t>
            </a:r>
          </a:p>
        </p:txBody>
      </p:sp>
      <p:sp>
        <p:nvSpPr>
          <p:cNvPr id="15" name="Rectangle 14"/>
          <p:cNvSpPr/>
          <p:nvPr/>
        </p:nvSpPr>
        <p:spPr>
          <a:xfrm>
            <a:off x="6217920" y="1463040"/>
            <a:ext cx="1828800" cy="3200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1554480"/>
            <a:ext cx="1737360" cy="3017520"/>
          </a:xfrm>
          <a:prstGeom prst="rect">
            <a:avLst/>
          </a:prstGeom>
          <a:noFill/>
        </p:spPr>
        <p:txBody>
          <a:bodyPr wrap="square">
            <a:spAutoFit/>
          </a:bodyPr>
          <a:lstStyle/>
          <a:p>
            <a:pPr algn="ctr"/>
            <a:r>
              <a:rPr sz="1300" b="0" i="0">
                <a:solidFill>
                  <a:srgbClr val="FFFFFF"/>
                </a:solidFill>
                <a:latin typeface="Calibri"/>
              </a:rPr>
              <a:t>Conv Block 3
64→128 ch
16→8 px
BN+ReLU+Pool</a:t>
            </a:r>
          </a:p>
        </p:txBody>
      </p:sp>
      <p:sp>
        <p:nvSpPr>
          <p:cNvPr id="17" name="Rectangle 16"/>
          <p:cNvSpPr/>
          <p:nvPr/>
        </p:nvSpPr>
        <p:spPr>
          <a:xfrm>
            <a:off x="8321040" y="1828800"/>
            <a:ext cx="1280160" cy="25603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66760" y="1920240"/>
            <a:ext cx="1188719" cy="2377439"/>
          </a:xfrm>
          <a:prstGeom prst="rect">
            <a:avLst/>
          </a:prstGeom>
          <a:noFill/>
        </p:spPr>
        <p:txBody>
          <a:bodyPr wrap="square">
            <a:spAutoFit/>
          </a:bodyPr>
          <a:lstStyle/>
          <a:p>
            <a:pPr algn="ctr"/>
            <a:r>
              <a:rPr sz="1300" b="0" i="0">
                <a:solidFill>
                  <a:srgbClr val="FFFFFF"/>
                </a:solidFill>
                <a:latin typeface="Calibri"/>
              </a:rPr>
              <a:t>Flatten
8192</a:t>
            </a:r>
          </a:p>
        </p:txBody>
      </p:sp>
      <p:sp>
        <p:nvSpPr>
          <p:cNvPr id="19" name="Rectangle 18"/>
          <p:cNvSpPr/>
          <p:nvPr/>
        </p:nvSpPr>
        <p:spPr>
          <a:xfrm>
            <a:off x="9875520" y="1645920"/>
            <a:ext cx="1371600" cy="283464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921240" y="1737360"/>
            <a:ext cx="1280160" cy="2651760"/>
          </a:xfrm>
          <a:prstGeom prst="rect">
            <a:avLst/>
          </a:prstGeom>
          <a:noFill/>
        </p:spPr>
        <p:txBody>
          <a:bodyPr wrap="square">
            <a:spAutoFit/>
          </a:bodyPr>
          <a:lstStyle/>
          <a:p>
            <a:pPr algn="ctr"/>
            <a:r>
              <a:rPr sz="1300" b="0" i="0">
                <a:solidFill>
                  <a:srgbClr val="FFFFFF"/>
                </a:solidFill>
                <a:latin typeface="Calibri"/>
              </a:rPr>
              <a:t>FC 8192→512
Dropout 0.5
ReLU</a:t>
            </a:r>
          </a:p>
        </p:txBody>
      </p:sp>
      <p:sp>
        <p:nvSpPr>
          <p:cNvPr id="21" name="Rectangle 20"/>
          <p:cNvSpPr/>
          <p:nvPr/>
        </p:nvSpPr>
        <p:spPr>
          <a:xfrm>
            <a:off x="11430000" y="2011680"/>
            <a:ext cx="640080" cy="219456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475720" y="2103120"/>
            <a:ext cx="548640" cy="2011679"/>
          </a:xfrm>
          <a:prstGeom prst="rect">
            <a:avLst/>
          </a:prstGeom>
          <a:noFill/>
        </p:spPr>
        <p:txBody>
          <a:bodyPr wrap="square">
            <a:spAutoFit/>
          </a:bodyPr>
          <a:lstStyle/>
          <a:p>
            <a:pPr algn="ctr"/>
            <a:r>
              <a:rPr sz="1300" b="0" i="0">
                <a:solidFill>
                  <a:srgbClr val="1A1A2E"/>
                </a:solidFill>
                <a:latin typeface="Calibri"/>
              </a:rPr>
              <a:t>FC 512→10
Softmax</a:t>
            </a:r>
          </a:p>
        </p:txBody>
      </p:sp>
      <p:sp>
        <p:nvSpPr>
          <p:cNvPr id="23" name="TextBox 22"/>
          <p:cNvSpPr txBox="1"/>
          <p:nvPr/>
        </p:nvSpPr>
        <p:spPr>
          <a:xfrm>
            <a:off x="1737360" y="3063240"/>
            <a:ext cx="274320" cy="365760"/>
          </a:xfrm>
          <a:prstGeom prst="rect">
            <a:avLst/>
          </a:prstGeom>
          <a:noFill/>
        </p:spPr>
        <p:txBody>
          <a:bodyPr wrap="square">
            <a:spAutoFit/>
          </a:bodyPr>
          <a:lstStyle/>
          <a:p>
            <a:pPr algn="l"/>
            <a:r>
              <a:rPr sz="1800" b="1" i="0">
                <a:solidFill>
                  <a:srgbClr val="0D2B55"/>
                </a:solidFill>
                <a:latin typeface="Calibri"/>
              </a:rPr>
              <a:t>→</a:t>
            </a:r>
          </a:p>
        </p:txBody>
      </p:sp>
      <p:sp>
        <p:nvSpPr>
          <p:cNvPr id="24" name="TextBox 23"/>
          <p:cNvSpPr txBox="1"/>
          <p:nvPr/>
        </p:nvSpPr>
        <p:spPr>
          <a:xfrm>
            <a:off x="3840480" y="3063240"/>
            <a:ext cx="274320" cy="365760"/>
          </a:xfrm>
          <a:prstGeom prst="rect">
            <a:avLst/>
          </a:prstGeom>
          <a:noFill/>
        </p:spPr>
        <p:txBody>
          <a:bodyPr wrap="square">
            <a:spAutoFit/>
          </a:bodyPr>
          <a:lstStyle/>
          <a:p>
            <a:pPr algn="l"/>
            <a:r>
              <a:rPr sz="1800" b="1" i="0">
                <a:solidFill>
                  <a:srgbClr val="0D2B55"/>
                </a:solidFill>
                <a:latin typeface="Calibri"/>
              </a:rPr>
              <a:t>→</a:t>
            </a:r>
          </a:p>
        </p:txBody>
      </p:sp>
      <p:sp>
        <p:nvSpPr>
          <p:cNvPr id="25" name="TextBox 24"/>
          <p:cNvSpPr txBox="1"/>
          <p:nvPr/>
        </p:nvSpPr>
        <p:spPr>
          <a:xfrm>
            <a:off x="5943600" y="3063240"/>
            <a:ext cx="274320" cy="365760"/>
          </a:xfrm>
          <a:prstGeom prst="rect">
            <a:avLst/>
          </a:prstGeom>
          <a:noFill/>
        </p:spPr>
        <p:txBody>
          <a:bodyPr wrap="square">
            <a:spAutoFit/>
          </a:bodyPr>
          <a:lstStyle/>
          <a:p>
            <a:pPr algn="l"/>
            <a:r>
              <a:rPr sz="1800" b="1" i="0">
                <a:solidFill>
                  <a:srgbClr val="0D2B55"/>
                </a:solidFill>
                <a:latin typeface="Calibri"/>
              </a:rPr>
              <a:t>→</a:t>
            </a:r>
          </a:p>
        </p:txBody>
      </p:sp>
      <p:sp>
        <p:nvSpPr>
          <p:cNvPr id="26" name="TextBox 25"/>
          <p:cNvSpPr txBox="1"/>
          <p:nvPr/>
        </p:nvSpPr>
        <p:spPr>
          <a:xfrm>
            <a:off x="8051292" y="3072383"/>
            <a:ext cx="274320" cy="365760"/>
          </a:xfrm>
          <a:prstGeom prst="rect">
            <a:avLst/>
          </a:prstGeom>
          <a:noFill/>
        </p:spPr>
        <p:txBody>
          <a:bodyPr wrap="square">
            <a:spAutoFit/>
          </a:bodyPr>
          <a:lstStyle/>
          <a:p>
            <a:pPr algn="l"/>
            <a:r>
              <a:rPr sz="1800" b="1" i="0" dirty="0">
                <a:solidFill>
                  <a:srgbClr val="0D2B55"/>
                </a:solidFill>
                <a:latin typeface="Calibri"/>
              </a:rPr>
              <a:t>→</a:t>
            </a:r>
          </a:p>
        </p:txBody>
      </p:sp>
      <p:sp>
        <p:nvSpPr>
          <p:cNvPr id="27" name="TextBox 26"/>
          <p:cNvSpPr txBox="1"/>
          <p:nvPr/>
        </p:nvSpPr>
        <p:spPr>
          <a:xfrm>
            <a:off x="9601199" y="3054096"/>
            <a:ext cx="274320" cy="365760"/>
          </a:xfrm>
          <a:prstGeom prst="rect">
            <a:avLst/>
          </a:prstGeom>
          <a:noFill/>
        </p:spPr>
        <p:txBody>
          <a:bodyPr wrap="square">
            <a:spAutoFit/>
          </a:bodyPr>
          <a:lstStyle/>
          <a:p>
            <a:pPr algn="l"/>
            <a:r>
              <a:rPr sz="1800" b="1" i="0" dirty="0">
                <a:solidFill>
                  <a:srgbClr val="0D2B55"/>
                </a:solidFill>
                <a:latin typeface="Calibri"/>
              </a:rPr>
              <a:t>→</a:t>
            </a:r>
          </a:p>
        </p:txBody>
      </p:sp>
      <p:sp>
        <p:nvSpPr>
          <p:cNvPr id="28" name="TextBox 27"/>
          <p:cNvSpPr txBox="1"/>
          <p:nvPr/>
        </p:nvSpPr>
        <p:spPr>
          <a:xfrm>
            <a:off x="11155680" y="3063240"/>
            <a:ext cx="274320" cy="365760"/>
          </a:xfrm>
          <a:prstGeom prst="rect">
            <a:avLst/>
          </a:prstGeom>
          <a:noFill/>
        </p:spPr>
        <p:txBody>
          <a:bodyPr wrap="square">
            <a:spAutoFit/>
          </a:bodyPr>
          <a:lstStyle/>
          <a:p>
            <a:pPr algn="l"/>
            <a:r>
              <a:rPr sz="1800" b="1" i="0" dirty="0">
                <a:solidFill>
                  <a:srgbClr val="0D2B55"/>
                </a:solidFill>
                <a:latin typeface="Calibri"/>
              </a:rPr>
              <a:t>→</a:t>
            </a:r>
          </a:p>
        </p:txBody>
      </p:sp>
      <p:sp>
        <p:nvSpPr>
          <p:cNvPr id="29" name="TextBox 28"/>
          <p:cNvSpPr txBox="1"/>
          <p:nvPr/>
        </p:nvSpPr>
        <p:spPr>
          <a:xfrm>
            <a:off x="1371600" y="5029200"/>
            <a:ext cx="10058400" cy="457200"/>
          </a:xfrm>
          <a:prstGeom prst="rect">
            <a:avLst/>
          </a:prstGeom>
          <a:noFill/>
        </p:spPr>
        <p:txBody>
          <a:bodyPr wrap="square">
            <a:spAutoFit/>
          </a:bodyPr>
          <a:lstStyle/>
          <a:p>
            <a:pPr algn="ctr"/>
            <a:r>
              <a:rPr sz="1400" b="0" i="0">
                <a:solidFill>
                  <a:srgbClr val="1A1A2E"/>
                </a:solidFill>
                <a:latin typeface="Calibri"/>
              </a:rPr>
              <a:t>Spatial: 64 → 32 → 16 → 8     Channels: 3 → 32 → 64 → 128</a:t>
            </a:r>
          </a:p>
        </p:txBody>
      </p:sp>
      <p:sp>
        <p:nvSpPr>
          <p:cNvPr id="30" name="TextBox 29"/>
          <p:cNvSpPr txBox="1"/>
          <p:nvPr/>
        </p:nvSpPr>
        <p:spPr>
          <a:xfrm>
            <a:off x="379412" y="5440679"/>
            <a:ext cx="11430000" cy="1097280"/>
          </a:xfrm>
          <a:prstGeom prst="rect">
            <a:avLst/>
          </a:prstGeom>
          <a:noFill/>
        </p:spPr>
        <p:txBody>
          <a:bodyPr wrap="square">
            <a:spAutoFit/>
          </a:bodyPr>
          <a:lstStyle/>
          <a:p>
            <a:pPr algn="l">
              <a:spcBef>
                <a:spcPts val="500"/>
              </a:spcBef>
            </a:pPr>
            <a:r>
              <a:rPr sz="1400" b="0" dirty="0">
                <a:solidFill>
                  <a:srgbClr val="1A1A2E"/>
                </a:solidFill>
                <a:latin typeface="Calibri"/>
              </a:rPr>
              <a:t>▸  3×3 conv, padding=1 (preserves spatial size before pooling)</a:t>
            </a:r>
          </a:p>
          <a:p>
            <a:pPr algn="l">
              <a:spcBef>
                <a:spcPts val="500"/>
              </a:spcBef>
            </a:pPr>
            <a:r>
              <a:rPr sz="1400" b="0" dirty="0">
                <a:solidFill>
                  <a:srgbClr val="1A1A2E"/>
                </a:solidFill>
                <a:latin typeface="Calibri"/>
              </a:rPr>
              <a:t>▸  2×2 </a:t>
            </a:r>
            <a:r>
              <a:rPr sz="1400" b="0" dirty="0" err="1">
                <a:solidFill>
                  <a:srgbClr val="1A1A2E"/>
                </a:solidFill>
                <a:latin typeface="Calibri"/>
              </a:rPr>
              <a:t>MaxPool</a:t>
            </a:r>
            <a:r>
              <a:rPr sz="1400" b="0" dirty="0">
                <a:solidFill>
                  <a:srgbClr val="1A1A2E"/>
                </a:solidFill>
                <a:latin typeface="Calibri"/>
              </a:rPr>
              <a:t> halves spatial dimensions at each stage</a:t>
            </a:r>
          </a:p>
          <a:p>
            <a:pPr algn="l">
              <a:spcBef>
                <a:spcPts val="500"/>
              </a:spcBef>
            </a:pPr>
            <a:r>
              <a:rPr sz="1400" b="0" dirty="0">
                <a:solidFill>
                  <a:srgbClr val="1A1A2E"/>
                </a:solidFill>
                <a:latin typeface="Calibri"/>
              </a:rPr>
              <a:t>▸  Dropout p=0.5 in FC head prevents overfitting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Creating the CNN — U-Net Classifier Architecture</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Encoder-decoder with skip connections  ·  ~8.1 M parameters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en-US"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46888" y="1234440"/>
            <a:ext cx="347472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61872"/>
            <a:ext cx="3108960" cy="365760"/>
          </a:xfrm>
          <a:prstGeom prst="rect">
            <a:avLst/>
          </a:prstGeom>
          <a:noFill/>
        </p:spPr>
        <p:txBody>
          <a:bodyPr wrap="square">
            <a:spAutoFit/>
          </a:bodyPr>
          <a:lstStyle/>
          <a:p>
            <a:pPr algn="ctr"/>
            <a:r>
              <a:rPr sz="1500" b="1" i="0">
                <a:solidFill>
                  <a:srgbClr val="0D2B55"/>
                </a:solidFill>
                <a:latin typeface="Calibri"/>
              </a:rPr>
              <a:t>ENCODER</a:t>
            </a:r>
          </a:p>
        </p:txBody>
      </p:sp>
      <p:sp>
        <p:nvSpPr>
          <p:cNvPr id="11" name="Rectangle 10"/>
          <p:cNvSpPr/>
          <p:nvPr/>
        </p:nvSpPr>
        <p:spPr>
          <a:xfrm>
            <a:off x="457200" y="1280160"/>
            <a:ext cx="301752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399032"/>
            <a:ext cx="2926080" cy="384048"/>
          </a:xfrm>
          <a:prstGeom prst="rect">
            <a:avLst/>
          </a:prstGeom>
          <a:noFill/>
        </p:spPr>
        <p:txBody>
          <a:bodyPr wrap="square">
            <a:spAutoFit/>
          </a:bodyPr>
          <a:lstStyle/>
          <a:p>
            <a:pPr algn="ctr"/>
            <a:r>
              <a:rPr sz="1300" b="0" i="0">
                <a:solidFill>
                  <a:srgbClr val="FFFFFF"/>
                </a:solidFill>
                <a:latin typeface="Calibri"/>
              </a:rPr>
              <a:t>Input  3ch  64×64</a:t>
            </a:r>
          </a:p>
        </p:txBody>
      </p:sp>
      <p:sp>
        <p:nvSpPr>
          <p:cNvPr id="13" name="Rectangle 12"/>
          <p:cNvSpPr/>
          <p:nvPr/>
        </p:nvSpPr>
        <p:spPr>
          <a:xfrm>
            <a:off x="457200" y="1737360"/>
            <a:ext cx="301752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0226" y="1819656"/>
            <a:ext cx="2926080" cy="384048"/>
          </a:xfrm>
          <a:prstGeom prst="rect">
            <a:avLst/>
          </a:prstGeom>
          <a:noFill/>
        </p:spPr>
        <p:txBody>
          <a:bodyPr wrap="square">
            <a:spAutoFit/>
          </a:bodyPr>
          <a:lstStyle/>
          <a:p>
            <a:pPr algn="ctr"/>
            <a:r>
              <a:rPr sz="1300" b="0" i="0">
                <a:solidFill>
                  <a:srgbClr val="FFFFFF"/>
                </a:solidFill>
                <a:latin typeface="Calibri"/>
              </a:rPr>
              <a:t>DoubleConv  64ch</a:t>
            </a:r>
          </a:p>
        </p:txBody>
      </p:sp>
      <p:sp>
        <p:nvSpPr>
          <p:cNvPr id="15" name="Rectangle 14"/>
          <p:cNvSpPr/>
          <p:nvPr/>
        </p:nvSpPr>
        <p:spPr>
          <a:xfrm>
            <a:off x="457200" y="2331720"/>
            <a:ext cx="301752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2395727"/>
            <a:ext cx="2926080" cy="384048"/>
          </a:xfrm>
          <a:prstGeom prst="rect">
            <a:avLst/>
          </a:prstGeom>
          <a:noFill/>
        </p:spPr>
        <p:txBody>
          <a:bodyPr wrap="square">
            <a:spAutoFit/>
          </a:bodyPr>
          <a:lstStyle/>
          <a:p>
            <a:pPr algn="ctr"/>
            <a:r>
              <a:rPr sz="1300" b="0" i="0">
                <a:solidFill>
                  <a:srgbClr val="FFFFFF"/>
                </a:solidFill>
                <a:latin typeface="Calibri"/>
              </a:rPr>
              <a:t>Pool + DC  128ch</a:t>
            </a:r>
          </a:p>
        </p:txBody>
      </p:sp>
      <p:sp>
        <p:nvSpPr>
          <p:cNvPr id="17" name="Rectangle 16"/>
          <p:cNvSpPr/>
          <p:nvPr/>
        </p:nvSpPr>
        <p:spPr>
          <a:xfrm>
            <a:off x="457200" y="2926080"/>
            <a:ext cx="301752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2990088"/>
            <a:ext cx="2926080" cy="384048"/>
          </a:xfrm>
          <a:prstGeom prst="rect">
            <a:avLst/>
          </a:prstGeom>
          <a:noFill/>
        </p:spPr>
        <p:txBody>
          <a:bodyPr wrap="square">
            <a:spAutoFit/>
          </a:bodyPr>
          <a:lstStyle/>
          <a:p>
            <a:pPr algn="ctr"/>
            <a:r>
              <a:rPr sz="1300" b="0" i="0">
                <a:solidFill>
                  <a:srgbClr val="FFFFFF"/>
                </a:solidFill>
                <a:latin typeface="Calibri"/>
              </a:rPr>
              <a:t>Pool + DC  256ch</a:t>
            </a:r>
          </a:p>
        </p:txBody>
      </p:sp>
      <p:sp>
        <p:nvSpPr>
          <p:cNvPr id="19" name="Rectangle 18"/>
          <p:cNvSpPr/>
          <p:nvPr/>
        </p:nvSpPr>
        <p:spPr>
          <a:xfrm>
            <a:off x="457200" y="3520440"/>
            <a:ext cx="301752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3584448"/>
            <a:ext cx="2926080" cy="384048"/>
          </a:xfrm>
          <a:prstGeom prst="rect">
            <a:avLst/>
          </a:prstGeom>
          <a:noFill/>
        </p:spPr>
        <p:txBody>
          <a:bodyPr wrap="square">
            <a:spAutoFit/>
          </a:bodyPr>
          <a:lstStyle/>
          <a:p>
            <a:pPr algn="ctr"/>
            <a:r>
              <a:rPr sz="1300" b="0" i="0">
                <a:solidFill>
                  <a:srgbClr val="FFFFFF"/>
                </a:solidFill>
                <a:latin typeface="Calibri"/>
              </a:rPr>
              <a:t>Pool + DC  512ch  8×8</a:t>
            </a:r>
          </a:p>
        </p:txBody>
      </p:sp>
      <p:sp>
        <p:nvSpPr>
          <p:cNvPr id="21" name="Rectangle 20"/>
          <p:cNvSpPr/>
          <p:nvPr/>
        </p:nvSpPr>
        <p:spPr>
          <a:xfrm>
            <a:off x="4114800" y="1234440"/>
            <a:ext cx="347472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97680" y="1261872"/>
            <a:ext cx="3108960" cy="365760"/>
          </a:xfrm>
          <a:prstGeom prst="rect">
            <a:avLst/>
          </a:prstGeom>
          <a:noFill/>
        </p:spPr>
        <p:txBody>
          <a:bodyPr wrap="square">
            <a:spAutoFit/>
          </a:bodyPr>
          <a:lstStyle/>
          <a:p>
            <a:pPr algn="ctr"/>
            <a:r>
              <a:rPr sz="1500" b="1" i="0" dirty="0">
                <a:solidFill>
                  <a:srgbClr val="1F6FC3"/>
                </a:solidFill>
                <a:latin typeface="Calibri"/>
              </a:rPr>
              <a:t>DECODER</a:t>
            </a:r>
          </a:p>
        </p:txBody>
      </p:sp>
      <p:sp>
        <p:nvSpPr>
          <p:cNvPr id="23" name="Rectangle 22"/>
          <p:cNvSpPr/>
          <p:nvPr/>
        </p:nvSpPr>
        <p:spPr>
          <a:xfrm>
            <a:off x="4297680" y="173736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400" y="1801368"/>
            <a:ext cx="2926080" cy="384048"/>
          </a:xfrm>
          <a:prstGeom prst="rect">
            <a:avLst/>
          </a:prstGeom>
          <a:noFill/>
        </p:spPr>
        <p:txBody>
          <a:bodyPr wrap="square">
            <a:spAutoFit/>
          </a:bodyPr>
          <a:lstStyle/>
          <a:p>
            <a:pPr algn="ctr"/>
            <a:r>
              <a:rPr sz="1300" b="0" i="0">
                <a:solidFill>
                  <a:srgbClr val="FFFFFF"/>
                </a:solidFill>
                <a:latin typeface="Calibri"/>
              </a:rPr>
              <a:t>TransConv 256ch</a:t>
            </a:r>
          </a:p>
        </p:txBody>
      </p:sp>
      <p:sp>
        <p:nvSpPr>
          <p:cNvPr id="25" name="Rectangle 24"/>
          <p:cNvSpPr/>
          <p:nvPr/>
        </p:nvSpPr>
        <p:spPr>
          <a:xfrm>
            <a:off x="4297680" y="233172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43400" y="2395727"/>
            <a:ext cx="2926080" cy="384048"/>
          </a:xfrm>
          <a:prstGeom prst="rect">
            <a:avLst/>
          </a:prstGeom>
          <a:noFill/>
        </p:spPr>
        <p:txBody>
          <a:bodyPr wrap="square">
            <a:spAutoFit/>
          </a:bodyPr>
          <a:lstStyle/>
          <a:p>
            <a:pPr algn="ctr"/>
            <a:r>
              <a:rPr sz="1300" b="0" i="0">
                <a:solidFill>
                  <a:srgbClr val="FFFFFF"/>
                </a:solidFill>
                <a:latin typeface="Calibri"/>
              </a:rPr>
              <a:t>cat+DC  256ch</a:t>
            </a:r>
          </a:p>
        </p:txBody>
      </p:sp>
      <p:sp>
        <p:nvSpPr>
          <p:cNvPr id="27" name="Rectangle 26"/>
          <p:cNvSpPr/>
          <p:nvPr/>
        </p:nvSpPr>
        <p:spPr>
          <a:xfrm>
            <a:off x="4297680" y="292608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43400" y="2990088"/>
            <a:ext cx="2926080" cy="384048"/>
          </a:xfrm>
          <a:prstGeom prst="rect">
            <a:avLst/>
          </a:prstGeom>
          <a:noFill/>
        </p:spPr>
        <p:txBody>
          <a:bodyPr wrap="square">
            <a:spAutoFit/>
          </a:bodyPr>
          <a:lstStyle/>
          <a:p>
            <a:pPr algn="ctr"/>
            <a:r>
              <a:rPr sz="1300" b="0" i="0">
                <a:solidFill>
                  <a:srgbClr val="FFFFFF"/>
                </a:solidFill>
                <a:latin typeface="Calibri"/>
              </a:rPr>
              <a:t>TransConv 128ch</a:t>
            </a:r>
          </a:p>
        </p:txBody>
      </p:sp>
      <p:sp>
        <p:nvSpPr>
          <p:cNvPr id="29" name="Rectangle 28"/>
          <p:cNvSpPr/>
          <p:nvPr/>
        </p:nvSpPr>
        <p:spPr>
          <a:xfrm>
            <a:off x="4297680" y="352044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43400" y="3584448"/>
            <a:ext cx="2926080" cy="384048"/>
          </a:xfrm>
          <a:prstGeom prst="rect">
            <a:avLst/>
          </a:prstGeom>
          <a:noFill/>
        </p:spPr>
        <p:txBody>
          <a:bodyPr wrap="square">
            <a:spAutoFit/>
          </a:bodyPr>
          <a:lstStyle/>
          <a:p>
            <a:pPr algn="ctr"/>
            <a:r>
              <a:rPr sz="1300" b="0" i="0">
                <a:solidFill>
                  <a:srgbClr val="FFFFFF"/>
                </a:solidFill>
                <a:latin typeface="Calibri"/>
              </a:rPr>
              <a:t>cat+DC  128ch</a:t>
            </a:r>
          </a:p>
        </p:txBody>
      </p:sp>
      <p:sp>
        <p:nvSpPr>
          <p:cNvPr id="31" name="Rectangle 30"/>
          <p:cNvSpPr/>
          <p:nvPr/>
        </p:nvSpPr>
        <p:spPr>
          <a:xfrm>
            <a:off x="4297680" y="411480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43400" y="4178808"/>
            <a:ext cx="2926080" cy="384048"/>
          </a:xfrm>
          <a:prstGeom prst="rect">
            <a:avLst/>
          </a:prstGeom>
          <a:noFill/>
        </p:spPr>
        <p:txBody>
          <a:bodyPr wrap="square">
            <a:spAutoFit/>
          </a:bodyPr>
          <a:lstStyle/>
          <a:p>
            <a:pPr algn="ctr"/>
            <a:r>
              <a:rPr sz="1300" b="0" i="0">
                <a:solidFill>
                  <a:srgbClr val="FFFFFF"/>
                </a:solidFill>
                <a:latin typeface="Calibri"/>
              </a:rPr>
              <a:t>TransConv 64ch</a:t>
            </a:r>
          </a:p>
        </p:txBody>
      </p:sp>
      <p:sp>
        <p:nvSpPr>
          <p:cNvPr id="33" name="Rectangle 32"/>
          <p:cNvSpPr/>
          <p:nvPr/>
        </p:nvSpPr>
        <p:spPr>
          <a:xfrm>
            <a:off x="4297680" y="470916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43400" y="4773168"/>
            <a:ext cx="2926080" cy="384048"/>
          </a:xfrm>
          <a:prstGeom prst="rect">
            <a:avLst/>
          </a:prstGeom>
          <a:noFill/>
        </p:spPr>
        <p:txBody>
          <a:bodyPr wrap="square">
            <a:spAutoFit/>
          </a:bodyPr>
          <a:lstStyle/>
          <a:p>
            <a:pPr algn="ctr"/>
            <a:r>
              <a:rPr sz="1300" b="0" i="0">
                <a:solidFill>
                  <a:srgbClr val="FFFFFF"/>
                </a:solidFill>
                <a:latin typeface="Calibri"/>
              </a:rPr>
              <a:t>cat+DC  64ch</a:t>
            </a:r>
          </a:p>
        </p:txBody>
      </p:sp>
      <p:sp>
        <p:nvSpPr>
          <p:cNvPr id="35" name="Rectangle 34"/>
          <p:cNvSpPr/>
          <p:nvPr/>
        </p:nvSpPr>
        <p:spPr>
          <a:xfrm>
            <a:off x="7955279" y="1234440"/>
            <a:ext cx="393192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138160" y="1261872"/>
            <a:ext cx="3566160" cy="365760"/>
          </a:xfrm>
          <a:prstGeom prst="rect">
            <a:avLst/>
          </a:prstGeom>
          <a:noFill/>
        </p:spPr>
        <p:txBody>
          <a:bodyPr wrap="square">
            <a:spAutoFit/>
          </a:bodyPr>
          <a:lstStyle/>
          <a:p>
            <a:pPr algn="ctr"/>
            <a:r>
              <a:rPr sz="1400" b="1" i="0">
                <a:solidFill>
                  <a:srgbClr val="E88C00"/>
                </a:solidFill>
                <a:latin typeface="Calibri"/>
              </a:rPr>
              <a:t>CLASSIFICATION HEAD</a:t>
            </a:r>
          </a:p>
        </p:txBody>
      </p:sp>
      <p:sp>
        <p:nvSpPr>
          <p:cNvPr id="37" name="Rectangle 36"/>
          <p:cNvSpPr/>
          <p:nvPr/>
        </p:nvSpPr>
        <p:spPr>
          <a:xfrm>
            <a:off x="8138160" y="2103120"/>
            <a:ext cx="3566160" cy="64008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83879" y="2148839"/>
            <a:ext cx="3474720" cy="548640"/>
          </a:xfrm>
          <a:prstGeom prst="rect">
            <a:avLst/>
          </a:prstGeom>
          <a:noFill/>
        </p:spPr>
        <p:txBody>
          <a:bodyPr wrap="square">
            <a:spAutoFit/>
          </a:bodyPr>
          <a:lstStyle/>
          <a:p>
            <a:pPr algn="ctr"/>
            <a:r>
              <a:rPr sz="1300" b="0" i="0">
                <a:solidFill>
                  <a:srgbClr val="1A1A2E"/>
                </a:solidFill>
                <a:latin typeface="Calibri"/>
              </a:rPr>
              <a:t>AdaptiveAvgPool2d
(1×1)</a:t>
            </a:r>
          </a:p>
        </p:txBody>
      </p:sp>
      <p:sp>
        <p:nvSpPr>
          <p:cNvPr id="39" name="Rectangle 38"/>
          <p:cNvSpPr/>
          <p:nvPr/>
        </p:nvSpPr>
        <p:spPr>
          <a:xfrm>
            <a:off x="8138160" y="2926080"/>
            <a:ext cx="3566160" cy="64008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83879" y="2971800"/>
            <a:ext cx="3474720" cy="548640"/>
          </a:xfrm>
          <a:prstGeom prst="rect">
            <a:avLst/>
          </a:prstGeom>
          <a:noFill/>
        </p:spPr>
        <p:txBody>
          <a:bodyPr wrap="square">
            <a:spAutoFit/>
          </a:bodyPr>
          <a:lstStyle/>
          <a:p>
            <a:pPr algn="ctr"/>
            <a:r>
              <a:rPr sz="1300" b="0" i="0">
                <a:solidFill>
                  <a:srgbClr val="1A1A2E"/>
                </a:solidFill>
                <a:latin typeface="Calibri"/>
              </a:rPr>
              <a:t>Flatten → 64-dim</a:t>
            </a:r>
          </a:p>
        </p:txBody>
      </p:sp>
      <p:sp>
        <p:nvSpPr>
          <p:cNvPr id="41" name="Rectangle 40"/>
          <p:cNvSpPr/>
          <p:nvPr/>
        </p:nvSpPr>
        <p:spPr>
          <a:xfrm>
            <a:off x="8138160" y="3657600"/>
            <a:ext cx="3566160" cy="64008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83879" y="3703320"/>
            <a:ext cx="3474720" cy="548640"/>
          </a:xfrm>
          <a:prstGeom prst="rect">
            <a:avLst/>
          </a:prstGeom>
          <a:noFill/>
        </p:spPr>
        <p:txBody>
          <a:bodyPr wrap="square">
            <a:spAutoFit/>
          </a:bodyPr>
          <a:lstStyle/>
          <a:p>
            <a:pPr algn="ctr"/>
            <a:r>
              <a:rPr sz="1300" b="0" i="0">
                <a:solidFill>
                  <a:srgbClr val="1A1A2E"/>
                </a:solidFill>
                <a:latin typeface="Calibri"/>
              </a:rPr>
              <a:t>Linear 64 → 10</a:t>
            </a:r>
          </a:p>
        </p:txBody>
      </p:sp>
      <p:sp>
        <p:nvSpPr>
          <p:cNvPr id="43" name="Rectangle 42"/>
          <p:cNvSpPr/>
          <p:nvPr/>
        </p:nvSpPr>
        <p:spPr>
          <a:xfrm>
            <a:off x="8138160" y="4389120"/>
            <a:ext cx="3566160" cy="64008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183879" y="4434840"/>
            <a:ext cx="3474720" cy="548640"/>
          </a:xfrm>
          <a:prstGeom prst="rect">
            <a:avLst/>
          </a:prstGeom>
          <a:noFill/>
        </p:spPr>
        <p:txBody>
          <a:bodyPr wrap="square">
            <a:spAutoFit/>
          </a:bodyPr>
          <a:lstStyle/>
          <a:p>
            <a:pPr algn="ctr"/>
            <a:r>
              <a:rPr sz="1300" b="0" i="0">
                <a:solidFill>
                  <a:srgbClr val="1A1A2E"/>
                </a:solidFill>
                <a:latin typeface="Calibri"/>
              </a:rPr>
              <a:t>Class Logits</a:t>
            </a:r>
          </a:p>
        </p:txBody>
      </p:sp>
      <p:sp>
        <p:nvSpPr>
          <p:cNvPr id="45" name="TextBox 44"/>
          <p:cNvSpPr txBox="1"/>
          <p:nvPr/>
        </p:nvSpPr>
        <p:spPr>
          <a:xfrm>
            <a:off x="3520440" y="1965960"/>
            <a:ext cx="777240" cy="365760"/>
          </a:xfrm>
          <a:prstGeom prst="rect">
            <a:avLst/>
          </a:prstGeom>
          <a:noFill/>
        </p:spPr>
        <p:txBody>
          <a:bodyPr wrap="square">
            <a:spAutoFit/>
          </a:bodyPr>
          <a:lstStyle/>
          <a:p>
            <a:pPr algn="l"/>
            <a:r>
              <a:rPr sz="1000" b="1" i="0">
                <a:solidFill>
                  <a:srgbClr val="CC4400"/>
                </a:solidFill>
                <a:latin typeface="Calibri"/>
              </a:rPr>
              <a:t>skip ─────▶</a:t>
            </a:r>
          </a:p>
        </p:txBody>
      </p:sp>
      <p:sp>
        <p:nvSpPr>
          <p:cNvPr id="46" name="TextBox 45"/>
          <p:cNvSpPr txBox="1"/>
          <p:nvPr/>
        </p:nvSpPr>
        <p:spPr>
          <a:xfrm>
            <a:off x="3520440" y="2560320"/>
            <a:ext cx="777240" cy="365760"/>
          </a:xfrm>
          <a:prstGeom prst="rect">
            <a:avLst/>
          </a:prstGeom>
          <a:noFill/>
        </p:spPr>
        <p:txBody>
          <a:bodyPr wrap="square">
            <a:spAutoFit/>
          </a:bodyPr>
          <a:lstStyle/>
          <a:p>
            <a:pPr algn="l"/>
            <a:r>
              <a:rPr sz="1000" b="1" i="0">
                <a:solidFill>
                  <a:srgbClr val="CC4400"/>
                </a:solidFill>
                <a:latin typeface="Calibri"/>
              </a:rPr>
              <a:t>skip ─────▶</a:t>
            </a:r>
          </a:p>
        </p:txBody>
      </p:sp>
      <p:sp>
        <p:nvSpPr>
          <p:cNvPr id="47" name="TextBox 46"/>
          <p:cNvSpPr txBox="1"/>
          <p:nvPr/>
        </p:nvSpPr>
        <p:spPr>
          <a:xfrm>
            <a:off x="3520440" y="3154679"/>
            <a:ext cx="777240" cy="365760"/>
          </a:xfrm>
          <a:prstGeom prst="rect">
            <a:avLst/>
          </a:prstGeom>
          <a:noFill/>
        </p:spPr>
        <p:txBody>
          <a:bodyPr wrap="square">
            <a:spAutoFit/>
          </a:bodyPr>
          <a:lstStyle/>
          <a:p>
            <a:pPr algn="l"/>
            <a:r>
              <a:rPr sz="1000" b="1" i="0">
                <a:solidFill>
                  <a:srgbClr val="CC4400"/>
                </a:solidFill>
                <a:latin typeface="Calibri"/>
              </a:rPr>
              <a:t>skip ─────▶</a:t>
            </a:r>
          </a:p>
        </p:txBody>
      </p:sp>
      <p:sp>
        <p:nvSpPr>
          <p:cNvPr id="48" name="TextBox 47"/>
          <p:cNvSpPr txBox="1"/>
          <p:nvPr/>
        </p:nvSpPr>
        <p:spPr>
          <a:xfrm>
            <a:off x="274320" y="6176772"/>
            <a:ext cx="11887200" cy="320040"/>
          </a:xfrm>
          <a:prstGeom prst="rect">
            <a:avLst/>
          </a:prstGeom>
          <a:noFill/>
        </p:spPr>
        <p:txBody>
          <a:bodyPr wrap="square">
            <a:spAutoFit/>
          </a:bodyPr>
          <a:lstStyle/>
          <a:p>
            <a:pPr algn="ctr"/>
            <a:r>
              <a:rPr sz="1200" b="0" i="0" dirty="0">
                <a:solidFill>
                  <a:srgbClr val="1A1A2E"/>
                </a:solidFill>
                <a:latin typeface="Calibri"/>
              </a:rPr>
              <a:t>Key adaptation: segmentation head replaced by </a:t>
            </a:r>
            <a:r>
              <a:rPr sz="1200" b="0" i="0" dirty="0" err="1">
                <a:solidFill>
                  <a:srgbClr val="1A1A2E"/>
                </a:solidFill>
                <a:latin typeface="Calibri"/>
              </a:rPr>
              <a:t>GlobalAvgPool</a:t>
            </a:r>
            <a:r>
              <a:rPr sz="1200" b="0" i="0" dirty="0">
                <a:solidFill>
                  <a:srgbClr val="1A1A2E"/>
                </a:solidFill>
                <a:latin typeface="Calibri"/>
              </a:rPr>
              <a:t> + Linear → one label per image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Architecture Overview — Pipeline</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EuroSAT  →  Preprocessing  →  Model  →  Training  →  Evaluation</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en-US" sz="1000" b="0" i="0" dirty="0">
                <a:solidFill>
                  <a:srgbClr val="AABBCC"/>
                </a:solidFill>
                <a:latin typeface="Calibri"/>
              </a:rPr>
              <a:t>6</a:t>
            </a:r>
            <a:endParaRPr sz="1000" b="0" i="0" dirty="0">
              <a:solidFill>
                <a:srgbClr val="AABBCC"/>
              </a:solidFill>
              <a:latin typeface="Calibri"/>
            </a:endParaRPr>
          </a:p>
        </p:txBody>
      </p:sp>
      <p:pic>
        <p:nvPicPr>
          <p:cNvPr id="9" name="Picture 8" descr="fig1_workflow.png"/>
          <p:cNvPicPr>
            <a:picLocks noChangeAspect="1"/>
          </p:cNvPicPr>
          <p:nvPr/>
        </p:nvPicPr>
        <p:blipFill>
          <a:blip r:embed="rId3"/>
          <a:stretch>
            <a:fillRect/>
          </a:stretch>
        </p:blipFill>
        <p:spPr>
          <a:xfrm>
            <a:off x="365760" y="1143000"/>
            <a:ext cx="11430000" cy="52346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Model Characteristics — SimpleCNN</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Layer-by-layer parameter breakdown</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56914"/>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en-US"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234440"/>
            <a:ext cx="3794760"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271016"/>
            <a:ext cx="3657600" cy="274320"/>
          </a:xfrm>
          <a:prstGeom prst="rect">
            <a:avLst/>
          </a:prstGeom>
          <a:noFill/>
        </p:spPr>
        <p:txBody>
          <a:bodyPr wrap="square">
            <a:spAutoFit/>
          </a:bodyPr>
          <a:lstStyle/>
          <a:p>
            <a:pPr algn="l"/>
            <a:r>
              <a:rPr sz="1200" b="1" i="0" dirty="0">
                <a:solidFill>
                  <a:srgbClr val="FFFFFF"/>
                </a:solidFill>
                <a:latin typeface="Calibri"/>
              </a:rPr>
              <a:t>Layer</a:t>
            </a:r>
          </a:p>
        </p:txBody>
      </p:sp>
      <p:sp>
        <p:nvSpPr>
          <p:cNvPr id="11" name="Rectangle 10"/>
          <p:cNvSpPr/>
          <p:nvPr/>
        </p:nvSpPr>
        <p:spPr>
          <a:xfrm>
            <a:off x="4297680" y="1234440"/>
            <a:ext cx="3246120"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0" y="1271016"/>
            <a:ext cx="3108960" cy="274320"/>
          </a:xfrm>
          <a:prstGeom prst="rect">
            <a:avLst/>
          </a:prstGeom>
          <a:noFill/>
        </p:spPr>
        <p:txBody>
          <a:bodyPr wrap="square">
            <a:spAutoFit/>
          </a:bodyPr>
          <a:lstStyle/>
          <a:p>
            <a:pPr algn="l"/>
            <a:r>
              <a:rPr sz="1200" b="1" i="0" dirty="0">
                <a:solidFill>
                  <a:srgbClr val="FFFFFF"/>
                </a:solidFill>
                <a:latin typeface="Calibri"/>
              </a:rPr>
              <a:t>Output shape</a:t>
            </a:r>
          </a:p>
        </p:txBody>
      </p:sp>
      <p:sp>
        <p:nvSpPr>
          <p:cNvPr id="13" name="Rectangle 12"/>
          <p:cNvSpPr/>
          <p:nvPr/>
        </p:nvSpPr>
        <p:spPr>
          <a:xfrm>
            <a:off x="7772400" y="1234440"/>
            <a:ext cx="3246120"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0" y="1271016"/>
            <a:ext cx="3108960" cy="274320"/>
          </a:xfrm>
          <a:prstGeom prst="rect">
            <a:avLst/>
          </a:prstGeom>
          <a:noFill/>
        </p:spPr>
        <p:txBody>
          <a:bodyPr wrap="square">
            <a:spAutoFit/>
          </a:bodyPr>
          <a:lstStyle/>
          <a:p>
            <a:pPr algn="l"/>
            <a:r>
              <a:rPr sz="1200" b="1" i="0">
                <a:solidFill>
                  <a:srgbClr val="FFFFFF"/>
                </a:solidFill>
                <a:latin typeface="Calibri"/>
              </a:rPr>
              <a:t>Parameters</a:t>
            </a:r>
          </a:p>
        </p:txBody>
      </p:sp>
      <p:sp>
        <p:nvSpPr>
          <p:cNvPr id="15" name="Rectangle 14"/>
          <p:cNvSpPr/>
          <p:nvPr/>
        </p:nvSpPr>
        <p:spPr>
          <a:xfrm>
            <a:off x="274320" y="1581912"/>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1636679"/>
            <a:ext cx="3657600" cy="274320"/>
          </a:xfrm>
          <a:prstGeom prst="rect">
            <a:avLst/>
          </a:prstGeom>
          <a:noFill/>
        </p:spPr>
        <p:txBody>
          <a:bodyPr wrap="square">
            <a:spAutoFit/>
          </a:bodyPr>
          <a:lstStyle/>
          <a:p>
            <a:pPr algn="l"/>
            <a:r>
              <a:rPr sz="1200" b="0" i="0" dirty="0">
                <a:solidFill>
                  <a:srgbClr val="1A1A2E"/>
                </a:solidFill>
                <a:latin typeface="Calibri"/>
              </a:rPr>
              <a:t>Conv2d  3→32</a:t>
            </a:r>
          </a:p>
        </p:txBody>
      </p:sp>
      <p:sp>
        <p:nvSpPr>
          <p:cNvPr id="17" name="Rectangle 16"/>
          <p:cNvSpPr/>
          <p:nvPr/>
        </p:nvSpPr>
        <p:spPr>
          <a:xfrm>
            <a:off x="4297680" y="1581912"/>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0" y="1618488"/>
            <a:ext cx="3108960" cy="274320"/>
          </a:xfrm>
          <a:prstGeom prst="rect">
            <a:avLst/>
          </a:prstGeom>
          <a:noFill/>
        </p:spPr>
        <p:txBody>
          <a:bodyPr wrap="square">
            <a:spAutoFit/>
          </a:bodyPr>
          <a:lstStyle/>
          <a:p>
            <a:pPr algn="l"/>
            <a:r>
              <a:rPr sz="1200" b="0" i="0">
                <a:solidFill>
                  <a:srgbClr val="1A1A2E"/>
                </a:solidFill>
                <a:latin typeface="Calibri"/>
              </a:rPr>
              <a:t>32×64×64</a:t>
            </a:r>
          </a:p>
        </p:txBody>
      </p:sp>
      <p:sp>
        <p:nvSpPr>
          <p:cNvPr id="19" name="Rectangle 18"/>
          <p:cNvSpPr/>
          <p:nvPr/>
        </p:nvSpPr>
        <p:spPr>
          <a:xfrm>
            <a:off x="7772400" y="1581912"/>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63840" y="1618488"/>
            <a:ext cx="3108960" cy="274320"/>
          </a:xfrm>
          <a:prstGeom prst="rect">
            <a:avLst/>
          </a:prstGeom>
          <a:noFill/>
        </p:spPr>
        <p:txBody>
          <a:bodyPr wrap="square">
            <a:spAutoFit/>
          </a:bodyPr>
          <a:lstStyle/>
          <a:p>
            <a:pPr algn="l"/>
            <a:r>
              <a:rPr sz="1200" b="0" i="0">
                <a:solidFill>
                  <a:srgbClr val="1A1A2E"/>
                </a:solidFill>
                <a:latin typeface="Calibri"/>
              </a:rPr>
              <a:t>896</a:t>
            </a:r>
          </a:p>
        </p:txBody>
      </p:sp>
      <p:sp>
        <p:nvSpPr>
          <p:cNvPr id="21" name="Rectangle 20"/>
          <p:cNvSpPr/>
          <p:nvPr/>
        </p:nvSpPr>
        <p:spPr>
          <a:xfrm>
            <a:off x="274320" y="1929384"/>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1965960"/>
            <a:ext cx="3657600" cy="274320"/>
          </a:xfrm>
          <a:prstGeom prst="rect">
            <a:avLst/>
          </a:prstGeom>
          <a:noFill/>
        </p:spPr>
        <p:txBody>
          <a:bodyPr wrap="square">
            <a:spAutoFit/>
          </a:bodyPr>
          <a:lstStyle/>
          <a:p>
            <a:pPr algn="l"/>
            <a:r>
              <a:rPr sz="1200" b="0" i="0">
                <a:solidFill>
                  <a:srgbClr val="1A1A2E"/>
                </a:solidFill>
                <a:latin typeface="Calibri"/>
              </a:rPr>
              <a:t>BatchNorm2d 32</a:t>
            </a:r>
          </a:p>
        </p:txBody>
      </p:sp>
      <p:sp>
        <p:nvSpPr>
          <p:cNvPr id="23" name="Rectangle 22"/>
          <p:cNvSpPr/>
          <p:nvPr/>
        </p:nvSpPr>
        <p:spPr>
          <a:xfrm>
            <a:off x="4297680" y="1929384"/>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89120" y="1965960"/>
            <a:ext cx="3108960" cy="274320"/>
          </a:xfrm>
          <a:prstGeom prst="rect">
            <a:avLst/>
          </a:prstGeom>
          <a:noFill/>
        </p:spPr>
        <p:txBody>
          <a:bodyPr wrap="square">
            <a:spAutoFit/>
          </a:bodyPr>
          <a:lstStyle/>
          <a:p>
            <a:pPr algn="l"/>
            <a:r>
              <a:rPr sz="1200" b="0" i="0">
                <a:solidFill>
                  <a:srgbClr val="1A1A2E"/>
                </a:solidFill>
                <a:latin typeface="Calibri"/>
              </a:rPr>
              <a:t>32×64×64</a:t>
            </a:r>
          </a:p>
        </p:txBody>
      </p:sp>
      <p:sp>
        <p:nvSpPr>
          <p:cNvPr id="25" name="Rectangle 24"/>
          <p:cNvSpPr/>
          <p:nvPr/>
        </p:nvSpPr>
        <p:spPr>
          <a:xfrm>
            <a:off x="7772400" y="1929384"/>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63840" y="1965960"/>
            <a:ext cx="3108960" cy="274320"/>
          </a:xfrm>
          <a:prstGeom prst="rect">
            <a:avLst/>
          </a:prstGeom>
          <a:noFill/>
        </p:spPr>
        <p:txBody>
          <a:bodyPr wrap="square">
            <a:spAutoFit/>
          </a:bodyPr>
          <a:lstStyle/>
          <a:p>
            <a:pPr algn="l"/>
            <a:r>
              <a:rPr sz="1200" b="0" i="0">
                <a:solidFill>
                  <a:srgbClr val="1A1A2E"/>
                </a:solidFill>
                <a:latin typeface="Calibri"/>
              </a:rPr>
              <a:t>64</a:t>
            </a:r>
          </a:p>
        </p:txBody>
      </p:sp>
      <p:sp>
        <p:nvSpPr>
          <p:cNvPr id="27" name="Rectangle 26"/>
          <p:cNvSpPr/>
          <p:nvPr/>
        </p:nvSpPr>
        <p:spPr>
          <a:xfrm>
            <a:off x="274320" y="2276856"/>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2313432"/>
            <a:ext cx="3657600" cy="274320"/>
          </a:xfrm>
          <a:prstGeom prst="rect">
            <a:avLst/>
          </a:prstGeom>
          <a:noFill/>
        </p:spPr>
        <p:txBody>
          <a:bodyPr wrap="square">
            <a:spAutoFit/>
          </a:bodyPr>
          <a:lstStyle/>
          <a:p>
            <a:pPr algn="l"/>
            <a:r>
              <a:rPr sz="1200" b="0" i="0">
                <a:solidFill>
                  <a:srgbClr val="1A1A2E"/>
                </a:solidFill>
                <a:latin typeface="Calibri"/>
              </a:rPr>
              <a:t>MaxPool2d  2×2</a:t>
            </a:r>
          </a:p>
        </p:txBody>
      </p:sp>
      <p:sp>
        <p:nvSpPr>
          <p:cNvPr id="29" name="Rectangle 28"/>
          <p:cNvSpPr/>
          <p:nvPr/>
        </p:nvSpPr>
        <p:spPr>
          <a:xfrm>
            <a:off x="4297680" y="2276856"/>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89120" y="2313432"/>
            <a:ext cx="3108960" cy="274320"/>
          </a:xfrm>
          <a:prstGeom prst="rect">
            <a:avLst/>
          </a:prstGeom>
          <a:noFill/>
        </p:spPr>
        <p:txBody>
          <a:bodyPr wrap="square">
            <a:spAutoFit/>
          </a:bodyPr>
          <a:lstStyle/>
          <a:p>
            <a:pPr algn="l"/>
            <a:r>
              <a:rPr sz="1200" b="0" i="0">
                <a:solidFill>
                  <a:srgbClr val="1A1A2E"/>
                </a:solidFill>
                <a:latin typeface="Calibri"/>
              </a:rPr>
              <a:t>32×32×32</a:t>
            </a:r>
          </a:p>
        </p:txBody>
      </p:sp>
      <p:sp>
        <p:nvSpPr>
          <p:cNvPr id="31" name="Rectangle 30"/>
          <p:cNvSpPr/>
          <p:nvPr/>
        </p:nvSpPr>
        <p:spPr>
          <a:xfrm>
            <a:off x="7772400" y="2276856"/>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63840" y="2313432"/>
            <a:ext cx="3108960" cy="274320"/>
          </a:xfrm>
          <a:prstGeom prst="rect">
            <a:avLst/>
          </a:prstGeom>
          <a:noFill/>
        </p:spPr>
        <p:txBody>
          <a:bodyPr wrap="square">
            <a:spAutoFit/>
          </a:bodyPr>
          <a:lstStyle/>
          <a:p>
            <a:pPr algn="l"/>
            <a:r>
              <a:rPr sz="1200" b="0" i="0">
                <a:solidFill>
                  <a:srgbClr val="1A1A2E"/>
                </a:solidFill>
                <a:latin typeface="Calibri"/>
              </a:rPr>
              <a:t>0</a:t>
            </a:r>
          </a:p>
        </p:txBody>
      </p:sp>
      <p:sp>
        <p:nvSpPr>
          <p:cNvPr id="33" name="Rectangle 32"/>
          <p:cNvSpPr/>
          <p:nvPr/>
        </p:nvSpPr>
        <p:spPr>
          <a:xfrm>
            <a:off x="274320" y="2624327"/>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2660903"/>
            <a:ext cx="3657600" cy="274320"/>
          </a:xfrm>
          <a:prstGeom prst="rect">
            <a:avLst/>
          </a:prstGeom>
          <a:noFill/>
        </p:spPr>
        <p:txBody>
          <a:bodyPr wrap="square">
            <a:spAutoFit/>
          </a:bodyPr>
          <a:lstStyle/>
          <a:p>
            <a:pPr algn="l"/>
            <a:r>
              <a:rPr sz="1200" b="0" i="0">
                <a:solidFill>
                  <a:srgbClr val="1A1A2E"/>
                </a:solidFill>
                <a:latin typeface="Calibri"/>
              </a:rPr>
              <a:t>Conv2d  32→64</a:t>
            </a:r>
          </a:p>
        </p:txBody>
      </p:sp>
      <p:sp>
        <p:nvSpPr>
          <p:cNvPr id="35" name="Rectangle 34"/>
          <p:cNvSpPr/>
          <p:nvPr/>
        </p:nvSpPr>
        <p:spPr>
          <a:xfrm>
            <a:off x="4297680" y="2624327"/>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89120" y="2660903"/>
            <a:ext cx="3108960" cy="274320"/>
          </a:xfrm>
          <a:prstGeom prst="rect">
            <a:avLst/>
          </a:prstGeom>
          <a:noFill/>
        </p:spPr>
        <p:txBody>
          <a:bodyPr wrap="square">
            <a:spAutoFit/>
          </a:bodyPr>
          <a:lstStyle/>
          <a:p>
            <a:pPr algn="l"/>
            <a:r>
              <a:rPr sz="1200" b="0" i="0">
                <a:solidFill>
                  <a:srgbClr val="1A1A2E"/>
                </a:solidFill>
                <a:latin typeface="Calibri"/>
              </a:rPr>
              <a:t>64×32×32</a:t>
            </a:r>
          </a:p>
        </p:txBody>
      </p:sp>
      <p:sp>
        <p:nvSpPr>
          <p:cNvPr id="37" name="Rectangle 36"/>
          <p:cNvSpPr/>
          <p:nvPr/>
        </p:nvSpPr>
        <p:spPr>
          <a:xfrm>
            <a:off x="7772400" y="2624327"/>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863840" y="2660903"/>
            <a:ext cx="3108960" cy="274320"/>
          </a:xfrm>
          <a:prstGeom prst="rect">
            <a:avLst/>
          </a:prstGeom>
          <a:noFill/>
        </p:spPr>
        <p:txBody>
          <a:bodyPr wrap="square">
            <a:spAutoFit/>
          </a:bodyPr>
          <a:lstStyle/>
          <a:p>
            <a:pPr algn="l"/>
            <a:r>
              <a:rPr sz="1200" b="0" i="0">
                <a:solidFill>
                  <a:srgbClr val="1A1A2E"/>
                </a:solidFill>
                <a:latin typeface="Calibri"/>
              </a:rPr>
              <a:t>18,496</a:t>
            </a:r>
          </a:p>
        </p:txBody>
      </p:sp>
      <p:sp>
        <p:nvSpPr>
          <p:cNvPr id="39" name="Rectangle 38"/>
          <p:cNvSpPr/>
          <p:nvPr/>
        </p:nvSpPr>
        <p:spPr>
          <a:xfrm>
            <a:off x="274320" y="2971799"/>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 y="3008375"/>
            <a:ext cx="3657600" cy="274320"/>
          </a:xfrm>
          <a:prstGeom prst="rect">
            <a:avLst/>
          </a:prstGeom>
          <a:noFill/>
        </p:spPr>
        <p:txBody>
          <a:bodyPr wrap="square">
            <a:spAutoFit/>
          </a:bodyPr>
          <a:lstStyle/>
          <a:p>
            <a:pPr algn="l"/>
            <a:r>
              <a:rPr sz="1200" b="0" i="0">
                <a:solidFill>
                  <a:srgbClr val="1A1A2E"/>
                </a:solidFill>
                <a:latin typeface="Calibri"/>
              </a:rPr>
              <a:t>BatchNorm2d 64</a:t>
            </a:r>
          </a:p>
        </p:txBody>
      </p:sp>
      <p:sp>
        <p:nvSpPr>
          <p:cNvPr id="41" name="Rectangle 40"/>
          <p:cNvSpPr/>
          <p:nvPr/>
        </p:nvSpPr>
        <p:spPr>
          <a:xfrm>
            <a:off x="4297680" y="2971799"/>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89120" y="3008375"/>
            <a:ext cx="3108960" cy="274320"/>
          </a:xfrm>
          <a:prstGeom prst="rect">
            <a:avLst/>
          </a:prstGeom>
          <a:noFill/>
        </p:spPr>
        <p:txBody>
          <a:bodyPr wrap="square">
            <a:spAutoFit/>
          </a:bodyPr>
          <a:lstStyle/>
          <a:p>
            <a:pPr algn="l"/>
            <a:r>
              <a:rPr sz="1200" b="0" i="0">
                <a:solidFill>
                  <a:srgbClr val="1A1A2E"/>
                </a:solidFill>
                <a:latin typeface="Calibri"/>
              </a:rPr>
              <a:t>64×32×32</a:t>
            </a:r>
          </a:p>
        </p:txBody>
      </p:sp>
      <p:sp>
        <p:nvSpPr>
          <p:cNvPr id="43" name="Rectangle 42"/>
          <p:cNvSpPr/>
          <p:nvPr/>
        </p:nvSpPr>
        <p:spPr>
          <a:xfrm>
            <a:off x="7772400" y="2971799"/>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863840" y="3008375"/>
            <a:ext cx="3108960" cy="274320"/>
          </a:xfrm>
          <a:prstGeom prst="rect">
            <a:avLst/>
          </a:prstGeom>
          <a:noFill/>
        </p:spPr>
        <p:txBody>
          <a:bodyPr wrap="square">
            <a:spAutoFit/>
          </a:bodyPr>
          <a:lstStyle/>
          <a:p>
            <a:pPr algn="l"/>
            <a:r>
              <a:rPr sz="1200" b="0" i="0">
                <a:solidFill>
                  <a:srgbClr val="1A1A2E"/>
                </a:solidFill>
                <a:latin typeface="Calibri"/>
              </a:rPr>
              <a:t>128</a:t>
            </a:r>
          </a:p>
        </p:txBody>
      </p:sp>
      <p:sp>
        <p:nvSpPr>
          <p:cNvPr id="45" name="Rectangle 44"/>
          <p:cNvSpPr/>
          <p:nvPr/>
        </p:nvSpPr>
        <p:spPr>
          <a:xfrm>
            <a:off x="274320" y="3319271"/>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65760" y="3355847"/>
            <a:ext cx="3657600" cy="274320"/>
          </a:xfrm>
          <a:prstGeom prst="rect">
            <a:avLst/>
          </a:prstGeom>
          <a:noFill/>
        </p:spPr>
        <p:txBody>
          <a:bodyPr wrap="square">
            <a:spAutoFit/>
          </a:bodyPr>
          <a:lstStyle/>
          <a:p>
            <a:pPr algn="l"/>
            <a:r>
              <a:rPr sz="1200" b="0" i="0">
                <a:solidFill>
                  <a:srgbClr val="1A1A2E"/>
                </a:solidFill>
                <a:latin typeface="Calibri"/>
              </a:rPr>
              <a:t>MaxPool2d  2×2</a:t>
            </a:r>
          </a:p>
        </p:txBody>
      </p:sp>
      <p:sp>
        <p:nvSpPr>
          <p:cNvPr id="47" name="Rectangle 46"/>
          <p:cNvSpPr/>
          <p:nvPr/>
        </p:nvSpPr>
        <p:spPr>
          <a:xfrm>
            <a:off x="4297680" y="3319271"/>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389120" y="3355847"/>
            <a:ext cx="3108960" cy="274320"/>
          </a:xfrm>
          <a:prstGeom prst="rect">
            <a:avLst/>
          </a:prstGeom>
          <a:noFill/>
        </p:spPr>
        <p:txBody>
          <a:bodyPr wrap="square">
            <a:spAutoFit/>
          </a:bodyPr>
          <a:lstStyle/>
          <a:p>
            <a:pPr algn="l"/>
            <a:r>
              <a:rPr sz="1200" b="0" i="0">
                <a:solidFill>
                  <a:srgbClr val="1A1A2E"/>
                </a:solidFill>
                <a:latin typeface="Calibri"/>
              </a:rPr>
              <a:t>64×16×16</a:t>
            </a:r>
          </a:p>
        </p:txBody>
      </p:sp>
      <p:sp>
        <p:nvSpPr>
          <p:cNvPr id="49" name="Rectangle 48"/>
          <p:cNvSpPr/>
          <p:nvPr/>
        </p:nvSpPr>
        <p:spPr>
          <a:xfrm>
            <a:off x="7772400" y="3319271"/>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63840" y="3355847"/>
            <a:ext cx="3108960" cy="274320"/>
          </a:xfrm>
          <a:prstGeom prst="rect">
            <a:avLst/>
          </a:prstGeom>
          <a:noFill/>
        </p:spPr>
        <p:txBody>
          <a:bodyPr wrap="square">
            <a:spAutoFit/>
          </a:bodyPr>
          <a:lstStyle/>
          <a:p>
            <a:pPr algn="l"/>
            <a:r>
              <a:rPr sz="1200" b="0" i="0">
                <a:solidFill>
                  <a:srgbClr val="1A1A2E"/>
                </a:solidFill>
                <a:latin typeface="Calibri"/>
              </a:rPr>
              <a:t>0</a:t>
            </a:r>
          </a:p>
        </p:txBody>
      </p:sp>
      <p:sp>
        <p:nvSpPr>
          <p:cNvPr id="51" name="Rectangle 50"/>
          <p:cNvSpPr/>
          <p:nvPr/>
        </p:nvSpPr>
        <p:spPr>
          <a:xfrm>
            <a:off x="274320" y="3666744"/>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3703320"/>
            <a:ext cx="3657600" cy="274320"/>
          </a:xfrm>
          <a:prstGeom prst="rect">
            <a:avLst/>
          </a:prstGeom>
          <a:noFill/>
        </p:spPr>
        <p:txBody>
          <a:bodyPr wrap="square">
            <a:spAutoFit/>
          </a:bodyPr>
          <a:lstStyle/>
          <a:p>
            <a:pPr algn="l"/>
            <a:r>
              <a:rPr sz="1200" b="0" i="0">
                <a:solidFill>
                  <a:srgbClr val="1A1A2E"/>
                </a:solidFill>
                <a:latin typeface="Calibri"/>
              </a:rPr>
              <a:t>Conv2d  64→128</a:t>
            </a:r>
          </a:p>
        </p:txBody>
      </p:sp>
      <p:sp>
        <p:nvSpPr>
          <p:cNvPr id="53" name="Rectangle 52"/>
          <p:cNvSpPr/>
          <p:nvPr/>
        </p:nvSpPr>
        <p:spPr>
          <a:xfrm>
            <a:off x="4297680" y="3666744"/>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389120" y="3703320"/>
            <a:ext cx="3108960" cy="274320"/>
          </a:xfrm>
          <a:prstGeom prst="rect">
            <a:avLst/>
          </a:prstGeom>
          <a:noFill/>
        </p:spPr>
        <p:txBody>
          <a:bodyPr wrap="square">
            <a:spAutoFit/>
          </a:bodyPr>
          <a:lstStyle/>
          <a:p>
            <a:pPr algn="l"/>
            <a:r>
              <a:rPr sz="1200" b="0" i="0">
                <a:solidFill>
                  <a:srgbClr val="1A1A2E"/>
                </a:solidFill>
                <a:latin typeface="Calibri"/>
              </a:rPr>
              <a:t>128×16×16</a:t>
            </a:r>
          </a:p>
        </p:txBody>
      </p:sp>
      <p:sp>
        <p:nvSpPr>
          <p:cNvPr id="55" name="Rectangle 54"/>
          <p:cNvSpPr/>
          <p:nvPr/>
        </p:nvSpPr>
        <p:spPr>
          <a:xfrm>
            <a:off x="7772400" y="3666744"/>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863840" y="3703320"/>
            <a:ext cx="3108960" cy="274320"/>
          </a:xfrm>
          <a:prstGeom prst="rect">
            <a:avLst/>
          </a:prstGeom>
          <a:noFill/>
        </p:spPr>
        <p:txBody>
          <a:bodyPr wrap="square">
            <a:spAutoFit/>
          </a:bodyPr>
          <a:lstStyle/>
          <a:p>
            <a:pPr algn="l"/>
            <a:r>
              <a:rPr sz="1200" b="0" i="0">
                <a:solidFill>
                  <a:srgbClr val="1A1A2E"/>
                </a:solidFill>
                <a:latin typeface="Calibri"/>
              </a:rPr>
              <a:t>73,856</a:t>
            </a:r>
          </a:p>
        </p:txBody>
      </p:sp>
      <p:sp>
        <p:nvSpPr>
          <p:cNvPr id="57" name="Rectangle 56"/>
          <p:cNvSpPr/>
          <p:nvPr/>
        </p:nvSpPr>
        <p:spPr>
          <a:xfrm>
            <a:off x="274320" y="4014215"/>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65760" y="4050791"/>
            <a:ext cx="3657600" cy="274320"/>
          </a:xfrm>
          <a:prstGeom prst="rect">
            <a:avLst/>
          </a:prstGeom>
          <a:noFill/>
        </p:spPr>
        <p:txBody>
          <a:bodyPr wrap="square">
            <a:spAutoFit/>
          </a:bodyPr>
          <a:lstStyle/>
          <a:p>
            <a:pPr algn="l"/>
            <a:r>
              <a:rPr sz="1200" b="0" i="0">
                <a:solidFill>
                  <a:srgbClr val="1A1A2E"/>
                </a:solidFill>
                <a:latin typeface="Calibri"/>
              </a:rPr>
              <a:t>BatchNorm2d 128</a:t>
            </a:r>
          </a:p>
        </p:txBody>
      </p:sp>
      <p:sp>
        <p:nvSpPr>
          <p:cNvPr id="59" name="Rectangle 58"/>
          <p:cNvSpPr/>
          <p:nvPr/>
        </p:nvSpPr>
        <p:spPr>
          <a:xfrm>
            <a:off x="4297680" y="4014215"/>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389120" y="4050791"/>
            <a:ext cx="3108960" cy="274320"/>
          </a:xfrm>
          <a:prstGeom prst="rect">
            <a:avLst/>
          </a:prstGeom>
          <a:noFill/>
        </p:spPr>
        <p:txBody>
          <a:bodyPr wrap="square">
            <a:spAutoFit/>
          </a:bodyPr>
          <a:lstStyle/>
          <a:p>
            <a:pPr algn="l"/>
            <a:r>
              <a:rPr sz="1200" b="0" i="0">
                <a:solidFill>
                  <a:srgbClr val="1A1A2E"/>
                </a:solidFill>
                <a:latin typeface="Calibri"/>
              </a:rPr>
              <a:t>128×16×16</a:t>
            </a:r>
          </a:p>
        </p:txBody>
      </p:sp>
      <p:sp>
        <p:nvSpPr>
          <p:cNvPr id="61" name="Rectangle 60"/>
          <p:cNvSpPr/>
          <p:nvPr/>
        </p:nvSpPr>
        <p:spPr>
          <a:xfrm>
            <a:off x="7772400" y="4014215"/>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863840" y="4050791"/>
            <a:ext cx="3108960" cy="274320"/>
          </a:xfrm>
          <a:prstGeom prst="rect">
            <a:avLst/>
          </a:prstGeom>
          <a:noFill/>
        </p:spPr>
        <p:txBody>
          <a:bodyPr wrap="square">
            <a:spAutoFit/>
          </a:bodyPr>
          <a:lstStyle/>
          <a:p>
            <a:pPr algn="l"/>
            <a:r>
              <a:rPr sz="1200" b="0" i="0">
                <a:solidFill>
                  <a:srgbClr val="1A1A2E"/>
                </a:solidFill>
                <a:latin typeface="Calibri"/>
              </a:rPr>
              <a:t>256</a:t>
            </a:r>
          </a:p>
        </p:txBody>
      </p:sp>
      <p:sp>
        <p:nvSpPr>
          <p:cNvPr id="63" name="Rectangle 62"/>
          <p:cNvSpPr/>
          <p:nvPr/>
        </p:nvSpPr>
        <p:spPr>
          <a:xfrm>
            <a:off x="274320" y="4361688"/>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65760" y="4398264"/>
            <a:ext cx="3657600" cy="274320"/>
          </a:xfrm>
          <a:prstGeom prst="rect">
            <a:avLst/>
          </a:prstGeom>
          <a:noFill/>
        </p:spPr>
        <p:txBody>
          <a:bodyPr wrap="square">
            <a:spAutoFit/>
          </a:bodyPr>
          <a:lstStyle/>
          <a:p>
            <a:pPr algn="l"/>
            <a:r>
              <a:rPr sz="1200" b="0" i="0">
                <a:solidFill>
                  <a:srgbClr val="1A1A2E"/>
                </a:solidFill>
                <a:latin typeface="Calibri"/>
              </a:rPr>
              <a:t>MaxPool2d  2×2</a:t>
            </a:r>
          </a:p>
        </p:txBody>
      </p:sp>
      <p:sp>
        <p:nvSpPr>
          <p:cNvPr id="65" name="Rectangle 64"/>
          <p:cNvSpPr/>
          <p:nvPr/>
        </p:nvSpPr>
        <p:spPr>
          <a:xfrm>
            <a:off x="4297680" y="4361688"/>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389120" y="4398264"/>
            <a:ext cx="3108960" cy="274320"/>
          </a:xfrm>
          <a:prstGeom prst="rect">
            <a:avLst/>
          </a:prstGeom>
          <a:noFill/>
        </p:spPr>
        <p:txBody>
          <a:bodyPr wrap="square">
            <a:spAutoFit/>
          </a:bodyPr>
          <a:lstStyle/>
          <a:p>
            <a:pPr algn="l"/>
            <a:r>
              <a:rPr sz="1200" b="0" i="0">
                <a:solidFill>
                  <a:srgbClr val="1A1A2E"/>
                </a:solidFill>
                <a:latin typeface="Calibri"/>
              </a:rPr>
              <a:t>128×8×8</a:t>
            </a:r>
          </a:p>
        </p:txBody>
      </p:sp>
      <p:sp>
        <p:nvSpPr>
          <p:cNvPr id="67" name="Rectangle 66"/>
          <p:cNvSpPr/>
          <p:nvPr/>
        </p:nvSpPr>
        <p:spPr>
          <a:xfrm>
            <a:off x="7772400" y="4361688"/>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863840" y="4398264"/>
            <a:ext cx="3108960" cy="274320"/>
          </a:xfrm>
          <a:prstGeom prst="rect">
            <a:avLst/>
          </a:prstGeom>
          <a:noFill/>
        </p:spPr>
        <p:txBody>
          <a:bodyPr wrap="square">
            <a:spAutoFit/>
          </a:bodyPr>
          <a:lstStyle/>
          <a:p>
            <a:pPr algn="l"/>
            <a:r>
              <a:rPr sz="1200" b="0" i="0">
                <a:solidFill>
                  <a:srgbClr val="1A1A2E"/>
                </a:solidFill>
                <a:latin typeface="Calibri"/>
              </a:rPr>
              <a:t>0</a:t>
            </a:r>
          </a:p>
        </p:txBody>
      </p:sp>
      <p:sp>
        <p:nvSpPr>
          <p:cNvPr id="69" name="Rectangle 68"/>
          <p:cNvSpPr/>
          <p:nvPr/>
        </p:nvSpPr>
        <p:spPr>
          <a:xfrm>
            <a:off x="274320" y="4709159"/>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365760" y="4745736"/>
            <a:ext cx="3657600" cy="274320"/>
          </a:xfrm>
          <a:prstGeom prst="rect">
            <a:avLst/>
          </a:prstGeom>
          <a:noFill/>
        </p:spPr>
        <p:txBody>
          <a:bodyPr wrap="square">
            <a:spAutoFit/>
          </a:bodyPr>
          <a:lstStyle/>
          <a:p>
            <a:pPr algn="l"/>
            <a:r>
              <a:rPr sz="1200" b="0" i="0">
                <a:solidFill>
                  <a:srgbClr val="1A1A2E"/>
                </a:solidFill>
                <a:latin typeface="Calibri"/>
              </a:rPr>
              <a:t>Flatten</a:t>
            </a:r>
          </a:p>
        </p:txBody>
      </p:sp>
      <p:sp>
        <p:nvSpPr>
          <p:cNvPr id="71" name="Rectangle 70"/>
          <p:cNvSpPr/>
          <p:nvPr/>
        </p:nvSpPr>
        <p:spPr>
          <a:xfrm>
            <a:off x="4297680" y="4709159"/>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389120" y="4745736"/>
            <a:ext cx="3108960" cy="274320"/>
          </a:xfrm>
          <a:prstGeom prst="rect">
            <a:avLst/>
          </a:prstGeom>
          <a:noFill/>
        </p:spPr>
        <p:txBody>
          <a:bodyPr wrap="square">
            <a:spAutoFit/>
          </a:bodyPr>
          <a:lstStyle/>
          <a:p>
            <a:pPr algn="l"/>
            <a:r>
              <a:rPr sz="1200" b="0" i="0">
                <a:solidFill>
                  <a:srgbClr val="1A1A2E"/>
                </a:solidFill>
                <a:latin typeface="Calibri"/>
              </a:rPr>
              <a:t>8,192</a:t>
            </a:r>
          </a:p>
        </p:txBody>
      </p:sp>
      <p:sp>
        <p:nvSpPr>
          <p:cNvPr id="73" name="Rectangle 72"/>
          <p:cNvSpPr/>
          <p:nvPr/>
        </p:nvSpPr>
        <p:spPr>
          <a:xfrm>
            <a:off x="7772400" y="4709159"/>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863840" y="4745736"/>
            <a:ext cx="3108960" cy="274320"/>
          </a:xfrm>
          <a:prstGeom prst="rect">
            <a:avLst/>
          </a:prstGeom>
          <a:noFill/>
        </p:spPr>
        <p:txBody>
          <a:bodyPr wrap="square">
            <a:spAutoFit/>
          </a:bodyPr>
          <a:lstStyle/>
          <a:p>
            <a:pPr algn="l"/>
            <a:r>
              <a:rPr sz="1200" b="0" i="0">
                <a:solidFill>
                  <a:srgbClr val="1A1A2E"/>
                </a:solidFill>
                <a:latin typeface="Calibri"/>
              </a:rPr>
              <a:t>0</a:t>
            </a:r>
          </a:p>
        </p:txBody>
      </p:sp>
      <p:sp>
        <p:nvSpPr>
          <p:cNvPr id="75" name="Rectangle 74"/>
          <p:cNvSpPr/>
          <p:nvPr/>
        </p:nvSpPr>
        <p:spPr>
          <a:xfrm>
            <a:off x="274320" y="5056631"/>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65760" y="5093207"/>
            <a:ext cx="3657600" cy="274320"/>
          </a:xfrm>
          <a:prstGeom prst="rect">
            <a:avLst/>
          </a:prstGeom>
          <a:noFill/>
        </p:spPr>
        <p:txBody>
          <a:bodyPr wrap="square">
            <a:spAutoFit/>
          </a:bodyPr>
          <a:lstStyle/>
          <a:p>
            <a:pPr algn="l"/>
            <a:r>
              <a:rPr sz="1200" b="0" i="0">
                <a:solidFill>
                  <a:srgbClr val="1A1A2E"/>
                </a:solidFill>
                <a:latin typeface="Calibri"/>
              </a:rPr>
              <a:t>Linear 8192→512</a:t>
            </a:r>
          </a:p>
        </p:txBody>
      </p:sp>
      <p:sp>
        <p:nvSpPr>
          <p:cNvPr id="77" name="Rectangle 76"/>
          <p:cNvSpPr/>
          <p:nvPr/>
        </p:nvSpPr>
        <p:spPr>
          <a:xfrm>
            <a:off x="4297680" y="5056631"/>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389120" y="5093207"/>
            <a:ext cx="3108960" cy="274320"/>
          </a:xfrm>
          <a:prstGeom prst="rect">
            <a:avLst/>
          </a:prstGeom>
          <a:noFill/>
        </p:spPr>
        <p:txBody>
          <a:bodyPr wrap="square">
            <a:spAutoFit/>
          </a:bodyPr>
          <a:lstStyle/>
          <a:p>
            <a:pPr algn="l"/>
            <a:r>
              <a:rPr sz="1200" b="0" i="0">
                <a:solidFill>
                  <a:srgbClr val="1A1A2E"/>
                </a:solidFill>
                <a:latin typeface="Calibri"/>
              </a:rPr>
              <a:t>512</a:t>
            </a:r>
          </a:p>
        </p:txBody>
      </p:sp>
      <p:sp>
        <p:nvSpPr>
          <p:cNvPr id="79" name="Rectangle 78"/>
          <p:cNvSpPr/>
          <p:nvPr/>
        </p:nvSpPr>
        <p:spPr>
          <a:xfrm>
            <a:off x="7772400" y="5056631"/>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863840" y="5093207"/>
            <a:ext cx="3108960" cy="274320"/>
          </a:xfrm>
          <a:prstGeom prst="rect">
            <a:avLst/>
          </a:prstGeom>
          <a:noFill/>
        </p:spPr>
        <p:txBody>
          <a:bodyPr wrap="square">
            <a:spAutoFit/>
          </a:bodyPr>
          <a:lstStyle/>
          <a:p>
            <a:pPr algn="l"/>
            <a:r>
              <a:rPr sz="1200" b="0" i="0">
                <a:solidFill>
                  <a:srgbClr val="1A1A2E"/>
                </a:solidFill>
                <a:latin typeface="Calibri"/>
              </a:rPr>
              <a:t>4,194,816</a:t>
            </a:r>
          </a:p>
        </p:txBody>
      </p:sp>
      <p:sp>
        <p:nvSpPr>
          <p:cNvPr id="81" name="Rectangle 80"/>
          <p:cNvSpPr/>
          <p:nvPr/>
        </p:nvSpPr>
        <p:spPr>
          <a:xfrm>
            <a:off x="274320" y="5404103"/>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65760" y="5440679"/>
            <a:ext cx="3657600" cy="274320"/>
          </a:xfrm>
          <a:prstGeom prst="rect">
            <a:avLst/>
          </a:prstGeom>
          <a:noFill/>
        </p:spPr>
        <p:txBody>
          <a:bodyPr wrap="square">
            <a:spAutoFit/>
          </a:bodyPr>
          <a:lstStyle/>
          <a:p>
            <a:pPr algn="l"/>
            <a:r>
              <a:rPr sz="1200" b="0" i="0">
                <a:solidFill>
                  <a:srgbClr val="1A1A2E"/>
                </a:solidFill>
                <a:latin typeface="Calibri"/>
              </a:rPr>
              <a:t>Dropout 0.5</a:t>
            </a:r>
          </a:p>
        </p:txBody>
      </p:sp>
      <p:sp>
        <p:nvSpPr>
          <p:cNvPr id="83" name="Rectangle 82"/>
          <p:cNvSpPr/>
          <p:nvPr/>
        </p:nvSpPr>
        <p:spPr>
          <a:xfrm>
            <a:off x="4297680" y="5404103"/>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389120" y="5440679"/>
            <a:ext cx="3108960" cy="274320"/>
          </a:xfrm>
          <a:prstGeom prst="rect">
            <a:avLst/>
          </a:prstGeom>
          <a:noFill/>
        </p:spPr>
        <p:txBody>
          <a:bodyPr wrap="square">
            <a:spAutoFit/>
          </a:bodyPr>
          <a:lstStyle/>
          <a:p>
            <a:pPr algn="l"/>
            <a:r>
              <a:rPr sz="1200" b="0" i="0">
                <a:solidFill>
                  <a:srgbClr val="1A1A2E"/>
                </a:solidFill>
                <a:latin typeface="Calibri"/>
              </a:rPr>
              <a:t>512</a:t>
            </a:r>
          </a:p>
        </p:txBody>
      </p:sp>
      <p:sp>
        <p:nvSpPr>
          <p:cNvPr id="85" name="Rectangle 84"/>
          <p:cNvSpPr/>
          <p:nvPr/>
        </p:nvSpPr>
        <p:spPr>
          <a:xfrm>
            <a:off x="7772400" y="5404103"/>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863840" y="5440679"/>
            <a:ext cx="3108960" cy="274320"/>
          </a:xfrm>
          <a:prstGeom prst="rect">
            <a:avLst/>
          </a:prstGeom>
          <a:noFill/>
        </p:spPr>
        <p:txBody>
          <a:bodyPr wrap="square">
            <a:spAutoFit/>
          </a:bodyPr>
          <a:lstStyle/>
          <a:p>
            <a:pPr algn="l"/>
            <a:r>
              <a:rPr sz="1200" b="0" i="0">
                <a:solidFill>
                  <a:srgbClr val="1A1A2E"/>
                </a:solidFill>
                <a:latin typeface="Calibri"/>
              </a:rPr>
              <a:t>0</a:t>
            </a:r>
          </a:p>
        </p:txBody>
      </p:sp>
      <p:sp>
        <p:nvSpPr>
          <p:cNvPr id="87" name="Rectangle 86"/>
          <p:cNvSpPr/>
          <p:nvPr/>
        </p:nvSpPr>
        <p:spPr>
          <a:xfrm>
            <a:off x="274320" y="5751575"/>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65760" y="5788151"/>
            <a:ext cx="3657600" cy="274320"/>
          </a:xfrm>
          <a:prstGeom prst="rect">
            <a:avLst/>
          </a:prstGeom>
          <a:noFill/>
        </p:spPr>
        <p:txBody>
          <a:bodyPr wrap="square">
            <a:spAutoFit/>
          </a:bodyPr>
          <a:lstStyle/>
          <a:p>
            <a:pPr algn="l"/>
            <a:r>
              <a:rPr sz="1200" b="0" i="0">
                <a:solidFill>
                  <a:srgbClr val="1A1A2E"/>
                </a:solidFill>
                <a:latin typeface="Calibri"/>
              </a:rPr>
              <a:t>Linear 512→10</a:t>
            </a:r>
          </a:p>
        </p:txBody>
      </p:sp>
      <p:sp>
        <p:nvSpPr>
          <p:cNvPr id="89" name="Rectangle 88"/>
          <p:cNvSpPr/>
          <p:nvPr/>
        </p:nvSpPr>
        <p:spPr>
          <a:xfrm>
            <a:off x="4297680" y="5751575"/>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389120" y="5788151"/>
            <a:ext cx="3108960" cy="274320"/>
          </a:xfrm>
          <a:prstGeom prst="rect">
            <a:avLst/>
          </a:prstGeom>
          <a:noFill/>
        </p:spPr>
        <p:txBody>
          <a:bodyPr wrap="square">
            <a:spAutoFit/>
          </a:bodyPr>
          <a:lstStyle/>
          <a:p>
            <a:pPr algn="l"/>
            <a:r>
              <a:rPr sz="1200" b="0" i="0">
                <a:solidFill>
                  <a:srgbClr val="1A1A2E"/>
                </a:solidFill>
                <a:latin typeface="Calibri"/>
              </a:rPr>
              <a:t>10</a:t>
            </a:r>
          </a:p>
        </p:txBody>
      </p:sp>
      <p:sp>
        <p:nvSpPr>
          <p:cNvPr id="91" name="Rectangle 90"/>
          <p:cNvSpPr/>
          <p:nvPr/>
        </p:nvSpPr>
        <p:spPr>
          <a:xfrm>
            <a:off x="7772400" y="5751575"/>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7863840" y="5788151"/>
            <a:ext cx="3108960" cy="274320"/>
          </a:xfrm>
          <a:prstGeom prst="rect">
            <a:avLst/>
          </a:prstGeom>
          <a:noFill/>
        </p:spPr>
        <p:txBody>
          <a:bodyPr wrap="square">
            <a:spAutoFit/>
          </a:bodyPr>
          <a:lstStyle/>
          <a:p>
            <a:pPr algn="l"/>
            <a:r>
              <a:rPr sz="1200" b="0" i="0">
                <a:solidFill>
                  <a:srgbClr val="1A1A2E"/>
                </a:solidFill>
                <a:latin typeface="Calibri"/>
              </a:rPr>
              <a:t>5,130</a:t>
            </a:r>
          </a:p>
        </p:txBody>
      </p:sp>
      <p:sp>
        <p:nvSpPr>
          <p:cNvPr id="93" name="Rectangle 92"/>
          <p:cNvSpPr/>
          <p:nvPr/>
        </p:nvSpPr>
        <p:spPr>
          <a:xfrm>
            <a:off x="274320" y="6099047"/>
            <a:ext cx="3794760" cy="347472"/>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365760" y="6135623"/>
            <a:ext cx="3657600" cy="274320"/>
          </a:xfrm>
          <a:prstGeom prst="rect">
            <a:avLst/>
          </a:prstGeom>
          <a:noFill/>
        </p:spPr>
        <p:txBody>
          <a:bodyPr wrap="square">
            <a:spAutoFit/>
          </a:bodyPr>
          <a:lstStyle/>
          <a:p>
            <a:pPr algn="l"/>
            <a:r>
              <a:rPr sz="1200" b="1" i="0">
                <a:solidFill>
                  <a:srgbClr val="FFFFFF"/>
                </a:solidFill>
                <a:latin typeface="Calibri"/>
              </a:rPr>
              <a:t>TOTAL</a:t>
            </a:r>
          </a:p>
        </p:txBody>
      </p:sp>
      <p:sp>
        <p:nvSpPr>
          <p:cNvPr id="95" name="Rectangle 94"/>
          <p:cNvSpPr/>
          <p:nvPr/>
        </p:nvSpPr>
        <p:spPr>
          <a:xfrm>
            <a:off x="4297680" y="6099047"/>
            <a:ext cx="3246120" cy="347472"/>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4389120" y="6135623"/>
            <a:ext cx="3108960" cy="274320"/>
          </a:xfrm>
          <a:prstGeom prst="rect">
            <a:avLst/>
          </a:prstGeom>
          <a:noFill/>
        </p:spPr>
        <p:txBody>
          <a:bodyPr wrap="square">
            <a:spAutoFit/>
          </a:bodyPr>
          <a:lstStyle/>
          <a:p>
            <a:pPr algn="l"/>
            <a:endParaRPr/>
          </a:p>
        </p:txBody>
      </p:sp>
      <p:sp>
        <p:nvSpPr>
          <p:cNvPr id="97" name="Rectangle 96"/>
          <p:cNvSpPr/>
          <p:nvPr/>
        </p:nvSpPr>
        <p:spPr>
          <a:xfrm>
            <a:off x="7772400" y="6099047"/>
            <a:ext cx="3246120" cy="347472"/>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7863840" y="6135623"/>
            <a:ext cx="3108960" cy="274320"/>
          </a:xfrm>
          <a:prstGeom prst="rect">
            <a:avLst/>
          </a:prstGeom>
          <a:noFill/>
        </p:spPr>
        <p:txBody>
          <a:bodyPr wrap="square">
            <a:spAutoFit/>
          </a:bodyPr>
          <a:lstStyle/>
          <a:p>
            <a:pPr algn="l"/>
            <a:r>
              <a:rPr sz="1200" b="1" i="0">
                <a:solidFill>
                  <a:srgbClr val="FFFFFF"/>
                </a:solidFill>
                <a:latin typeface="Calibri"/>
              </a:rPr>
              <a:t>~4.5 M</a:t>
            </a:r>
          </a:p>
        </p:txBody>
      </p:sp>
      <p:sp>
        <p:nvSpPr>
          <p:cNvPr id="99" name="Rectangle 98"/>
          <p:cNvSpPr/>
          <p:nvPr/>
        </p:nvSpPr>
        <p:spPr>
          <a:xfrm>
            <a:off x="274320" y="557784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347472" y="5623559"/>
            <a:ext cx="2596896" cy="502920"/>
          </a:xfrm>
          <a:prstGeom prst="rect">
            <a:avLst/>
          </a:prstGeom>
          <a:noFill/>
        </p:spPr>
        <p:txBody>
          <a:bodyPr wrap="square">
            <a:spAutoFit/>
          </a:bodyPr>
          <a:lstStyle/>
          <a:p>
            <a:pPr algn="ctr"/>
            <a:r>
              <a:rPr sz="2600" b="1" i="0" dirty="0">
                <a:solidFill>
                  <a:srgbClr val="E88C00"/>
                </a:solidFill>
                <a:latin typeface="Calibri"/>
              </a:rPr>
              <a:t>4.5 M</a:t>
            </a:r>
          </a:p>
        </p:txBody>
      </p:sp>
      <p:sp>
        <p:nvSpPr>
          <p:cNvPr id="101" name="TextBox 100"/>
          <p:cNvSpPr txBox="1"/>
          <p:nvPr/>
        </p:nvSpPr>
        <p:spPr>
          <a:xfrm>
            <a:off x="347472" y="6126479"/>
            <a:ext cx="2596896" cy="411480"/>
          </a:xfrm>
          <a:prstGeom prst="rect">
            <a:avLst/>
          </a:prstGeom>
          <a:noFill/>
        </p:spPr>
        <p:txBody>
          <a:bodyPr wrap="square">
            <a:spAutoFit/>
          </a:bodyPr>
          <a:lstStyle/>
          <a:p>
            <a:pPr algn="ctr"/>
            <a:r>
              <a:rPr sz="1200" b="0" i="0">
                <a:solidFill>
                  <a:srgbClr val="FFFFFF"/>
                </a:solidFill>
                <a:latin typeface="Calibri"/>
              </a:rPr>
              <a:t>Total Parameters</a:t>
            </a:r>
          </a:p>
        </p:txBody>
      </p:sp>
      <p:sp>
        <p:nvSpPr>
          <p:cNvPr id="102" name="Rectangle 101"/>
          <p:cNvSpPr/>
          <p:nvPr/>
        </p:nvSpPr>
        <p:spPr>
          <a:xfrm>
            <a:off x="3200400" y="557784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3273552" y="5623559"/>
            <a:ext cx="2596896" cy="502920"/>
          </a:xfrm>
          <a:prstGeom prst="rect">
            <a:avLst/>
          </a:prstGeom>
          <a:noFill/>
        </p:spPr>
        <p:txBody>
          <a:bodyPr wrap="square">
            <a:spAutoFit/>
          </a:bodyPr>
          <a:lstStyle/>
          <a:p>
            <a:pPr algn="ctr"/>
            <a:r>
              <a:rPr sz="2600" b="1" i="0" dirty="0">
                <a:solidFill>
                  <a:srgbClr val="E88C00"/>
                </a:solidFill>
                <a:latin typeface="Calibri"/>
              </a:rPr>
              <a:t>17.2 MB</a:t>
            </a:r>
          </a:p>
        </p:txBody>
      </p:sp>
      <p:sp>
        <p:nvSpPr>
          <p:cNvPr id="104" name="TextBox 103"/>
          <p:cNvSpPr txBox="1"/>
          <p:nvPr/>
        </p:nvSpPr>
        <p:spPr>
          <a:xfrm>
            <a:off x="3273552" y="6126479"/>
            <a:ext cx="2596896" cy="411480"/>
          </a:xfrm>
          <a:prstGeom prst="rect">
            <a:avLst/>
          </a:prstGeom>
          <a:noFill/>
        </p:spPr>
        <p:txBody>
          <a:bodyPr wrap="square">
            <a:spAutoFit/>
          </a:bodyPr>
          <a:lstStyle/>
          <a:p>
            <a:pPr algn="ctr"/>
            <a:r>
              <a:rPr sz="1200" b="0" i="0">
                <a:solidFill>
                  <a:srgbClr val="FFFFFF"/>
                </a:solidFill>
                <a:latin typeface="Calibri"/>
              </a:rPr>
              <a:t>Model Size</a:t>
            </a:r>
          </a:p>
        </p:txBody>
      </p:sp>
      <p:sp>
        <p:nvSpPr>
          <p:cNvPr id="105" name="Rectangle 104"/>
          <p:cNvSpPr/>
          <p:nvPr/>
        </p:nvSpPr>
        <p:spPr>
          <a:xfrm>
            <a:off x="6126480" y="557784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6199632" y="5623559"/>
            <a:ext cx="2596896" cy="502920"/>
          </a:xfrm>
          <a:prstGeom prst="rect">
            <a:avLst/>
          </a:prstGeom>
          <a:noFill/>
        </p:spPr>
        <p:txBody>
          <a:bodyPr wrap="square">
            <a:spAutoFit/>
          </a:bodyPr>
          <a:lstStyle/>
          <a:p>
            <a:pPr algn="ctr"/>
            <a:r>
              <a:rPr sz="2600" b="1" i="0">
                <a:solidFill>
                  <a:srgbClr val="E88C00"/>
                </a:solidFill>
                <a:latin typeface="Calibri"/>
              </a:rPr>
              <a:t>11</a:t>
            </a:r>
          </a:p>
        </p:txBody>
      </p:sp>
      <p:sp>
        <p:nvSpPr>
          <p:cNvPr id="107" name="TextBox 106"/>
          <p:cNvSpPr txBox="1"/>
          <p:nvPr/>
        </p:nvSpPr>
        <p:spPr>
          <a:xfrm>
            <a:off x="6199632" y="6126479"/>
            <a:ext cx="2596896" cy="411480"/>
          </a:xfrm>
          <a:prstGeom prst="rect">
            <a:avLst/>
          </a:prstGeom>
          <a:noFill/>
        </p:spPr>
        <p:txBody>
          <a:bodyPr wrap="square">
            <a:spAutoFit/>
          </a:bodyPr>
          <a:lstStyle/>
          <a:p>
            <a:pPr algn="ctr"/>
            <a:r>
              <a:rPr sz="1200" b="0" i="0">
                <a:solidFill>
                  <a:srgbClr val="FFFFFF"/>
                </a:solidFill>
                <a:latin typeface="Calibri"/>
              </a:rPr>
              <a:t>Trained (best epoch)</a:t>
            </a:r>
          </a:p>
        </p:txBody>
      </p:sp>
      <p:sp>
        <p:nvSpPr>
          <p:cNvPr id="108" name="Rectangle 107"/>
          <p:cNvSpPr/>
          <p:nvPr/>
        </p:nvSpPr>
        <p:spPr>
          <a:xfrm>
            <a:off x="9052560" y="557784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9125712" y="5623559"/>
            <a:ext cx="2596896" cy="502920"/>
          </a:xfrm>
          <a:prstGeom prst="rect">
            <a:avLst/>
          </a:prstGeom>
          <a:noFill/>
        </p:spPr>
        <p:txBody>
          <a:bodyPr wrap="square">
            <a:spAutoFit/>
          </a:bodyPr>
          <a:lstStyle/>
          <a:p>
            <a:pPr algn="ctr"/>
            <a:r>
              <a:rPr sz="2600" b="1" i="0">
                <a:solidFill>
                  <a:srgbClr val="E88C00"/>
                </a:solidFill>
                <a:latin typeface="Calibri"/>
              </a:rPr>
              <a:t>89.23 %</a:t>
            </a:r>
          </a:p>
        </p:txBody>
      </p:sp>
      <p:sp>
        <p:nvSpPr>
          <p:cNvPr id="110" name="TextBox 109"/>
          <p:cNvSpPr txBox="1"/>
          <p:nvPr/>
        </p:nvSpPr>
        <p:spPr>
          <a:xfrm>
            <a:off x="9125712" y="6126479"/>
            <a:ext cx="2596896" cy="411480"/>
          </a:xfrm>
          <a:prstGeom prst="rect">
            <a:avLst/>
          </a:prstGeom>
          <a:noFill/>
        </p:spPr>
        <p:txBody>
          <a:bodyPr wrap="square">
            <a:spAutoFit/>
          </a:bodyPr>
          <a:lstStyle/>
          <a:p>
            <a:pPr algn="ctr"/>
            <a:r>
              <a:rPr sz="1200" b="0" i="0">
                <a:solidFill>
                  <a:srgbClr val="FFFFFF"/>
                </a:solidFill>
                <a:latin typeface="Calibri"/>
              </a:rPr>
              <a:t>Test Accuracy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Model Characteristics — U-Net Classifier</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Encoder · Decoder · Classification Head breakdown</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83680"/>
            <a:ext cx="8293608" cy="256032"/>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p>
        </p:txBody>
      </p:sp>
      <p:sp>
        <p:nvSpPr>
          <p:cNvPr id="9" name="Rectangle 8"/>
          <p:cNvSpPr/>
          <p:nvPr/>
        </p:nvSpPr>
        <p:spPr>
          <a:xfrm>
            <a:off x="274320" y="1234440"/>
            <a:ext cx="4160520" cy="3383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271016"/>
            <a:ext cx="4023359" cy="265176"/>
          </a:xfrm>
          <a:prstGeom prst="rect">
            <a:avLst/>
          </a:prstGeom>
          <a:noFill/>
        </p:spPr>
        <p:txBody>
          <a:bodyPr wrap="square">
            <a:spAutoFit/>
          </a:bodyPr>
          <a:lstStyle/>
          <a:p>
            <a:pPr algn="l"/>
            <a:r>
              <a:rPr sz="1100" b="1" i="0">
                <a:solidFill>
                  <a:srgbClr val="FFFFFF"/>
                </a:solidFill>
                <a:latin typeface="Calibri"/>
              </a:rPr>
              <a:t>Block</a:t>
            </a:r>
          </a:p>
        </p:txBody>
      </p:sp>
      <p:sp>
        <p:nvSpPr>
          <p:cNvPr id="11" name="Rectangle 10"/>
          <p:cNvSpPr/>
          <p:nvPr/>
        </p:nvSpPr>
        <p:spPr>
          <a:xfrm>
            <a:off x="4663440" y="1234440"/>
            <a:ext cx="3063240" cy="3383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79" y="1271016"/>
            <a:ext cx="2926079" cy="265176"/>
          </a:xfrm>
          <a:prstGeom prst="rect">
            <a:avLst/>
          </a:prstGeom>
          <a:noFill/>
        </p:spPr>
        <p:txBody>
          <a:bodyPr wrap="square">
            <a:spAutoFit/>
          </a:bodyPr>
          <a:lstStyle/>
          <a:p>
            <a:pPr algn="l"/>
            <a:r>
              <a:rPr sz="1100" b="1" i="0">
                <a:solidFill>
                  <a:srgbClr val="FFFFFF"/>
                </a:solidFill>
                <a:latin typeface="Calibri"/>
              </a:rPr>
              <a:t>Output shape</a:t>
            </a:r>
          </a:p>
        </p:txBody>
      </p:sp>
      <p:sp>
        <p:nvSpPr>
          <p:cNvPr id="13" name="Rectangle 12"/>
          <p:cNvSpPr/>
          <p:nvPr/>
        </p:nvSpPr>
        <p:spPr>
          <a:xfrm>
            <a:off x="7955279" y="1234440"/>
            <a:ext cx="3063240" cy="3383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19" y="1271016"/>
            <a:ext cx="2926079" cy="265176"/>
          </a:xfrm>
          <a:prstGeom prst="rect">
            <a:avLst/>
          </a:prstGeom>
          <a:noFill/>
        </p:spPr>
        <p:txBody>
          <a:bodyPr wrap="square">
            <a:spAutoFit/>
          </a:bodyPr>
          <a:lstStyle/>
          <a:p>
            <a:pPr algn="l"/>
            <a:r>
              <a:rPr sz="1100" b="1" i="0">
                <a:solidFill>
                  <a:srgbClr val="FFFFFF"/>
                </a:solidFill>
                <a:latin typeface="Calibri"/>
              </a:rPr>
              <a:t>Approx. params</a:t>
            </a:r>
          </a:p>
        </p:txBody>
      </p:sp>
      <p:sp>
        <p:nvSpPr>
          <p:cNvPr id="15" name="Rectangle 14"/>
          <p:cNvSpPr/>
          <p:nvPr/>
        </p:nvSpPr>
        <p:spPr>
          <a:xfrm>
            <a:off x="274320" y="1572768"/>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1609344"/>
            <a:ext cx="4023359" cy="265176"/>
          </a:xfrm>
          <a:prstGeom prst="rect">
            <a:avLst/>
          </a:prstGeom>
          <a:noFill/>
        </p:spPr>
        <p:txBody>
          <a:bodyPr wrap="square">
            <a:spAutoFit/>
          </a:bodyPr>
          <a:lstStyle/>
          <a:p>
            <a:pPr algn="l"/>
            <a:r>
              <a:rPr sz="1100" b="0" i="0">
                <a:solidFill>
                  <a:srgbClr val="1A1A2E"/>
                </a:solidFill>
                <a:latin typeface="Calibri"/>
              </a:rPr>
              <a:t>DoubleConv  3→64   (inc)</a:t>
            </a:r>
          </a:p>
        </p:txBody>
      </p:sp>
      <p:sp>
        <p:nvSpPr>
          <p:cNvPr id="17" name="Rectangle 16"/>
          <p:cNvSpPr/>
          <p:nvPr/>
        </p:nvSpPr>
        <p:spPr>
          <a:xfrm>
            <a:off x="4663440" y="1572768"/>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79" y="1609344"/>
            <a:ext cx="2926079" cy="265176"/>
          </a:xfrm>
          <a:prstGeom prst="rect">
            <a:avLst/>
          </a:prstGeom>
          <a:noFill/>
        </p:spPr>
        <p:txBody>
          <a:bodyPr wrap="square">
            <a:spAutoFit/>
          </a:bodyPr>
          <a:lstStyle/>
          <a:p>
            <a:pPr algn="l"/>
            <a:r>
              <a:rPr sz="1100" b="0" i="0">
                <a:solidFill>
                  <a:srgbClr val="1A1A2E"/>
                </a:solidFill>
                <a:latin typeface="Calibri"/>
              </a:rPr>
              <a:t>64×64×64</a:t>
            </a:r>
          </a:p>
        </p:txBody>
      </p:sp>
      <p:sp>
        <p:nvSpPr>
          <p:cNvPr id="19" name="Rectangle 18"/>
          <p:cNvSpPr/>
          <p:nvPr/>
        </p:nvSpPr>
        <p:spPr>
          <a:xfrm>
            <a:off x="7955279" y="1572768"/>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19" y="1609344"/>
            <a:ext cx="2926079" cy="265176"/>
          </a:xfrm>
          <a:prstGeom prst="rect">
            <a:avLst/>
          </a:prstGeom>
          <a:noFill/>
        </p:spPr>
        <p:txBody>
          <a:bodyPr wrap="square">
            <a:spAutoFit/>
          </a:bodyPr>
          <a:lstStyle/>
          <a:p>
            <a:pPr algn="l"/>
            <a:r>
              <a:rPr sz="1100" b="0" i="0">
                <a:solidFill>
                  <a:srgbClr val="1A1A2E"/>
                </a:solidFill>
                <a:latin typeface="Calibri"/>
              </a:rPr>
              <a:t>~38 K</a:t>
            </a:r>
          </a:p>
        </p:txBody>
      </p:sp>
      <p:sp>
        <p:nvSpPr>
          <p:cNvPr id="21" name="Rectangle 20"/>
          <p:cNvSpPr/>
          <p:nvPr/>
        </p:nvSpPr>
        <p:spPr>
          <a:xfrm>
            <a:off x="274320" y="1911096"/>
            <a:ext cx="416052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1947672"/>
            <a:ext cx="4023359" cy="265176"/>
          </a:xfrm>
          <a:prstGeom prst="rect">
            <a:avLst/>
          </a:prstGeom>
          <a:noFill/>
        </p:spPr>
        <p:txBody>
          <a:bodyPr wrap="square">
            <a:spAutoFit/>
          </a:bodyPr>
          <a:lstStyle/>
          <a:p>
            <a:pPr algn="l"/>
            <a:r>
              <a:rPr sz="1100" b="0" i="0">
                <a:solidFill>
                  <a:srgbClr val="1A1A2E"/>
                </a:solidFill>
                <a:latin typeface="Calibri"/>
              </a:rPr>
              <a:t>MaxPool + DoubleConv 64→128</a:t>
            </a:r>
          </a:p>
        </p:txBody>
      </p:sp>
      <p:sp>
        <p:nvSpPr>
          <p:cNvPr id="23" name="Rectangle 22"/>
          <p:cNvSpPr/>
          <p:nvPr/>
        </p:nvSpPr>
        <p:spPr>
          <a:xfrm>
            <a:off x="4663440" y="1911096"/>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79" y="1947672"/>
            <a:ext cx="2926079" cy="265176"/>
          </a:xfrm>
          <a:prstGeom prst="rect">
            <a:avLst/>
          </a:prstGeom>
          <a:noFill/>
        </p:spPr>
        <p:txBody>
          <a:bodyPr wrap="square">
            <a:spAutoFit/>
          </a:bodyPr>
          <a:lstStyle/>
          <a:p>
            <a:pPr algn="l"/>
            <a:r>
              <a:rPr sz="1100" b="0" i="0">
                <a:solidFill>
                  <a:srgbClr val="1A1A2E"/>
                </a:solidFill>
                <a:latin typeface="Calibri"/>
              </a:rPr>
              <a:t>128×32×32</a:t>
            </a:r>
          </a:p>
        </p:txBody>
      </p:sp>
      <p:sp>
        <p:nvSpPr>
          <p:cNvPr id="25" name="Rectangle 24"/>
          <p:cNvSpPr/>
          <p:nvPr/>
        </p:nvSpPr>
        <p:spPr>
          <a:xfrm>
            <a:off x="7955279" y="1911096"/>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46719" y="1947672"/>
            <a:ext cx="2926079" cy="265176"/>
          </a:xfrm>
          <a:prstGeom prst="rect">
            <a:avLst/>
          </a:prstGeom>
          <a:noFill/>
        </p:spPr>
        <p:txBody>
          <a:bodyPr wrap="square">
            <a:spAutoFit/>
          </a:bodyPr>
          <a:lstStyle/>
          <a:p>
            <a:pPr algn="l"/>
            <a:r>
              <a:rPr sz="1100" b="0" i="0">
                <a:solidFill>
                  <a:srgbClr val="1A1A2E"/>
                </a:solidFill>
                <a:latin typeface="Calibri"/>
              </a:rPr>
              <a:t>~221 K</a:t>
            </a:r>
          </a:p>
        </p:txBody>
      </p:sp>
      <p:sp>
        <p:nvSpPr>
          <p:cNvPr id="27" name="Rectangle 26"/>
          <p:cNvSpPr/>
          <p:nvPr/>
        </p:nvSpPr>
        <p:spPr>
          <a:xfrm>
            <a:off x="274320" y="2249424"/>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2286000"/>
            <a:ext cx="4023359" cy="265176"/>
          </a:xfrm>
          <a:prstGeom prst="rect">
            <a:avLst/>
          </a:prstGeom>
          <a:noFill/>
        </p:spPr>
        <p:txBody>
          <a:bodyPr wrap="square">
            <a:spAutoFit/>
          </a:bodyPr>
          <a:lstStyle/>
          <a:p>
            <a:pPr algn="l"/>
            <a:r>
              <a:rPr sz="1100" b="0" i="0">
                <a:solidFill>
                  <a:srgbClr val="1A1A2E"/>
                </a:solidFill>
                <a:latin typeface="Calibri"/>
              </a:rPr>
              <a:t>MaxPool + DoubleConv 128→256</a:t>
            </a:r>
          </a:p>
        </p:txBody>
      </p:sp>
      <p:sp>
        <p:nvSpPr>
          <p:cNvPr id="29" name="Rectangle 28"/>
          <p:cNvSpPr/>
          <p:nvPr/>
        </p:nvSpPr>
        <p:spPr>
          <a:xfrm>
            <a:off x="4663440" y="2249424"/>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54879" y="2286000"/>
            <a:ext cx="2926079" cy="265176"/>
          </a:xfrm>
          <a:prstGeom prst="rect">
            <a:avLst/>
          </a:prstGeom>
          <a:noFill/>
        </p:spPr>
        <p:txBody>
          <a:bodyPr wrap="square">
            <a:spAutoFit/>
          </a:bodyPr>
          <a:lstStyle/>
          <a:p>
            <a:pPr algn="l"/>
            <a:r>
              <a:rPr sz="1100" b="0" i="0">
                <a:solidFill>
                  <a:srgbClr val="1A1A2E"/>
                </a:solidFill>
                <a:latin typeface="Calibri"/>
              </a:rPr>
              <a:t>256×16×16</a:t>
            </a:r>
          </a:p>
        </p:txBody>
      </p:sp>
      <p:sp>
        <p:nvSpPr>
          <p:cNvPr id="31" name="Rectangle 30"/>
          <p:cNvSpPr/>
          <p:nvPr/>
        </p:nvSpPr>
        <p:spPr>
          <a:xfrm>
            <a:off x="7955279" y="2249424"/>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46719" y="2286000"/>
            <a:ext cx="2926079" cy="265176"/>
          </a:xfrm>
          <a:prstGeom prst="rect">
            <a:avLst/>
          </a:prstGeom>
          <a:noFill/>
        </p:spPr>
        <p:txBody>
          <a:bodyPr wrap="square">
            <a:spAutoFit/>
          </a:bodyPr>
          <a:lstStyle/>
          <a:p>
            <a:pPr algn="l"/>
            <a:r>
              <a:rPr sz="1100" b="0" i="0">
                <a:solidFill>
                  <a:srgbClr val="1A1A2E"/>
                </a:solidFill>
                <a:latin typeface="Calibri"/>
              </a:rPr>
              <a:t>~885 K</a:t>
            </a:r>
          </a:p>
        </p:txBody>
      </p:sp>
      <p:sp>
        <p:nvSpPr>
          <p:cNvPr id="33" name="Rectangle 32"/>
          <p:cNvSpPr/>
          <p:nvPr/>
        </p:nvSpPr>
        <p:spPr>
          <a:xfrm>
            <a:off x="274320" y="2587752"/>
            <a:ext cx="416052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2624328"/>
            <a:ext cx="4023359" cy="265176"/>
          </a:xfrm>
          <a:prstGeom prst="rect">
            <a:avLst/>
          </a:prstGeom>
          <a:noFill/>
        </p:spPr>
        <p:txBody>
          <a:bodyPr wrap="square">
            <a:spAutoFit/>
          </a:bodyPr>
          <a:lstStyle/>
          <a:p>
            <a:pPr algn="l"/>
            <a:r>
              <a:rPr sz="1100" b="0" i="0">
                <a:solidFill>
                  <a:srgbClr val="1A1A2E"/>
                </a:solidFill>
                <a:latin typeface="Calibri"/>
              </a:rPr>
              <a:t>MaxPool + DoubleConv 256→512</a:t>
            </a:r>
          </a:p>
        </p:txBody>
      </p:sp>
      <p:sp>
        <p:nvSpPr>
          <p:cNvPr id="35" name="Rectangle 34"/>
          <p:cNvSpPr/>
          <p:nvPr/>
        </p:nvSpPr>
        <p:spPr>
          <a:xfrm>
            <a:off x="4663440" y="2587752"/>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54879" y="2624328"/>
            <a:ext cx="2926079" cy="265176"/>
          </a:xfrm>
          <a:prstGeom prst="rect">
            <a:avLst/>
          </a:prstGeom>
          <a:noFill/>
        </p:spPr>
        <p:txBody>
          <a:bodyPr wrap="square">
            <a:spAutoFit/>
          </a:bodyPr>
          <a:lstStyle/>
          <a:p>
            <a:pPr algn="l"/>
            <a:r>
              <a:rPr sz="1100" b="0" i="0">
                <a:solidFill>
                  <a:srgbClr val="1A1A2E"/>
                </a:solidFill>
                <a:latin typeface="Calibri"/>
              </a:rPr>
              <a:t>512×8×8</a:t>
            </a:r>
          </a:p>
        </p:txBody>
      </p:sp>
      <p:sp>
        <p:nvSpPr>
          <p:cNvPr id="37" name="Rectangle 36"/>
          <p:cNvSpPr/>
          <p:nvPr/>
        </p:nvSpPr>
        <p:spPr>
          <a:xfrm>
            <a:off x="7955279" y="2587752"/>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46719" y="2624328"/>
            <a:ext cx="2926079" cy="265176"/>
          </a:xfrm>
          <a:prstGeom prst="rect">
            <a:avLst/>
          </a:prstGeom>
          <a:noFill/>
        </p:spPr>
        <p:txBody>
          <a:bodyPr wrap="square">
            <a:spAutoFit/>
          </a:bodyPr>
          <a:lstStyle/>
          <a:p>
            <a:pPr algn="l"/>
            <a:r>
              <a:rPr sz="1100" b="0" i="0">
                <a:solidFill>
                  <a:srgbClr val="1A1A2E"/>
                </a:solidFill>
                <a:latin typeface="Calibri"/>
              </a:rPr>
              <a:t>~3.5 M</a:t>
            </a:r>
          </a:p>
        </p:txBody>
      </p:sp>
      <p:sp>
        <p:nvSpPr>
          <p:cNvPr id="39" name="Rectangle 38"/>
          <p:cNvSpPr/>
          <p:nvPr/>
        </p:nvSpPr>
        <p:spPr>
          <a:xfrm>
            <a:off x="274320" y="2926080"/>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 y="2962656"/>
            <a:ext cx="4023359" cy="265176"/>
          </a:xfrm>
          <a:prstGeom prst="rect">
            <a:avLst/>
          </a:prstGeom>
          <a:noFill/>
        </p:spPr>
        <p:txBody>
          <a:bodyPr wrap="square">
            <a:spAutoFit/>
          </a:bodyPr>
          <a:lstStyle/>
          <a:p>
            <a:pPr algn="l"/>
            <a:r>
              <a:rPr sz="1100" b="0" i="0">
                <a:solidFill>
                  <a:srgbClr val="1A1A2E"/>
                </a:solidFill>
                <a:latin typeface="Calibri"/>
              </a:rPr>
              <a:t>ConvTranspose  512→256</a:t>
            </a:r>
          </a:p>
        </p:txBody>
      </p:sp>
      <p:sp>
        <p:nvSpPr>
          <p:cNvPr id="41" name="Rectangle 40"/>
          <p:cNvSpPr/>
          <p:nvPr/>
        </p:nvSpPr>
        <p:spPr>
          <a:xfrm>
            <a:off x="4663440" y="2926080"/>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54879" y="2962656"/>
            <a:ext cx="2926079" cy="265176"/>
          </a:xfrm>
          <a:prstGeom prst="rect">
            <a:avLst/>
          </a:prstGeom>
          <a:noFill/>
        </p:spPr>
        <p:txBody>
          <a:bodyPr wrap="square">
            <a:spAutoFit/>
          </a:bodyPr>
          <a:lstStyle/>
          <a:p>
            <a:pPr algn="l"/>
            <a:r>
              <a:rPr sz="1100" b="0" i="0">
                <a:solidFill>
                  <a:srgbClr val="1A1A2E"/>
                </a:solidFill>
                <a:latin typeface="Calibri"/>
              </a:rPr>
              <a:t>256×16×16</a:t>
            </a:r>
          </a:p>
        </p:txBody>
      </p:sp>
      <p:sp>
        <p:nvSpPr>
          <p:cNvPr id="43" name="Rectangle 42"/>
          <p:cNvSpPr/>
          <p:nvPr/>
        </p:nvSpPr>
        <p:spPr>
          <a:xfrm>
            <a:off x="7955279" y="2926080"/>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19" y="2962656"/>
            <a:ext cx="2926079" cy="265176"/>
          </a:xfrm>
          <a:prstGeom prst="rect">
            <a:avLst/>
          </a:prstGeom>
          <a:noFill/>
        </p:spPr>
        <p:txBody>
          <a:bodyPr wrap="square">
            <a:spAutoFit/>
          </a:bodyPr>
          <a:lstStyle/>
          <a:p>
            <a:pPr algn="l"/>
            <a:r>
              <a:rPr sz="1100" b="0" i="0">
                <a:solidFill>
                  <a:srgbClr val="1A1A2E"/>
                </a:solidFill>
                <a:latin typeface="Calibri"/>
              </a:rPr>
              <a:t>~524 K</a:t>
            </a:r>
          </a:p>
        </p:txBody>
      </p:sp>
      <p:sp>
        <p:nvSpPr>
          <p:cNvPr id="45" name="Rectangle 44"/>
          <p:cNvSpPr/>
          <p:nvPr/>
        </p:nvSpPr>
        <p:spPr>
          <a:xfrm>
            <a:off x="274320" y="3264408"/>
            <a:ext cx="416052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65760" y="3300984"/>
            <a:ext cx="4023359" cy="265176"/>
          </a:xfrm>
          <a:prstGeom prst="rect">
            <a:avLst/>
          </a:prstGeom>
          <a:noFill/>
        </p:spPr>
        <p:txBody>
          <a:bodyPr wrap="square">
            <a:spAutoFit/>
          </a:bodyPr>
          <a:lstStyle/>
          <a:p>
            <a:pPr algn="l"/>
            <a:r>
              <a:rPr sz="1100" b="0" i="0">
                <a:solidFill>
                  <a:srgbClr val="1A1A2E"/>
                </a:solidFill>
                <a:latin typeface="Calibri"/>
              </a:rPr>
              <a:t>DoubleConv 512→256  (skip)</a:t>
            </a:r>
          </a:p>
        </p:txBody>
      </p:sp>
      <p:sp>
        <p:nvSpPr>
          <p:cNvPr id="47" name="Rectangle 46"/>
          <p:cNvSpPr/>
          <p:nvPr/>
        </p:nvSpPr>
        <p:spPr>
          <a:xfrm>
            <a:off x="4663440" y="3264408"/>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754879" y="3300984"/>
            <a:ext cx="2926079" cy="265176"/>
          </a:xfrm>
          <a:prstGeom prst="rect">
            <a:avLst/>
          </a:prstGeom>
          <a:noFill/>
        </p:spPr>
        <p:txBody>
          <a:bodyPr wrap="square">
            <a:spAutoFit/>
          </a:bodyPr>
          <a:lstStyle/>
          <a:p>
            <a:pPr algn="l"/>
            <a:r>
              <a:rPr sz="1100" b="0" i="0">
                <a:solidFill>
                  <a:srgbClr val="1A1A2E"/>
                </a:solidFill>
                <a:latin typeface="Calibri"/>
              </a:rPr>
              <a:t>256×16×16</a:t>
            </a:r>
          </a:p>
        </p:txBody>
      </p:sp>
      <p:sp>
        <p:nvSpPr>
          <p:cNvPr id="49" name="Rectangle 48"/>
          <p:cNvSpPr/>
          <p:nvPr/>
        </p:nvSpPr>
        <p:spPr>
          <a:xfrm>
            <a:off x="7955279" y="3264408"/>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46719" y="3300984"/>
            <a:ext cx="2926079" cy="265176"/>
          </a:xfrm>
          <a:prstGeom prst="rect">
            <a:avLst/>
          </a:prstGeom>
          <a:noFill/>
        </p:spPr>
        <p:txBody>
          <a:bodyPr wrap="square">
            <a:spAutoFit/>
          </a:bodyPr>
          <a:lstStyle/>
          <a:p>
            <a:pPr algn="l"/>
            <a:r>
              <a:rPr sz="1100" b="0" i="0">
                <a:solidFill>
                  <a:srgbClr val="1A1A2E"/>
                </a:solidFill>
                <a:latin typeface="Calibri"/>
              </a:rPr>
              <a:t>~1.2 M</a:t>
            </a:r>
          </a:p>
        </p:txBody>
      </p:sp>
      <p:sp>
        <p:nvSpPr>
          <p:cNvPr id="51" name="Rectangle 50"/>
          <p:cNvSpPr/>
          <p:nvPr/>
        </p:nvSpPr>
        <p:spPr>
          <a:xfrm>
            <a:off x="274320" y="3602736"/>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3639312"/>
            <a:ext cx="4023359" cy="265176"/>
          </a:xfrm>
          <a:prstGeom prst="rect">
            <a:avLst/>
          </a:prstGeom>
          <a:noFill/>
        </p:spPr>
        <p:txBody>
          <a:bodyPr wrap="square">
            <a:spAutoFit/>
          </a:bodyPr>
          <a:lstStyle/>
          <a:p>
            <a:pPr algn="l"/>
            <a:r>
              <a:rPr sz="1100" b="0" i="0">
                <a:solidFill>
                  <a:srgbClr val="1A1A2E"/>
                </a:solidFill>
                <a:latin typeface="Calibri"/>
              </a:rPr>
              <a:t>ConvTranspose  256→128</a:t>
            </a:r>
          </a:p>
        </p:txBody>
      </p:sp>
      <p:sp>
        <p:nvSpPr>
          <p:cNvPr id="53" name="Rectangle 52"/>
          <p:cNvSpPr/>
          <p:nvPr/>
        </p:nvSpPr>
        <p:spPr>
          <a:xfrm>
            <a:off x="4663440" y="3602736"/>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754879" y="3639312"/>
            <a:ext cx="2926079" cy="265176"/>
          </a:xfrm>
          <a:prstGeom prst="rect">
            <a:avLst/>
          </a:prstGeom>
          <a:noFill/>
        </p:spPr>
        <p:txBody>
          <a:bodyPr wrap="square">
            <a:spAutoFit/>
          </a:bodyPr>
          <a:lstStyle/>
          <a:p>
            <a:pPr algn="l"/>
            <a:r>
              <a:rPr sz="1100" b="0" i="0">
                <a:solidFill>
                  <a:srgbClr val="1A1A2E"/>
                </a:solidFill>
                <a:latin typeface="Calibri"/>
              </a:rPr>
              <a:t>128×32×32</a:t>
            </a:r>
          </a:p>
        </p:txBody>
      </p:sp>
      <p:sp>
        <p:nvSpPr>
          <p:cNvPr id="55" name="Rectangle 54"/>
          <p:cNvSpPr/>
          <p:nvPr/>
        </p:nvSpPr>
        <p:spPr>
          <a:xfrm>
            <a:off x="7955279" y="3602736"/>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046719" y="3639312"/>
            <a:ext cx="2926079" cy="265176"/>
          </a:xfrm>
          <a:prstGeom prst="rect">
            <a:avLst/>
          </a:prstGeom>
          <a:noFill/>
        </p:spPr>
        <p:txBody>
          <a:bodyPr wrap="square">
            <a:spAutoFit/>
          </a:bodyPr>
          <a:lstStyle/>
          <a:p>
            <a:pPr algn="l"/>
            <a:r>
              <a:rPr sz="1100" b="0" i="0">
                <a:solidFill>
                  <a:srgbClr val="1A1A2E"/>
                </a:solidFill>
                <a:latin typeface="Calibri"/>
              </a:rPr>
              <a:t>~131 K</a:t>
            </a:r>
          </a:p>
        </p:txBody>
      </p:sp>
      <p:sp>
        <p:nvSpPr>
          <p:cNvPr id="57" name="Rectangle 56"/>
          <p:cNvSpPr/>
          <p:nvPr/>
        </p:nvSpPr>
        <p:spPr>
          <a:xfrm>
            <a:off x="274320" y="3941064"/>
            <a:ext cx="416052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65760" y="3977640"/>
            <a:ext cx="4023359" cy="265176"/>
          </a:xfrm>
          <a:prstGeom prst="rect">
            <a:avLst/>
          </a:prstGeom>
          <a:noFill/>
        </p:spPr>
        <p:txBody>
          <a:bodyPr wrap="square">
            <a:spAutoFit/>
          </a:bodyPr>
          <a:lstStyle/>
          <a:p>
            <a:pPr algn="l"/>
            <a:r>
              <a:rPr sz="1100" b="0" i="0">
                <a:solidFill>
                  <a:srgbClr val="1A1A2E"/>
                </a:solidFill>
                <a:latin typeface="Calibri"/>
              </a:rPr>
              <a:t>DoubleConv 256→128  (skip)</a:t>
            </a:r>
          </a:p>
        </p:txBody>
      </p:sp>
      <p:sp>
        <p:nvSpPr>
          <p:cNvPr id="59" name="Rectangle 58"/>
          <p:cNvSpPr/>
          <p:nvPr/>
        </p:nvSpPr>
        <p:spPr>
          <a:xfrm>
            <a:off x="4663440" y="3941064"/>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754879" y="3977640"/>
            <a:ext cx="2926079" cy="265176"/>
          </a:xfrm>
          <a:prstGeom prst="rect">
            <a:avLst/>
          </a:prstGeom>
          <a:noFill/>
        </p:spPr>
        <p:txBody>
          <a:bodyPr wrap="square">
            <a:spAutoFit/>
          </a:bodyPr>
          <a:lstStyle/>
          <a:p>
            <a:pPr algn="l"/>
            <a:r>
              <a:rPr sz="1100" b="0" i="0">
                <a:solidFill>
                  <a:srgbClr val="1A1A2E"/>
                </a:solidFill>
                <a:latin typeface="Calibri"/>
              </a:rPr>
              <a:t>128×32×32</a:t>
            </a:r>
          </a:p>
        </p:txBody>
      </p:sp>
      <p:sp>
        <p:nvSpPr>
          <p:cNvPr id="61" name="Rectangle 60"/>
          <p:cNvSpPr/>
          <p:nvPr/>
        </p:nvSpPr>
        <p:spPr>
          <a:xfrm>
            <a:off x="7955279" y="3941064"/>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046719" y="3977640"/>
            <a:ext cx="2926079" cy="265176"/>
          </a:xfrm>
          <a:prstGeom prst="rect">
            <a:avLst/>
          </a:prstGeom>
          <a:noFill/>
        </p:spPr>
        <p:txBody>
          <a:bodyPr wrap="square">
            <a:spAutoFit/>
          </a:bodyPr>
          <a:lstStyle/>
          <a:p>
            <a:pPr algn="l"/>
            <a:r>
              <a:rPr sz="1100" b="0" i="0">
                <a:solidFill>
                  <a:srgbClr val="1A1A2E"/>
                </a:solidFill>
                <a:latin typeface="Calibri"/>
              </a:rPr>
              <a:t>~590 K</a:t>
            </a:r>
          </a:p>
        </p:txBody>
      </p:sp>
      <p:sp>
        <p:nvSpPr>
          <p:cNvPr id="63" name="Rectangle 62"/>
          <p:cNvSpPr/>
          <p:nvPr/>
        </p:nvSpPr>
        <p:spPr>
          <a:xfrm>
            <a:off x="274320" y="4279392"/>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65760" y="4315968"/>
            <a:ext cx="4023359" cy="265176"/>
          </a:xfrm>
          <a:prstGeom prst="rect">
            <a:avLst/>
          </a:prstGeom>
          <a:noFill/>
        </p:spPr>
        <p:txBody>
          <a:bodyPr wrap="square">
            <a:spAutoFit/>
          </a:bodyPr>
          <a:lstStyle/>
          <a:p>
            <a:pPr algn="l"/>
            <a:r>
              <a:rPr sz="1100" b="0" i="0">
                <a:solidFill>
                  <a:srgbClr val="1A1A2E"/>
                </a:solidFill>
                <a:latin typeface="Calibri"/>
              </a:rPr>
              <a:t>ConvTranspose  128→64</a:t>
            </a:r>
          </a:p>
        </p:txBody>
      </p:sp>
      <p:sp>
        <p:nvSpPr>
          <p:cNvPr id="65" name="Rectangle 64"/>
          <p:cNvSpPr/>
          <p:nvPr/>
        </p:nvSpPr>
        <p:spPr>
          <a:xfrm>
            <a:off x="4663440" y="4279392"/>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754879" y="4315968"/>
            <a:ext cx="2926079" cy="265176"/>
          </a:xfrm>
          <a:prstGeom prst="rect">
            <a:avLst/>
          </a:prstGeom>
          <a:noFill/>
        </p:spPr>
        <p:txBody>
          <a:bodyPr wrap="square">
            <a:spAutoFit/>
          </a:bodyPr>
          <a:lstStyle/>
          <a:p>
            <a:pPr algn="l"/>
            <a:r>
              <a:rPr sz="1100" b="0" i="0">
                <a:solidFill>
                  <a:srgbClr val="1A1A2E"/>
                </a:solidFill>
                <a:latin typeface="Calibri"/>
              </a:rPr>
              <a:t>64×64×64</a:t>
            </a:r>
          </a:p>
        </p:txBody>
      </p:sp>
      <p:sp>
        <p:nvSpPr>
          <p:cNvPr id="67" name="Rectangle 66"/>
          <p:cNvSpPr/>
          <p:nvPr/>
        </p:nvSpPr>
        <p:spPr>
          <a:xfrm>
            <a:off x="7955279" y="4279392"/>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046719" y="4315968"/>
            <a:ext cx="2926079" cy="265176"/>
          </a:xfrm>
          <a:prstGeom prst="rect">
            <a:avLst/>
          </a:prstGeom>
          <a:noFill/>
        </p:spPr>
        <p:txBody>
          <a:bodyPr wrap="square">
            <a:spAutoFit/>
          </a:bodyPr>
          <a:lstStyle/>
          <a:p>
            <a:pPr algn="l"/>
            <a:r>
              <a:rPr sz="1100" b="0" i="0">
                <a:solidFill>
                  <a:srgbClr val="1A1A2E"/>
                </a:solidFill>
                <a:latin typeface="Calibri"/>
              </a:rPr>
              <a:t>~32 K</a:t>
            </a:r>
          </a:p>
        </p:txBody>
      </p:sp>
      <p:sp>
        <p:nvSpPr>
          <p:cNvPr id="69" name="Rectangle 68"/>
          <p:cNvSpPr/>
          <p:nvPr/>
        </p:nvSpPr>
        <p:spPr>
          <a:xfrm>
            <a:off x="274320" y="4617720"/>
            <a:ext cx="416052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365760" y="4654296"/>
            <a:ext cx="4023359" cy="265176"/>
          </a:xfrm>
          <a:prstGeom prst="rect">
            <a:avLst/>
          </a:prstGeom>
          <a:noFill/>
        </p:spPr>
        <p:txBody>
          <a:bodyPr wrap="square">
            <a:spAutoFit/>
          </a:bodyPr>
          <a:lstStyle/>
          <a:p>
            <a:pPr algn="l"/>
            <a:r>
              <a:rPr sz="1100" b="0" i="0">
                <a:solidFill>
                  <a:srgbClr val="1A1A2E"/>
                </a:solidFill>
                <a:latin typeface="Calibri"/>
              </a:rPr>
              <a:t>DoubleConv 128→64   (skip)</a:t>
            </a:r>
          </a:p>
        </p:txBody>
      </p:sp>
      <p:sp>
        <p:nvSpPr>
          <p:cNvPr id="71" name="Rectangle 70"/>
          <p:cNvSpPr/>
          <p:nvPr/>
        </p:nvSpPr>
        <p:spPr>
          <a:xfrm>
            <a:off x="4663440" y="4617720"/>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754879" y="4654296"/>
            <a:ext cx="2926079" cy="265176"/>
          </a:xfrm>
          <a:prstGeom prst="rect">
            <a:avLst/>
          </a:prstGeom>
          <a:noFill/>
        </p:spPr>
        <p:txBody>
          <a:bodyPr wrap="square">
            <a:spAutoFit/>
          </a:bodyPr>
          <a:lstStyle/>
          <a:p>
            <a:pPr algn="l"/>
            <a:r>
              <a:rPr sz="1100" b="0" i="0">
                <a:solidFill>
                  <a:srgbClr val="1A1A2E"/>
                </a:solidFill>
                <a:latin typeface="Calibri"/>
              </a:rPr>
              <a:t>64×64×64</a:t>
            </a:r>
          </a:p>
        </p:txBody>
      </p:sp>
      <p:sp>
        <p:nvSpPr>
          <p:cNvPr id="73" name="Rectangle 72"/>
          <p:cNvSpPr/>
          <p:nvPr/>
        </p:nvSpPr>
        <p:spPr>
          <a:xfrm>
            <a:off x="7955279" y="4617720"/>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046719" y="4654296"/>
            <a:ext cx="2926079" cy="265176"/>
          </a:xfrm>
          <a:prstGeom prst="rect">
            <a:avLst/>
          </a:prstGeom>
          <a:noFill/>
        </p:spPr>
        <p:txBody>
          <a:bodyPr wrap="square">
            <a:spAutoFit/>
          </a:bodyPr>
          <a:lstStyle/>
          <a:p>
            <a:pPr algn="l"/>
            <a:r>
              <a:rPr sz="1100" b="0" i="0">
                <a:solidFill>
                  <a:srgbClr val="1A1A2E"/>
                </a:solidFill>
                <a:latin typeface="Calibri"/>
              </a:rPr>
              <a:t>~148 K</a:t>
            </a:r>
          </a:p>
        </p:txBody>
      </p:sp>
      <p:sp>
        <p:nvSpPr>
          <p:cNvPr id="75" name="Rectangle 74"/>
          <p:cNvSpPr/>
          <p:nvPr/>
        </p:nvSpPr>
        <p:spPr>
          <a:xfrm>
            <a:off x="274320" y="4956048"/>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65760" y="4992624"/>
            <a:ext cx="4023359" cy="265176"/>
          </a:xfrm>
          <a:prstGeom prst="rect">
            <a:avLst/>
          </a:prstGeom>
          <a:noFill/>
        </p:spPr>
        <p:txBody>
          <a:bodyPr wrap="square">
            <a:spAutoFit/>
          </a:bodyPr>
          <a:lstStyle/>
          <a:p>
            <a:pPr algn="l"/>
            <a:r>
              <a:rPr sz="1100" b="0" i="0">
                <a:solidFill>
                  <a:srgbClr val="1A1A2E"/>
                </a:solidFill>
                <a:latin typeface="Calibri"/>
              </a:rPr>
              <a:t>AdaptiveAvgPool + Linear</a:t>
            </a:r>
          </a:p>
        </p:txBody>
      </p:sp>
      <p:sp>
        <p:nvSpPr>
          <p:cNvPr id="77" name="Rectangle 76"/>
          <p:cNvSpPr/>
          <p:nvPr/>
        </p:nvSpPr>
        <p:spPr>
          <a:xfrm>
            <a:off x="4663440" y="4956048"/>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754879" y="4992624"/>
            <a:ext cx="2926079" cy="265176"/>
          </a:xfrm>
          <a:prstGeom prst="rect">
            <a:avLst/>
          </a:prstGeom>
          <a:noFill/>
        </p:spPr>
        <p:txBody>
          <a:bodyPr wrap="square">
            <a:spAutoFit/>
          </a:bodyPr>
          <a:lstStyle/>
          <a:p>
            <a:pPr algn="l"/>
            <a:r>
              <a:rPr sz="1100" b="0" i="0">
                <a:solidFill>
                  <a:srgbClr val="1A1A2E"/>
                </a:solidFill>
                <a:latin typeface="Calibri"/>
              </a:rPr>
              <a:t>10</a:t>
            </a:r>
          </a:p>
        </p:txBody>
      </p:sp>
      <p:sp>
        <p:nvSpPr>
          <p:cNvPr id="79" name="Rectangle 78"/>
          <p:cNvSpPr/>
          <p:nvPr/>
        </p:nvSpPr>
        <p:spPr>
          <a:xfrm>
            <a:off x="7955279" y="4956048"/>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046719" y="4992624"/>
            <a:ext cx="2926079" cy="265176"/>
          </a:xfrm>
          <a:prstGeom prst="rect">
            <a:avLst/>
          </a:prstGeom>
          <a:noFill/>
        </p:spPr>
        <p:txBody>
          <a:bodyPr wrap="square">
            <a:spAutoFit/>
          </a:bodyPr>
          <a:lstStyle/>
          <a:p>
            <a:pPr algn="l"/>
            <a:r>
              <a:rPr sz="1100" b="0" i="0">
                <a:solidFill>
                  <a:srgbClr val="1A1A2E"/>
                </a:solidFill>
                <a:latin typeface="Calibri"/>
              </a:rPr>
              <a:t>650</a:t>
            </a:r>
          </a:p>
        </p:txBody>
      </p:sp>
      <p:sp>
        <p:nvSpPr>
          <p:cNvPr id="81" name="Rectangle 80"/>
          <p:cNvSpPr/>
          <p:nvPr/>
        </p:nvSpPr>
        <p:spPr>
          <a:xfrm>
            <a:off x="274320" y="5294376"/>
            <a:ext cx="4160520" cy="33832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65760" y="5330952"/>
            <a:ext cx="4023359" cy="265176"/>
          </a:xfrm>
          <a:prstGeom prst="rect">
            <a:avLst/>
          </a:prstGeom>
          <a:noFill/>
        </p:spPr>
        <p:txBody>
          <a:bodyPr wrap="square">
            <a:spAutoFit/>
          </a:bodyPr>
          <a:lstStyle/>
          <a:p>
            <a:pPr algn="l"/>
            <a:r>
              <a:rPr sz="1100" b="1" i="0">
                <a:solidFill>
                  <a:srgbClr val="FFFFFF"/>
                </a:solidFill>
                <a:latin typeface="Calibri"/>
              </a:rPr>
              <a:t>TOTAL</a:t>
            </a:r>
          </a:p>
        </p:txBody>
      </p:sp>
      <p:sp>
        <p:nvSpPr>
          <p:cNvPr id="83" name="Rectangle 82"/>
          <p:cNvSpPr/>
          <p:nvPr/>
        </p:nvSpPr>
        <p:spPr>
          <a:xfrm>
            <a:off x="4663440" y="5294376"/>
            <a:ext cx="3063240" cy="33832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754879" y="5330952"/>
            <a:ext cx="2926079" cy="265176"/>
          </a:xfrm>
          <a:prstGeom prst="rect">
            <a:avLst/>
          </a:prstGeom>
          <a:noFill/>
        </p:spPr>
        <p:txBody>
          <a:bodyPr wrap="square">
            <a:spAutoFit/>
          </a:bodyPr>
          <a:lstStyle/>
          <a:p>
            <a:pPr algn="l"/>
            <a:endParaRPr/>
          </a:p>
        </p:txBody>
      </p:sp>
      <p:sp>
        <p:nvSpPr>
          <p:cNvPr id="85" name="Rectangle 84"/>
          <p:cNvSpPr/>
          <p:nvPr/>
        </p:nvSpPr>
        <p:spPr>
          <a:xfrm>
            <a:off x="7955279" y="5294376"/>
            <a:ext cx="3063240" cy="33832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046719" y="5330952"/>
            <a:ext cx="2926079" cy="265176"/>
          </a:xfrm>
          <a:prstGeom prst="rect">
            <a:avLst/>
          </a:prstGeom>
          <a:noFill/>
        </p:spPr>
        <p:txBody>
          <a:bodyPr wrap="square">
            <a:spAutoFit/>
          </a:bodyPr>
          <a:lstStyle/>
          <a:p>
            <a:pPr algn="l"/>
            <a:r>
              <a:rPr sz="1100" b="1" i="0">
                <a:solidFill>
                  <a:srgbClr val="FFFFFF"/>
                </a:solidFill>
                <a:latin typeface="Calibri"/>
              </a:rPr>
              <a:t>~8.1 M</a:t>
            </a:r>
          </a:p>
        </p:txBody>
      </p:sp>
      <p:sp>
        <p:nvSpPr>
          <p:cNvPr id="87" name="Rectangle 86"/>
          <p:cNvSpPr/>
          <p:nvPr/>
        </p:nvSpPr>
        <p:spPr>
          <a:xfrm>
            <a:off x="274320" y="562356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47472" y="5669280"/>
            <a:ext cx="2596896" cy="502920"/>
          </a:xfrm>
          <a:prstGeom prst="rect">
            <a:avLst/>
          </a:prstGeom>
          <a:noFill/>
        </p:spPr>
        <p:txBody>
          <a:bodyPr wrap="square">
            <a:spAutoFit/>
          </a:bodyPr>
          <a:lstStyle/>
          <a:p>
            <a:pPr algn="ctr"/>
            <a:r>
              <a:rPr sz="2600" b="1" i="0">
                <a:solidFill>
                  <a:srgbClr val="E88C00"/>
                </a:solidFill>
                <a:latin typeface="Calibri"/>
              </a:rPr>
              <a:t>8.1 M</a:t>
            </a:r>
          </a:p>
        </p:txBody>
      </p:sp>
      <p:sp>
        <p:nvSpPr>
          <p:cNvPr id="89" name="TextBox 88"/>
          <p:cNvSpPr txBox="1"/>
          <p:nvPr/>
        </p:nvSpPr>
        <p:spPr>
          <a:xfrm>
            <a:off x="347472" y="6172200"/>
            <a:ext cx="2596896" cy="411480"/>
          </a:xfrm>
          <a:prstGeom prst="rect">
            <a:avLst/>
          </a:prstGeom>
          <a:noFill/>
        </p:spPr>
        <p:txBody>
          <a:bodyPr wrap="square">
            <a:spAutoFit/>
          </a:bodyPr>
          <a:lstStyle/>
          <a:p>
            <a:pPr algn="ctr"/>
            <a:r>
              <a:rPr sz="1200" b="0" i="0">
                <a:solidFill>
                  <a:srgbClr val="FFFFFF"/>
                </a:solidFill>
                <a:latin typeface="Calibri"/>
              </a:rPr>
              <a:t>Total Parameters</a:t>
            </a:r>
          </a:p>
        </p:txBody>
      </p:sp>
      <p:sp>
        <p:nvSpPr>
          <p:cNvPr id="90" name="Rectangle 89"/>
          <p:cNvSpPr/>
          <p:nvPr/>
        </p:nvSpPr>
        <p:spPr>
          <a:xfrm>
            <a:off x="3200400" y="562356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273552" y="5669280"/>
            <a:ext cx="2596896" cy="502920"/>
          </a:xfrm>
          <a:prstGeom prst="rect">
            <a:avLst/>
          </a:prstGeom>
          <a:noFill/>
        </p:spPr>
        <p:txBody>
          <a:bodyPr wrap="square">
            <a:spAutoFit/>
          </a:bodyPr>
          <a:lstStyle/>
          <a:p>
            <a:pPr algn="ctr"/>
            <a:r>
              <a:rPr sz="2600" b="1" i="0">
                <a:solidFill>
                  <a:srgbClr val="E88C00"/>
                </a:solidFill>
                <a:latin typeface="Calibri"/>
              </a:rPr>
              <a:t>30.9 MB</a:t>
            </a:r>
          </a:p>
        </p:txBody>
      </p:sp>
      <p:sp>
        <p:nvSpPr>
          <p:cNvPr id="92" name="TextBox 91"/>
          <p:cNvSpPr txBox="1"/>
          <p:nvPr/>
        </p:nvSpPr>
        <p:spPr>
          <a:xfrm>
            <a:off x="3273552" y="6172200"/>
            <a:ext cx="2596896" cy="411480"/>
          </a:xfrm>
          <a:prstGeom prst="rect">
            <a:avLst/>
          </a:prstGeom>
          <a:noFill/>
        </p:spPr>
        <p:txBody>
          <a:bodyPr wrap="square">
            <a:spAutoFit/>
          </a:bodyPr>
          <a:lstStyle/>
          <a:p>
            <a:pPr algn="ctr"/>
            <a:r>
              <a:rPr sz="1200" b="0" i="0">
                <a:solidFill>
                  <a:srgbClr val="FFFFFF"/>
                </a:solidFill>
                <a:latin typeface="Calibri"/>
              </a:rPr>
              <a:t>Model Size</a:t>
            </a:r>
          </a:p>
        </p:txBody>
      </p:sp>
      <p:sp>
        <p:nvSpPr>
          <p:cNvPr id="93" name="Rectangle 92"/>
          <p:cNvSpPr/>
          <p:nvPr/>
        </p:nvSpPr>
        <p:spPr>
          <a:xfrm>
            <a:off x="6126480" y="562356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199632" y="5669280"/>
            <a:ext cx="2596896" cy="502920"/>
          </a:xfrm>
          <a:prstGeom prst="rect">
            <a:avLst/>
          </a:prstGeom>
          <a:noFill/>
        </p:spPr>
        <p:txBody>
          <a:bodyPr wrap="square">
            <a:spAutoFit/>
          </a:bodyPr>
          <a:lstStyle/>
          <a:p>
            <a:pPr algn="ctr"/>
            <a:r>
              <a:rPr sz="2600" b="1" i="0">
                <a:solidFill>
                  <a:srgbClr val="E88C00"/>
                </a:solidFill>
                <a:latin typeface="Calibri"/>
              </a:rPr>
              <a:t>24</a:t>
            </a:r>
          </a:p>
        </p:txBody>
      </p:sp>
      <p:sp>
        <p:nvSpPr>
          <p:cNvPr id="95" name="TextBox 94"/>
          <p:cNvSpPr txBox="1"/>
          <p:nvPr/>
        </p:nvSpPr>
        <p:spPr>
          <a:xfrm>
            <a:off x="6199632" y="6172200"/>
            <a:ext cx="2596896" cy="411480"/>
          </a:xfrm>
          <a:prstGeom prst="rect">
            <a:avLst/>
          </a:prstGeom>
          <a:noFill/>
        </p:spPr>
        <p:txBody>
          <a:bodyPr wrap="square">
            <a:spAutoFit/>
          </a:bodyPr>
          <a:lstStyle/>
          <a:p>
            <a:pPr algn="ctr"/>
            <a:r>
              <a:rPr sz="1200" b="0" i="0">
                <a:solidFill>
                  <a:srgbClr val="FFFFFF"/>
                </a:solidFill>
                <a:latin typeface="Calibri"/>
              </a:rPr>
              <a:t>Trained (best epoch)</a:t>
            </a:r>
          </a:p>
        </p:txBody>
      </p:sp>
      <p:sp>
        <p:nvSpPr>
          <p:cNvPr id="96" name="Rectangle 95"/>
          <p:cNvSpPr/>
          <p:nvPr/>
        </p:nvSpPr>
        <p:spPr>
          <a:xfrm>
            <a:off x="9052560" y="562356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9125712" y="5669280"/>
            <a:ext cx="2596896" cy="502920"/>
          </a:xfrm>
          <a:prstGeom prst="rect">
            <a:avLst/>
          </a:prstGeom>
          <a:noFill/>
        </p:spPr>
        <p:txBody>
          <a:bodyPr wrap="square">
            <a:spAutoFit/>
          </a:bodyPr>
          <a:lstStyle/>
          <a:p>
            <a:pPr algn="ctr"/>
            <a:r>
              <a:rPr sz="2600" b="1" i="0">
                <a:solidFill>
                  <a:srgbClr val="E88C00"/>
                </a:solidFill>
                <a:latin typeface="Calibri"/>
              </a:rPr>
              <a:t>96.10 %</a:t>
            </a:r>
          </a:p>
        </p:txBody>
      </p:sp>
      <p:sp>
        <p:nvSpPr>
          <p:cNvPr id="98" name="TextBox 97"/>
          <p:cNvSpPr txBox="1"/>
          <p:nvPr/>
        </p:nvSpPr>
        <p:spPr>
          <a:xfrm>
            <a:off x="9125712" y="6172200"/>
            <a:ext cx="2596896" cy="411480"/>
          </a:xfrm>
          <a:prstGeom prst="rect">
            <a:avLst/>
          </a:prstGeom>
          <a:noFill/>
        </p:spPr>
        <p:txBody>
          <a:bodyPr wrap="square">
            <a:spAutoFit/>
          </a:bodyPr>
          <a:lstStyle/>
          <a:p>
            <a:pPr algn="ctr"/>
            <a:r>
              <a:rPr sz="1200" b="0" i="0">
                <a:solidFill>
                  <a:srgbClr val="FFFFFF"/>
                </a:solidFill>
                <a:latin typeface="Calibri"/>
              </a:rPr>
              <a:t>Test Accuracy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Training Techniques &amp; Hyperparameters</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Identical conditions for both models — fair comparison</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9" name="Rectangle 8"/>
          <p:cNvSpPr/>
          <p:nvPr/>
        </p:nvSpPr>
        <p:spPr>
          <a:xfrm>
            <a:off x="274320" y="1234440"/>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1316736"/>
            <a:ext cx="2926080" cy="420624"/>
          </a:xfrm>
          <a:prstGeom prst="rect">
            <a:avLst/>
          </a:prstGeom>
          <a:noFill/>
        </p:spPr>
        <p:txBody>
          <a:bodyPr wrap="square">
            <a:spAutoFit/>
          </a:bodyPr>
          <a:lstStyle/>
          <a:p>
            <a:pPr algn="l"/>
            <a:r>
              <a:rPr sz="1400" b="1" i="0">
                <a:solidFill>
                  <a:srgbClr val="FFFFFF"/>
                </a:solidFill>
                <a:latin typeface="Calibri"/>
              </a:rPr>
              <a:t>Optimizer</a:t>
            </a:r>
          </a:p>
        </p:txBody>
      </p:sp>
      <p:sp>
        <p:nvSpPr>
          <p:cNvPr id="11" name="Rectangle 10"/>
          <p:cNvSpPr/>
          <p:nvPr/>
        </p:nvSpPr>
        <p:spPr>
          <a:xfrm>
            <a:off x="3520440" y="1234440"/>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1316736"/>
            <a:ext cx="8046720" cy="420624"/>
          </a:xfrm>
          <a:prstGeom prst="rect">
            <a:avLst/>
          </a:prstGeom>
          <a:noFill/>
        </p:spPr>
        <p:txBody>
          <a:bodyPr wrap="square">
            <a:spAutoFit/>
          </a:bodyPr>
          <a:lstStyle/>
          <a:p>
            <a:pPr algn="l"/>
            <a:r>
              <a:rPr sz="1400" b="0" i="0">
                <a:solidFill>
                  <a:srgbClr val="1A1A2E"/>
                </a:solidFill>
                <a:latin typeface="Calibri"/>
              </a:rPr>
              <a:t>Adam (lr = 0.001)  —  stable convergence for both models</a:t>
            </a:r>
          </a:p>
        </p:txBody>
      </p:sp>
      <p:sp>
        <p:nvSpPr>
          <p:cNvPr id="13" name="Rectangle 12"/>
          <p:cNvSpPr/>
          <p:nvPr/>
        </p:nvSpPr>
        <p:spPr>
          <a:xfrm>
            <a:off x="274320" y="1892808"/>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1975104"/>
            <a:ext cx="2926080" cy="420624"/>
          </a:xfrm>
          <a:prstGeom prst="rect">
            <a:avLst/>
          </a:prstGeom>
          <a:noFill/>
        </p:spPr>
        <p:txBody>
          <a:bodyPr wrap="square">
            <a:spAutoFit/>
          </a:bodyPr>
          <a:lstStyle/>
          <a:p>
            <a:pPr algn="l"/>
            <a:r>
              <a:rPr sz="1400" b="1" i="0">
                <a:solidFill>
                  <a:srgbClr val="FFFFFF"/>
                </a:solidFill>
                <a:latin typeface="Calibri"/>
              </a:rPr>
              <a:t>Loss function</a:t>
            </a:r>
          </a:p>
        </p:txBody>
      </p:sp>
      <p:sp>
        <p:nvSpPr>
          <p:cNvPr id="15" name="Rectangle 14"/>
          <p:cNvSpPr/>
          <p:nvPr/>
        </p:nvSpPr>
        <p:spPr>
          <a:xfrm>
            <a:off x="3520440" y="1892808"/>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0" y="1975104"/>
            <a:ext cx="8046720" cy="420624"/>
          </a:xfrm>
          <a:prstGeom prst="rect">
            <a:avLst/>
          </a:prstGeom>
          <a:noFill/>
        </p:spPr>
        <p:txBody>
          <a:bodyPr wrap="square">
            <a:spAutoFit/>
          </a:bodyPr>
          <a:lstStyle/>
          <a:p>
            <a:pPr algn="l"/>
            <a:r>
              <a:rPr sz="1400" b="0" i="0">
                <a:solidFill>
                  <a:srgbClr val="1A1A2E"/>
                </a:solidFill>
                <a:latin typeface="Calibri"/>
              </a:rPr>
              <a:t>CrossEntropyLoss  —  standard multi-class classification</a:t>
            </a:r>
          </a:p>
        </p:txBody>
      </p:sp>
      <p:sp>
        <p:nvSpPr>
          <p:cNvPr id="17" name="Rectangle 16"/>
          <p:cNvSpPr/>
          <p:nvPr/>
        </p:nvSpPr>
        <p:spPr>
          <a:xfrm>
            <a:off x="274320" y="2551176"/>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2633472"/>
            <a:ext cx="2926080" cy="420624"/>
          </a:xfrm>
          <a:prstGeom prst="rect">
            <a:avLst/>
          </a:prstGeom>
          <a:noFill/>
        </p:spPr>
        <p:txBody>
          <a:bodyPr wrap="square">
            <a:spAutoFit/>
          </a:bodyPr>
          <a:lstStyle/>
          <a:p>
            <a:pPr algn="l"/>
            <a:r>
              <a:rPr sz="1400" b="1" i="0">
                <a:solidFill>
                  <a:srgbClr val="FFFFFF"/>
                </a:solidFill>
                <a:latin typeface="Calibri"/>
              </a:rPr>
              <a:t>Batch size</a:t>
            </a:r>
          </a:p>
        </p:txBody>
      </p:sp>
      <p:sp>
        <p:nvSpPr>
          <p:cNvPr id="19" name="Rectangle 18"/>
          <p:cNvSpPr/>
          <p:nvPr/>
        </p:nvSpPr>
        <p:spPr>
          <a:xfrm>
            <a:off x="3520440" y="2551176"/>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0" y="2633472"/>
            <a:ext cx="8046720" cy="420624"/>
          </a:xfrm>
          <a:prstGeom prst="rect">
            <a:avLst/>
          </a:prstGeom>
          <a:noFill/>
        </p:spPr>
        <p:txBody>
          <a:bodyPr wrap="square">
            <a:spAutoFit/>
          </a:bodyPr>
          <a:lstStyle/>
          <a:p>
            <a:pPr algn="l"/>
            <a:r>
              <a:rPr sz="1400" b="0" i="0">
                <a:solidFill>
                  <a:srgbClr val="1A1A2E"/>
                </a:solidFill>
                <a:latin typeface="Calibri"/>
              </a:rPr>
              <a:t>64  —  balances gradient noise vs. GPU memory</a:t>
            </a:r>
          </a:p>
        </p:txBody>
      </p:sp>
      <p:sp>
        <p:nvSpPr>
          <p:cNvPr id="21" name="Rectangle 20"/>
          <p:cNvSpPr/>
          <p:nvPr/>
        </p:nvSpPr>
        <p:spPr>
          <a:xfrm>
            <a:off x="274320" y="3209544"/>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3291839"/>
            <a:ext cx="2926080" cy="420624"/>
          </a:xfrm>
          <a:prstGeom prst="rect">
            <a:avLst/>
          </a:prstGeom>
          <a:noFill/>
        </p:spPr>
        <p:txBody>
          <a:bodyPr wrap="square">
            <a:spAutoFit/>
          </a:bodyPr>
          <a:lstStyle/>
          <a:p>
            <a:pPr algn="l"/>
            <a:r>
              <a:rPr sz="1400" b="1" i="0">
                <a:solidFill>
                  <a:srgbClr val="FFFFFF"/>
                </a:solidFill>
                <a:latin typeface="Calibri"/>
              </a:rPr>
              <a:t>Max epochs</a:t>
            </a:r>
          </a:p>
        </p:txBody>
      </p:sp>
      <p:sp>
        <p:nvSpPr>
          <p:cNvPr id="23" name="Rectangle 22"/>
          <p:cNvSpPr/>
          <p:nvPr/>
        </p:nvSpPr>
        <p:spPr>
          <a:xfrm>
            <a:off x="3520440" y="3209544"/>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0" y="3291839"/>
            <a:ext cx="8046720" cy="420624"/>
          </a:xfrm>
          <a:prstGeom prst="rect">
            <a:avLst/>
          </a:prstGeom>
          <a:noFill/>
        </p:spPr>
        <p:txBody>
          <a:bodyPr wrap="square">
            <a:spAutoFit/>
          </a:bodyPr>
          <a:lstStyle/>
          <a:p>
            <a:pPr algn="l"/>
            <a:r>
              <a:rPr sz="1400" b="0" i="0">
                <a:solidFill>
                  <a:srgbClr val="1A1A2E"/>
                </a:solidFill>
                <a:latin typeface="Calibri"/>
              </a:rPr>
              <a:t>50  —  upper bound; early stopping usually triggers earlier</a:t>
            </a:r>
          </a:p>
        </p:txBody>
      </p:sp>
      <p:sp>
        <p:nvSpPr>
          <p:cNvPr id="25" name="Rectangle 24"/>
          <p:cNvSpPr/>
          <p:nvPr/>
        </p:nvSpPr>
        <p:spPr>
          <a:xfrm>
            <a:off x="274320" y="3867911"/>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80" y="3950207"/>
            <a:ext cx="2926080" cy="420624"/>
          </a:xfrm>
          <a:prstGeom prst="rect">
            <a:avLst/>
          </a:prstGeom>
          <a:noFill/>
        </p:spPr>
        <p:txBody>
          <a:bodyPr wrap="square">
            <a:spAutoFit/>
          </a:bodyPr>
          <a:lstStyle/>
          <a:p>
            <a:pPr algn="l"/>
            <a:r>
              <a:rPr sz="1400" b="1" i="0">
                <a:solidFill>
                  <a:srgbClr val="FFFFFF"/>
                </a:solidFill>
                <a:latin typeface="Calibri"/>
              </a:rPr>
              <a:t>Early stopping</a:t>
            </a:r>
          </a:p>
        </p:txBody>
      </p:sp>
      <p:sp>
        <p:nvSpPr>
          <p:cNvPr id="27" name="Rectangle 26"/>
          <p:cNvSpPr/>
          <p:nvPr/>
        </p:nvSpPr>
        <p:spPr>
          <a:xfrm>
            <a:off x="3520440" y="3867911"/>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0" y="3950207"/>
            <a:ext cx="8046720" cy="420624"/>
          </a:xfrm>
          <a:prstGeom prst="rect">
            <a:avLst/>
          </a:prstGeom>
          <a:noFill/>
        </p:spPr>
        <p:txBody>
          <a:bodyPr wrap="square">
            <a:spAutoFit/>
          </a:bodyPr>
          <a:lstStyle/>
          <a:p>
            <a:pPr algn="l"/>
            <a:r>
              <a:rPr sz="1400" b="0" i="0">
                <a:solidFill>
                  <a:srgbClr val="1A1A2E"/>
                </a:solidFill>
                <a:latin typeface="Calibri"/>
              </a:rPr>
              <a:t>Patience = 5 epochs; min_delta = 0.001 (CNN) / 0.0 (U-Net)</a:t>
            </a:r>
          </a:p>
        </p:txBody>
      </p:sp>
      <p:sp>
        <p:nvSpPr>
          <p:cNvPr id="29" name="Rectangle 28"/>
          <p:cNvSpPr/>
          <p:nvPr/>
        </p:nvSpPr>
        <p:spPr>
          <a:xfrm>
            <a:off x="274320" y="4526279"/>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608575"/>
            <a:ext cx="2926080" cy="420624"/>
          </a:xfrm>
          <a:prstGeom prst="rect">
            <a:avLst/>
          </a:prstGeom>
          <a:noFill/>
        </p:spPr>
        <p:txBody>
          <a:bodyPr wrap="square">
            <a:spAutoFit/>
          </a:bodyPr>
          <a:lstStyle/>
          <a:p>
            <a:pPr algn="l"/>
            <a:r>
              <a:rPr sz="1400" b="1" i="0">
                <a:solidFill>
                  <a:srgbClr val="FFFFFF"/>
                </a:solidFill>
                <a:latin typeface="Calibri"/>
              </a:rPr>
              <a:t>Checkpoint</a:t>
            </a:r>
          </a:p>
        </p:txBody>
      </p:sp>
      <p:sp>
        <p:nvSpPr>
          <p:cNvPr id="31" name="Rectangle 30"/>
          <p:cNvSpPr/>
          <p:nvPr/>
        </p:nvSpPr>
        <p:spPr>
          <a:xfrm>
            <a:off x="3520440" y="4526279"/>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57600" y="4608575"/>
            <a:ext cx="8046720" cy="420624"/>
          </a:xfrm>
          <a:prstGeom prst="rect">
            <a:avLst/>
          </a:prstGeom>
          <a:noFill/>
        </p:spPr>
        <p:txBody>
          <a:bodyPr wrap="square">
            <a:spAutoFit/>
          </a:bodyPr>
          <a:lstStyle/>
          <a:p>
            <a:pPr algn="l"/>
            <a:r>
              <a:rPr sz="1400" b="0" i="0">
                <a:solidFill>
                  <a:srgbClr val="1A1A2E"/>
                </a:solidFill>
                <a:latin typeface="Calibri"/>
              </a:rPr>
              <a:t>Best model saved when val_loss improves; used for final eval</a:t>
            </a:r>
          </a:p>
        </p:txBody>
      </p:sp>
      <p:sp>
        <p:nvSpPr>
          <p:cNvPr id="33" name="Rectangle 32"/>
          <p:cNvSpPr/>
          <p:nvPr/>
        </p:nvSpPr>
        <p:spPr>
          <a:xfrm>
            <a:off x="274320" y="5184647"/>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11480" y="5266943"/>
            <a:ext cx="2926080" cy="420624"/>
          </a:xfrm>
          <a:prstGeom prst="rect">
            <a:avLst/>
          </a:prstGeom>
          <a:noFill/>
        </p:spPr>
        <p:txBody>
          <a:bodyPr wrap="square">
            <a:spAutoFit/>
          </a:bodyPr>
          <a:lstStyle/>
          <a:p>
            <a:pPr algn="l"/>
            <a:r>
              <a:rPr sz="1400" b="1" i="0">
                <a:solidFill>
                  <a:srgbClr val="FFFFFF"/>
                </a:solidFill>
                <a:latin typeface="Calibri"/>
              </a:rPr>
              <a:t>Random seed</a:t>
            </a:r>
          </a:p>
        </p:txBody>
      </p:sp>
      <p:sp>
        <p:nvSpPr>
          <p:cNvPr id="35" name="Rectangle 34"/>
          <p:cNvSpPr/>
          <p:nvPr/>
        </p:nvSpPr>
        <p:spPr>
          <a:xfrm>
            <a:off x="3520440" y="5184647"/>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0" y="5266943"/>
            <a:ext cx="8046720" cy="420624"/>
          </a:xfrm>
          <a:prstGeom prst="rect">
            <a:avLst/>
          </a:prstGeom>
          <a:noFill/>
        </p:spPr>
        <p:txBody>
          <a:bodyPr wrap="square">
            <a:spAutoFit/>
          </a:bodyPr>
          <a:lstStyle/>
          <a:p>
            <a:pPr algn="l"/>
            <a:r>
              <a:rPr sz="1400" b="0" i="0">
                <a:solidFill>
                  <a:srgbClr val="1A1A2E"/>
                </a:solidFill>
                <a:latin typeface="Calibri"/>
              </a:rPr>
              <a:t>42 for both data split and weight init — full reproducibility</a:t>
            </a:r>
          </a:p>
        </p:txBody>
      </p:sp>
      <p:sp>
        <p:nvSpPr>
          <p:cNvPr id="37" name="Rectangle 36"/>
          <p:cNvSpPr/>
          <p:nvPr/>
        </p:nvSpPr>
        <p:spPr>
          <a:xfrm>
            <a:off x="274320" y="5843015"/>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1480" y="5925311"/>
            <a:ext cx="2926080" cy="420624"/>
          </a:xfrm>
          <a:prstGeom prst="rect">
            <a:avLst/>
          </a:prstGeom>
          <a:noFill/>
        </p:spPr>
        <p:txBody>
          <a:bodyPr wrap="square">
            <a:spAutoFit/>
          </a:bodyPr>
          <a:lstStyle/>
          <a:p>
            <a:pPr algn="l"/>
            <a:r>
              <a:rPr sz="1400" b="1" i="0">
                <a:solidFill>
                  <a:srgbClr val="FFFFFF"/>
                </a:solidFill>
                <a:latin typeface="Calibri"/>
              </a:rPr>
              <a:t>Device</a:t>
            </a:r>
          </a:p>
        </p:txBody>
      </p:sp>
      <p:sp>
        <p:nvSpPr>
          <p:cNvPr id="39" name="Rectangle 38"/>
          <p:cNvSpPr/>
          <p:nvPr/>
        </p:nvSpPr>
        <p:spPr>
          <a:xfrm>
            <a:off x="3520440" y="5843015"/>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0" y="5925311"/>
            <a:ext cx="8046720" cy="420624"/>
          </a:xfrm>
          <a:prstGeom prst="rect">
            <a:avLst/>
          </a:prstGeom>
          <a:noFill/>
        </p:spPr>
        <p:txBody>
          <a:bodyPr wrap="square">
            <a:spAutoFit/>
          </a:bodyPr>
          <a:lstStyle/>
          <a:p>
            <a:pPr algn="l"/>
            <a:r>
              <a:rPr sz="1400" b="0" i="0">
                <a:solidFill>
                  <a:srgbClr val="1A1A2E"/>
                </a:solidFill>
                <a:latin typeface="Calibri"/>
              </a:rPr>
              <a:t>CUDA GPU if available, else CPU</a:t>
            </a:r>
          </a:p>
        </p:txBody>
      </p:sp>
      <p:sp>
        <p:nvSpPr>
          <p:cNvPr id="41" name="Rectangle 40"/>
          <p:cNvSpPr/>
          <p:nvPr/>
        </p:nvSpPr>
        <p:spPr>
          <a:xfrm>
            <a:off x="274320" y="6446520"/>
            <a:ext cx="11612880" cy="347472"/>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1480" y="6455664"/>
            <a:ext cx="11338560" cy="329184"/>
          </a:xfrm>
          <a:prstGeom prst="rect">
            <a:avLst/>
          </a:prstGeom>
          <a:noFill/>
        </p:spPr>
        <p:txBody>
          <a:bodyPr wrap="square">
            <a:spAutoFit/>
          </a:bodyPr>
          <a:lstStyle/>
          <a:p>
            <a:pPr algn="l"/>
            <a:r>
              <a:rPr sz="1200" b="1" i="0">
                <a:solidFill>
                  <a:srgbClr val="1A1A2E"/>
                </a:solidFill>
                <a:latin typeface="Calibri"/>
              </a:rPr>
              <a:t>Early stopping saved 34 epochs for SimpleCNN · 21 epochs for U-Net  —  protects against overfitting by selecting best validation checkpoint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Testing Protocol &amp; Evaluation Metrics</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4,050 held-out images  ·  never seen during training or tuning</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p>
        </p:txBody>
      </p:sp>
      <p:sp>
        <p:nvSpPr>
          <p:cNvPr id="9" name="Rectangle 8"/>
          <p:cNvSpPr/>
          <p:nvPr/>
        </p:nvSpPr>
        <p:spPr>
          <a:xfrm>
            <a:off x="274320" y="1234440"/>
            <a:ext cx="2743200" cy="1645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280160"/>
            <a:ext cx="2560320" cy="502920"/>
          </a:xfrm>
          <a:prstGeom prst="rect">
            <a:avLst/>
          </a:prstGeom>
          <a:noFill/>
        </p:spPr>
        <p:txBody>
          <a:bodyPr wrap="square">
            <a:spAutoFit/>
          </a:bodyPr>
          <a:lstStyle/>
          <a:p>
            <a:pPr algn="ctr"/>
            <a:r>
              <a:rPr sz="1700" b="1" i="0">
                <a:solidFill>
                  <a:srgbClr val="E88C00"/>
                </a:solidFill>
                <a:latin typeface="Calibri"/>
              </a:rPr>
              <a:t>Accuracy</a:t>
            </a:r>
          </a:p>
        </p:txBody>
      </p:sp>
      <p:sp>
        <p:nvSpPr>
          <p:cNvPr id="11" name="TextBox 10"/>
          <p:cNvSpPr txBox="1"/>
          <p:nvPr/>
        </p:nvSpPr>
        <p:spPr>
          <a:xfrm>
            <a:off x="365760" y="1828800"/>
            <a:ext cx="2560320" cy="1005840"/>
          </a:xfrm>
          <a:prstGeom prst="rect">
            <a:avLst/>
          </a:prstGeom>
          <a:noFill/>
        </p:spPr>
        <p:txBody>
          <a:bodyPr wrap="square">
            <a:spAutoFit/>
          </a:bodyPr>
          <a:lstStyle/>
          <a:p>
            <a:pPr algn="ctr"/>
            <a:r>
              <a:rPr sz="1300" b="0" i="0">
                <a:solidFill>
                  <a:srgbClr val="FFFFFF"/>
                </a:solidFill>
                <a:latin typeface="Calibri"/>
              </a:rPr>
              <a:t>Fraction of correctly classified images
(all 4,050 test samples)</a:t>
            </a:r>
          </a:p>
        </p:txBody>
      </p:sp>
      <p:sp>
        <p:nvSpPr>
          <p:cNvPr id="12" name="Rectangle 11"/>
          <p:cNvSpPr/>
          <p:nvPr/>
        </p:nvSpPr>
        <p:spPr>
          <a:xfrm>
            <a:off x="3246120" y="1234440"/>
            <a:ext cx="2743200" cy="1645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37560" y="1280160"/>
            <a:ext cx="2560320" cy="502920"/>
          </a:xfrm>
          <a:prstGeom prst="rect">
            <a:avLst/>
          </a:prstGeom>
          <a:noFill/>
        </p:spPr>
        <p:txBody>
          <a:bodyPr wrap="square">
            <a:spAutoFit/>
          </a:bodyPr>
          <a:lstStyle/>
          <a:p>
            <a:pPr algn="ctr"/>
            <a:r>
              <a:rPr sz="1700" b="1" i="0">
                <a:solidFill>
                  <a:srgbClr val="E88C00"/>
                </a:solidFill>
                <a:latin typeface="Calibri"/>
              </a:rPr>
              <a:t>Weighted F1</a:t>
            </a:r>
          </a:p>
        </p:txBody>
      </p:sp>
      <p:sp>
        <p:nvSpPr>
          <p:cNvPr id="14" name="TextBox 13"/>
          <p:cNvSpPr txBox="1"/>
          <p:nvPr/>
        </p:nvSpPr>
        <p:spPr>
          <a:xfrm>
            <a:off x="3337560" y="1828800"/>
            <a:ext cx="2560320" cy="1005840"/>
          </a:xfrm>
          <a:prstGeom prst="rect">
            <a:avLst/>
          </a:prstGeom>
          <a:noFill/>
        </p:spPr>
        <p:txBody>
          <a:bodyPr wrap="square">
            <a:spAutoFit/>
          </a:bodyPr>
          <a:lstStyle/>
          <a:p>
            <a:pPr algn="ctr"/>
            <a:r>
              <a:rPr sz="1300" b="0" i="0">
                <a:solidFill>
                  <a:srgbClr val="FFFFFF"/>
                </a:solidFill>
                <a:latin typeface="Calibri"/>
              </a:rPr>
              <a:t>Harmonic mean of precision &amp; recall
weighted by class frequency</a:t>
            </a:r>
          </a:p>
        </p:txBody>
      </p:sp>
      <p:sp>
        <p:nvSpPr>
          <p:cNvPr id="15" name="Rectangle 14"/>
          <p:cNvSpPr/>
          <p:nvPr/>
        </p:nvSpPr>
        <p:spPr>
          <a:xfrm>
            <a:off x="6217920" y="1234440"/>
            <a:ext cx="2743200" cy="1645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59" y="1280160"/>
            <a:ext cx="2560320" cy="502920"/>
          </a:xfrm>
          <a:prstGeom prst="rect">
            <a:avLst/>
          </a:prstGeom>
          <a:noFill/>
        </p:spPr>
        <p:txBody>
          <a:bodyPr wrap="square">
            <a:spAutoFit/>
          </a:bodyPr>
          <a:lstStyle/>
          <a:p>
            <a:pPr algn="ctr"/>
            <a:r>
              <a:rPr sz="1700" b="1" i="0">
                <a:solidFill>
                  <a:srgbClr val="E88C00"/>
                </a:solidFill>
                <a:latin typeface="Calibri"/>
              </a:rPr>
              <a:t>Weighted
Precision</a:t>
            </a:r>
          </a:p>
        </p:txBody>
      </p:sp>
      <p:sp>
        <p:nvSpPr>
          <p:cNvPr id="17" name="TextBox 16"/>
          <p:cNvSpPr txBox="1"/>
          <p:nvPr/>
        </p:nvSpPr>
        <p:spPr>
          <a:xfrm>
            <a:off x="6309359" y="1828800"/>
            <a:ext cx="2560320" cy="1005840"/>
          </a:xfrm>
          <a:prstGeom prst="rect">
            <a:avLst/>
          </a:prstGeom>
          <a:noFill/>
        </p:spPr>
        <p:txBody>
          <a:bodyPr wrap="square">
            <a:spAutoFit/>
          </a:bodyPr>
          <a:lstStyle/>
          <a:p>
            <a:pPr algn="ctr"/>
            <a:r>
              <a:rPr sz="1300" b="0" i="0">
                <a:solidFill>
                  <a:srgbClr val="FFFFFF"/>
                </a:solidFill>
                <a:latin typeface="Calibri"/>
              </a:rPr>
              <a:t>TP / (TP + FP)  per class
weighted by class frequency</a:t>
            </a:r>
          </a:p>
        </p:txBody>
      </p:sp>
      <p:sp>
        <p:nvSpPr>
          <p:cNvPr id="18" name="Rectangle 17"/>
          <p:cNvSpPr/>
          <p:nvPr/>
        </p:nvSpPr>
        <p:spPr>
          <a:xfrm>
            <a:off x="9189720" y="1234440"/>
            <a:ext cx="2743200" cy="1645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81160" y="1280160"/>
            <a:ext cx="2560320" cy="502920"/>
          </a:xfrm>
          <a:prstGeom prst="rect">
            <a:avLst/>
          </a:prstGeom>
          <a:noFill/>
        </p:spPr>
        <p:txBody>
          <a:bodyPr wrap="square">
            <a:spAutoFit/>
          </a:bodyPr>
          <a:lstStyle/>
          <a:p>
            <a:pPr algn="ctr"/>
            <a:r>
              <a:rPr sz="1700" b="1" i="0">
                <a:solidFill>
                  <a:srgbClr val="E88C00"/>
                </a:solidFill>
                <a:latin typeface="Calibri"/>
              </a:rPr>
              <a:t>Weighted
Recall</a:t>
            </a:r>
          </a:p>
        </p:txBody>
      </p:sp>
      <p:sp>
        <p:nvSpPr>
          <p:cNvPr id="20" name="TextBox 19"/>
          <p:cNvSpPr txBox="1"/>
          <p:nvPr/>
        </p:nvSpPr>
        <p:spPr>
          <a:xfrm>
            <a:off x="9281160" y="1828800"/>
            <a:ext cx="2560320" cy="1005840"/>
          </a:xfrm>
          <a:prstGeom prst="rect">
            <a:avLst/>
          </a:prstGeom>
          <a:noFill/>
        </p:spPr>
        <p:txBody>
          <a:bodyPr wrap="square">
            <a:spAutoFit/>
          </a:bodyPr>
          <a:lstStyle/>
          <a:p>
            <a:pPr algn="ctr"/>
            <a:r>
              <a:rPr sz="1300" b="0" i="0">
                <a:solidFill>
                  <a:srgbClr val="FFFFFF"/>
                </a:solidFill>
                <a:latin typeface="Calibri"/>
              </a:rPr>
              <a:t>TP / (TP + FN)  per class
weighted by class frequency</a:t>
            </a:r>
          </a:p>
        </p:txBody>
      </p:sp>
      <p:sp>
        <p:nvSpPr>
          <p:cNvPr id="21" name="Rectangle 20"/>
          <p:cNvSpPr/>
          <p:nvPr/>
        </p:nvSpPr>
        <p:spPr>
          <a:xfrm>
            <a:off x="274320" y="3072384"/>
            <a:ext cx="1161288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3090672"/>
            <a:ext cx="3657600" cy="365760"/>
          </a:xfrm>
          <a:prstGeom prst="rect">
            <a:avLst/>
          </a:prstGeom>
          <a:noFill/>
        </p:spPr>
        <p:txBody>
          <a:bodyPr wrap="square">
            <a:spAutoFit/>
          </a:bodyPr>
          <a:lstStyle/>
          <a:p>
            <a:pPr algn="l"/>
            <a:r>
              <a:rPr sz="1600" b="1" i="0" dirty="0">
                <a:solidFill>
                  <a:srgbClr val="0D2B55"/>
                </a:solidFill>
                <a:latin typeface="Calibri"/>
              </a:rPr>
              <a:t>Why weighted averaging?</a:t>
            </a:r>
          </a:p>
        </p:txBody>
      </p:sp>
      <p:sp>
        <p:nvSpPr>
          <p:cNvPr id="23" name="TextBox 22"/>
          <p:cNvSpPr txBox="1"/>
          <p:nvPr/>
        </p:nvSpPr>
        <p:spPr>
          <a:xfrm>
            <a:off x="457200" y="3474720"/>
            <a:ext cx="11247120" cy="502920"/>
          </a:xfrm>
          <a:prstGeom prst="rect">
            <a:avLst/>
          </a:prstGeom>
          <a:noFill/>
        </p:spPr>
        <p:txBody>
          <a:bodyPr wrap="square">
            <a:spAutoFit/>
          </a:bodyPr>
          <a:lstStyle/>
          <a:p>
            <a:pPr algn="l"/>
            <a:r>
              <a:rPr sz="1400" b="0" i="0" dirty="0">
                <a:solidFill>
                  <a:srgbClr val="1A1A2E"/>
                </a:solidFill>
                <a:latin typeface="Calibri"/>
              </a:rPr>
              <a:t>Class sizes differ (Pasture: 2,000 · Forest: 3,000). Weighted metrics reflect the real class distribution, giving a more realistic picture of deployment performance than macro averaging.</a:t>
            </a:r>
          </a:p>
        </p:txBody>
      </p:sp>
      <p:sp>
        <p:nvSpPr>
          <p:cNvPr id="24" name="Rectangle 23"/>
          <p:cNvSpPr/>
          <p:nvPr/>
        </p:nvSpPr>
        <p:spPr>
          <a:xfrm>
            <a:off x="274320" y="4160520"/>
            <a:ext cx="11612880" cy="914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187952"/>
            <a:ext cx="4572000" cy="365760"/>
          </a:xfrm>
          <a:prstGeom prst="rect">
            <a:avLst/>
          </a:prstGeom>
          <a:noFill/>
        </p:spPr>
        <p:txBody>
          <a:bodyPr wrap="square">
            <a:spAutoFit/>
          </a:bodyPr>
          <a:lstStyle/>
          <a:p>
            <a:pPr algn="l"/>
            <a:r>
              <a:rPr sz="1600" b="1" i="0" dirty="0">
                <a:solidFill>
                  <a:srgbClr val="0D2B55"/>
                </a:solidFill>
                <a:latin typeface="Calibri"/>
              </a:rPr>
              <a:t>Confusion matrix (10 × 10)</a:t>
            </a:r>
          </a:p>
        </p:txBody>
      </p:sp>
      <p:sp>
        <p:nvSpPr>
          <p:cNvPr id="26" name="TextBox 25"/>
          <p:cNvSpPr txBox="1"/>
          <p:nvPr/>
        </p:nvSpPr>
        <p:spPr>
          <a:xfrm>
            <a:off x="457200" y="4572000"/>
            <a:ext cx="11247120" cy="457200"/>
          </a:xfrm>
          <a:prstGeom prst="rect">
            <a:avLst/>
          </a:prstGeom>
          <a:noFill/>
        </p:spPr>
        <p:txBody>
          <a:bodyPr wrap="square">
            <a:spAutoFit/>
          </a:bodyPr>
          <a:lstStyle/>
          <a:p>
            <a:pPr algn="l"/>
            <a:r>
              <a:rPr sz="1400" b="0" i="0">
                <a:solidFill>
                  <a:srgbClr val="1A1A2E"/>
                </a:solidFill>
                <a:latin typeface="Calibri"/>
              </a:rPr>
              <a:t>Each cell [i, j] shows how many test images of true class i were predicted as class j.
Diagonal = correct predictions. Off-diagonal = errors. Used to identify the hardest class pairs.</a:t>
            </a:r>
          </a:p>
        </p:txBody>
      </p:sp>
      <p:sp>
        <p:nvSpPr>
          <p:cNvPr id="27" name="Rectangle 26"/>
          <p:cNvSpPr/>
          <p:nvPr/>
        </p:nvSpPr>
        <p:spPr>
          <a:xfrm>
            <a:off x="274320" y="5166360"/>
            <a:ext cx="11612880" cy="7315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5193792"/>
            <a:ext cx="11247120" cy="685800"/>
          </a:xfrm>
          <a:prstGeom prst="rect">
            <a:avLst/>
          </a:prstGeom>
          <a:noFill/>
        </p:spPr>
        <p:txBody>
          <a:bodyPr wrap="square">
            <a:spAutoFit/>
          </a:bodyPr>
          <a:lstStyle/>
          <a:p>
            <a:pPr algn="l"/>
            <a:r>
              <a:rPr sz="1300" b="0" i="0">
                <a:solidFill>
                  <a:srgbClr val="FFFFFF"/>
                </a:solidFill>
                <a:latin typeface="Calibri"/>
              </a:rPr>
              <a:t>Checkpoint selection rule: evaluate.py loads the checkpoint with the lowest validation loss (not the last epoch). Validation loss is a more sensitive signal than accuracy: it degrades before accuracy does, giving earlier warning of overfitting.</a:t>
            </a:r>
          </a:p>
        </p:txBody>
      </p:sp>
      <p:sp>
        <p:nvSpPr>
          <p:cNvPr id="29" name="Rectangle 28"/>
          <p:cNvSpPr/>
          <p:nvPr/>
        </p:nvSpPr>
        <p:spPr>
          <a:xfrm>
            <a:off x="274320" y="5961888"/>
            <a:ext cx="11612880" cy="41148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5980176"/>
            <a:ext cx="11247120" cy="365760"/>
          </a:xfrm>
          <a:prstGeom prst="rect">
            <a:avLst/>
          </a:prstGeom>
          <a:noFill/>
        </p:spPr>
        <p:txBody>
          <a:bodyPr wrap="square">
            <a:spAutoFit/>
          </a:bodyPr>
          <a:lstStyle/>
          <a:p>
            <a:pPr algn="ctr"/>
            <a:r>
              <a:rPr sz="1400" b="1" i="0">
                <a:solidFill>
                  <a:srgbClr val="1A1A2E"/>
                </a:solidFill>
                <a:latin typeface="Calibri"/>
              </a:rPr>
              <a:t>Test set is used EXACTLY ONCE  —  after all hyperparameter choices are final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Results — SimpleCNN</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Test set · 4,050 images · best checkpoint at epoch 11</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en-US"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280160"/>
            <a:ext cx="2414015" cy="502920"/>
          </a:xfrm>
          <a:prstGeom prst="rect">
            <a:avLst/>
          </a:prstGeom>
          <a:noFill/>
        </p:spPr>
        <p:txBody>
          <a:bodyPr wrap="square">
            <a:spAutoFit/>
          </a:bodyPr>
          <a:lstStyle/>
          <a:p>
            <a:pPr algn="ctr"/>
            <a:r>
              <a:rPr sz="2600" b="1" i="0">
                <a:solidFill>
                  <a:srgbClr val="E88C00"/>
                </a:solidFill>
                <a:latin typeface="Calibri"/>
              </a:rPr>
              <a:t>89.23 %</a:t>
            </a:r>
          </a:p>
        </p:txBody>
      </p:sp>
      <p:sp>
        <p:nvSpPr>
          <p:cNvPr id="11" name="TextBox 10"/>
          <p:cNvSpPr txBox="1"/>
          <p:nvPr/>
        </p:nvSpPr>
        <p:spPr>
          <a:xfrm>
            <a:off x="347472" y="1783080"/>
            <a:ext cx="2414015" cy="411480"/>
          </a:xfrm>
          <a:prstGeom prst="rect">
            <a:avLst/>
          </a:prstGeom>
          <a:noFill/>
        </p:spPr>
        <p:txBody>
          <a:bodyPr wrap="square">
            <a:spAutoFit/>
          </a:bodyPr>
          <a:lstStyle/>
          <a:p>
            <a:pPr algn="ctr"/>
            <a:r>
              <a:rPr sz="1200" b="0" i="0">
                <a:solidFill>
                  <a:srgbClr val="FFFFFF"/>
                </a:solidFill>
                <a:latin typeface="Calibri"/>
              </a:rPr>
              <a:t>Test Accuracy</a:t>
            </a:r>
          </a:p>
        </p:txBody>
      </p:sp>
      <p:sp>
        <p:nvSpPr>
          <p:cNvPr id="12" name="Rectangle 11"/>
          <p:cNvSpPr/>
          <p:nvPr/>
        </p:nvSpPr>
        <p:spPr>
          <a:xfrm>
            <a:off x="30175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90672" y="1280160"/>
            <a:ext cx="2414015" cy="502920"/>
          </a:xfrm>
          <a:prstGeom prst="rect">
            <a:avLst/>
          </a:prstGeom>
          <a:noFill/>
        </p:spPr>
        <p:txBody>
          <a:bodyPr wrap="square">
            <a:spAutoFit/>
          </a:bodyPr>
          <a:lstStyle/>
          <a:p>
            <a:pPr algn="ctr"/>
            <a:r>
              <a:rPr sz="2600" b="1" i="0">
                <a:solidFill>
                  <a:srgbClr val="E88C00"/>
                </a:solidFill>
                <a:latin typeface="Calibri"/>
              </a:rPr>
              <a:t>0.8930</a:t>
            </a:r>
          </a:p>
        </p:txBody>
      </p:sp>
      <p:sp>
        <p:nvSpPr>
          <p:cNvPr id="14" name="TextBox 13"/>
          <p:cNvSpPr txBox="1"/>
          <p:nvPr/>
        </p:nvSpPr>
        <p:spPr>
          <a:xfrm>
            <a:off x="3090672" y="1783080"/>
            <a:ext cx="2414015" cy="411480"/>
          </a:xfrm>
          <a:prstGeom prst="rect">
            <a:avLst/>
          </a:prstGeom>
          <a:noFill/>
        </p:spPr>
        <p:txBody>
          <a:bodyPr wrap="square">
            <a:spAutoFit/>
          </a:bodyPr>
          <a:lstStyle/>
          <a:p>
            <a:pPr algn="ctr"/>
            <a:r>
              <a:rPr sz="1200" b="0" i="0">
                <a:solidFill>
                  <a:srgbClr val="FFFFFF"/>
                </a:solidFill>
                <a:latin typeface="Calibri"/>
              </a:rPr>
              <a:t>Weighted F1</a:t>
            </a:r>
          </a:p>
        </p:txBody>
      </p:sp>
      <p:sp>
        <p:nvSpPr>
          <p:cNvPr id="15" name="Rectangle 14"/>
          <p:cNvSpPr/>
          <p:nvPr/>
        </p:nvSpPr>
        <p:spPr>
          <a:xfrm>
            <a:off x="57607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33872" y="1280160"/>
            <a:ext cx="2414015" cy="502920"/>
          </a:xfrm>
          <a:prstGeom prst="rect">
            <a:avLst/>
          </a:prstGeom>
          <a:noFill/>
        </p:spPr>
        <p:txBody>
          <a:bodyPr wrap="square">
            <a:spAutoFit/>
          </a:bodyPr>
          <a:lstStyle/>
          <a:p>
            <a:pPr algn="ctr"/>
            <a:r>
              <a:rPr sz="2600" b="1" i="0">
                <a:solidFill>
                  <a:srgbClr val="E88C00"/>
                </a:solidFill>
                <a:latin typeface="Calibri"/>
              </a:rPr>
              <a:t>0.8963</a:t>
            </a:r>
          </a:p>
        </p:txBody>
      </p:sp>
      <p:sp>
        <p:nvSpPr>
          <p:cNvPr id="17" name="TextBox 16"/>
          <p:cNvSpPr txBox="1"/>
          <p:nvPr/>
        </p:nvSpPr>
        <p:spPr>
          <a:xfrm>
            <a:off x="5833872" y="1783080"/>
            <a:ext cx="2414015" cy="411480"/>
          </a:xfrm>
          <a:prstGeom prst="rect">
            <a:avLst/>
          </a:prstGeom>
          <a:noFill/>
        </p:spPr>
        <p:txBody>
          <a:bodyPr wrap="square">
            <a:spAutoFit/>
          </a:bodyPr>
          <a:lstStyle/>
          <a:p>
            <a:pPr algn="ctr"/>
            <a:r>
              <a:rPr sz="1200" b="0" i="0">
                <a:solidFill>
                  <a:srgbClr val="FFFFFF"/>
                </a:solidFill>
                <a:latin typeface="Calibri"/>
              </a:rPr>
              <a:t>Precision</a:t>
            </a:r>
          </a:p>
        </p:txBody>
      </p:sp>
      <p:sp>
        <p:nvSpPr>
          <p:cNvPr id="18" name="Rectangle 17"/>
          <p:cNvSpPr/>
          <p:nvPr/>
        </p:nvSpPr>
        <p:spPr>
          <a:xfrm>
            <a:off x="85039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77072" y="1280160"/>
            <a:ext cx="2414015" cy="502920"/>
          </a:xfrm>
          <a:prstGeom prst="rect">
            <a:avLst/>
          </a:prstGeom>
          <a:noFill/>
        </p:spPr>
        <p:txBody>
          <a:bodyPr wrap="square">
            <a:spAutoFit/>
          </a:bodyPr>
          <a:lstStyle/>
          <a:p>
            <a:pPr algn="ctr"/>
            <a:r>
              <a:rPr sz="2600" b="1" i="0">
                <a:solidFill>
                  <a:srgbClr val="E88C00"/>
                </a:solidFill>
                <a:latin typeface="Calibri"/>
              </a:rPr>
              <a:t>0.8923</a:t>
            </a:r>
          </a:p>
        </p:txBody>
      </p:sp>
      <p:sp>
        <p:nvSpPr>
          <p:cNvPr id="20" name="TextBox 19"/>
          <p:cNvSpPr txBox="1"/>
          <p:nvPr/>
        </p:nvSpPr>
        <p:spPr>
          <a:xfrm>
            <a:off x="8577072" y="1783080"/>
            <a:ext cx="2414015" cy="411480"/>
          </a:xfrm>
          <a:prstGeom prst="rect">
            <a:avLst/>
          </a:prstGeom>
          <a:noFill/>
        </p:spPr>
        <p:txBody>
          <a:bodyPr wrap="square">
            <a:spAutoFit/>
          </a:bodyPr>
          <a:lstStyle/>
          <a:p>
            <a:pPr algn="ctr"/>
            <a:r>
              <a:rPr sz="1200" b="0" i="0">
                <a:solidFill>
                  <a:srgbClr val="FFFFFF"/>
                </a:solidFill>
                <a:latin typeface="Calibri"/>
              </a:rPr>
              <a:t>Recall</a:t>
            </a:r>
          </a:p>
        </p:txBody>
      </p:sp>
      <p:pic>
        <p:nvPicPr>
          <p:cNvPr id="21" name="Picture 20" descr="fig3_cnn_curves.png"/>
          <p:cNvPicPr>
            <a:picLocks noChangeAspect="1"/>
          </p:cNvPicPr>
          <p:nvPr/>
        </p:nvPicPr>
        <p:blipFill>
          <a:blip r:embed="rId3"/>
          <a:stretch>
            <a:fillRect/>
          </a:stretch>
        </p:blipFill>
        <p:spPr>
          <a:xfrm>
            <a:off x="274320" y="2377440"/>
            <a:ext cx="7132320" cy="2486717"/>
          </a:xfrm>
          <a:prstGeom prst="rect">
            <a:avLst/>
          </a:prstGeom>
        </p:spPr>
      </p:pic>
      <p:sp>
        <p:nvSpPr>
          <p:cNvPr id="22" name="Rectangle 21"/>
          <p:cNvSpPr/>
          <p:nvPr/>
        </p:nvSpPr>
        <p:spPr>
          <a:xfrm>
            <a:off x="7589520" y="2377440"/>
            <a:ext cx="4297680" cy="3886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26679" y="2423160"/>
            <a:ext cx="4023360" cy="365760"/>
          </a:xfrm>
          <a:prstGeom prst="rect">
            <a:avLst/>
          </a:prstGeom>
          <a:noFill/>
        </p:spPr>
        <p:txBody>
          <a:bodyPr wrap="square">
            <a:spAutoFit/>
          </a:bodyPr>
          <a:lstStyle/>
          <a:p>
            <a:pPr algn="l"/>
            <a:r>
              <a:rPr sz="1500" b="1" i="0">
                <a:solidFill>
                  <a:srgbClr val="0D2B55"/>
                </a:solidFill>
                <a:latin typeface="Calibri"/>
              </a:rPr>
              <a:t>Per-Class F1 Highlights</a:t>
            </a:r>
          </a:p>
        </p:txBody>
      </p:sp>
      <p:sp>
        <p:nvSpPr>
          <p:cNvPr id="24" name="TextBox 23"/>
          <p:cNvSpPr txBox="1"/>
          <p:nvPr/>
        </p:nvSpPr>
        <p:spPr>
          <a:xfrm>
            <a:off x="7726679" y="2834640"/>
            <a:ext cx="4023360" cy="320040"/>
          </a:xfrm>
          <a:prstGeom prst="rect">
            <a:avLst/>
          </a:prstGeom>
          <a:noFill/>
        </p:spPr>
        <p:txBody>
          <a:bodyPr wrap="square">
            <a:spAutoFit/>
          </a:bodyPr>
          <a:lstStyle/>
          <a:p>
            <a:pPr algn="l"/>
            <a:r>
              <a:rPr sz="1300" b="1" i="0">
                <a:solidFill>
                  <a:srgbClr val="1F6FC3"/>
                </a:solidFill>
                <a:latin typeface="Calibri"/>
              </a:rPr>
              <a:t>Best classes</a:t>
            </a:r>
          </a:p>
        </p:txBody>
      </p:sp>
      <p:sp>
        <p:nvSpPr>
          <p:cNvPr id="25" name="TextBox 24"/>
          <p:cNvSpPr txBox="1"/>
          <p:nvPr/>
        </p:nvSpPr>
        <p:spPr>
          <a:xfrm>
            <a:off x="7726679" y="3218688"/>
            <a:ext cx="4023360" cy="347472"/>
          </a:xfrm>
          <a:prstGeom prst="rect">
            <a:avLst/>
          </a:prstGeom>
          <a:noFill/>
        </p:spPr>
        <p:txBody>
          <a:bodyPr wrap="square">
            <a:spAutoFit/>
          </a:bodyPr>
          <a:lstStyle/>
          <a:p>
            <a:pPr algn="l"/>
            <a:r>
              <a:rPr sz="1200" b="0" i="0">
                <a:solidFill>
                  <a:srgbClr val="1A1A2E"/>
                </a:solidFill>
                <a:latin typeface="Calibri"/>
              </a:rPr>
              <a:t>  Forest: 0.954</a:t>
            </a:r>
          </a:p>
        </p:txBody>
      </p:sp>
      <p:sp>
        <p:nvSpPr>
          <p:cNvPr id="26" name="TextBox 25"/>
          <p:cNvSpPr txBox="1"/>
          <p:nvPr/>
        </p:nvSpPr>
        <p:spPr>
          <a:xfrm>
            <a:off x="7726679" y="3602736"/>
            <a:ext cx="4023360" cy="347472"/>
          </a:xfrm>
          <a:prstGeom prst="rect">
            <a:avLst/>
          </a:prstGeom>
          <a:noFill/>
        </p:spPr>
        <p:txBody>
          <a:bodyPr wrap="square">
            <a:spAutoFit/>
          </a:bodyPr>
          <a:lstStyle/>
          <a:p>
            <a:pPr algn="l"/>
            <a:r>
              <a:rPr sz="1200" b="0" i="0">
                <a:solidFill>
                  <a:srgbClr val="1A1A2E"/>
                </a:solidFill>
                <a:latin typeface="Calibri"/>
              </a:rPr>
              <a:t>  SeaLake: 0.948</a:t>
            </a:r>
          </a:p>
        </p:txBody>
      </p:sp>
      <p:sp>
        <p:nvSpPr>
          <p:cNvPr id="27" name="TextBox 26"/>
          <p:cNvSpPr txBox="1"/>
          <p:nvPr/>
        </p:nvSpPr>
        <p:spPr>
          <a:xfrm>
            <a:off x="7726679" y="3986784"/>
            <a:ext cx="4023360" cy="347472"/>
          </a:xfrm>
          <a:prstGeom prst="rect">
            <a:avLst/>
          </a:prstGeom>
          <a:noFill/>
        </p:spPr>
        <p:txBody>
          <a:bodyPr wrap="square">
            <a:spAutoFit/>
          </a:bodyPr>
          <a:lstStyle/>
          <a:p>
            <a:pPr algn="l"/>
            <a:r>
              <a:rPr sz="1200" b="0" i="0">
                <a:solidFill>
                  <a:srgbClr val="1A1A2E"/>
                </a:solidFill>
                <a:latin typeface="Calibri"/>
              </a:rPr>
              <a:t>  Residential: 0.939</a:t>
            </a:r>
          </a:p>
        </p:txBody>
      </p:sp>
      <p:sp>
        <p:nvSpPr>
          <p:cNvPr id="28" name="TextBox 27"/>
          <p:cNvSpPr txBox="1"/>
          <p:nvPr/>
        </p:nvSpPr>
        <p:spPr>
          <a:xfrm>
            <a:off x="7726679" y="4370832"/>
            <a:ext cx="4023360" cy="320040"/>
          </a:xfrm>
          <a:prstGeom prst="rect">
            <a:avLst/>
          </a:prstGeom>
          <a:noFill/>
        </p:spPr>
        <p:txBody>
          <a:bodyPr wrap="square">
            <a:spAutoFit/>
          </a:bodyPr>
          <a:lstStyle/>
          <a:p>
            <a:pPr algn="l"/>
            <a:r>
              <a:rPr sz="1300" b="1" i="0">
                <a:solidFill>
                  <a:srgbClr val="1F6FC3"/>
                </a:solidFill>
                <a:latin typeface="Calibri"/>
              </a:rPr>
              <a:t>Hardest classes</a:t>
            </a:r>
          </a:p>
        </p:txBody>
      </p:sp>
      <p:sp>
        <p:nvSpPr>
          <p:cNvPr id="29" name="TextBox 28"/>
          <p:cNvSpPr txBox="1"/>
          <p:nvPr/>
        </p:nvSpPr>
        <p:spPr>
          <a:xfrm>
            <a:off x="7726679" y="4754880"/>
            <a:ext cx="4023360" cy="347472"/>
          </a:xfrm>
          <a:prstGeom prst="rect">
            <a:avLst/>
          </a:prstGeom>
          <a:noFill/>
        </p:spPr>
        <p:txBody>
          <a:bodyPr wrap="square">
            <a:spAutoFit/>
          </a:bodyPr>
          <a:lstStyle/>
          <a:p>
            <a:pPr algn="l"/>
            <a:r>
              <a:rPr sz="1200" b="0" i="0">
                <a:solidFill>
                  <a:srgbClr val="1A1A2E"/>
                </a:solidFill>
                <a:latin typeface="Calibri"/>
              </a:rPr>
              <a:t>  HerbaceousVegetation: 0.821  ← visually similar to Pasture</a:t>
            </a:r>
          </a:p>
        </p:txBody>
      </p:sp>
      <p:sp>
        <p:nvSpPr>
          <p:cNvPr id="30" name="TextBox 29"/>
          <p:cNvSpPr txBox="1"/>
          <p:nvPr/>
        </p:nvSpPr>
        <p:spPr>
          <a:xfrm>
            <a:off x="7726679" y="5138928"/>
            <a:ext cx="4023360" cy="347472"/>
          </a:xfrm>
          <a:prstGeom prst="rect">
            <a:avLst/>
          </a:prstGeom>
          <a:noFill/>
        </p:spPr>
        <p:txBody>
          <a:bodyPr wrap="square">
            <a:spAutoFit/>
          </a:bodyPr>
          <a:lstStyle/>
          <a:p>
            <a:pPr algn="l"/>
            <a:r>
              <a:rPr sz="1200" b="0" i="0">
                <a:solidFill>
                  <a:srgbClr val="1A1A2E"/>
                </a:solidFill>
                <a:latin typeface="Calibri"/>
              </a:rPr>
              <a:t>  PermanentCrop: 0.833  ← texture overlap with AnnualCrop</a:t>
            </a:r>
          </a:p>
        </p:txBody>
      </p:sp>
      <p:sp>
        <p:nvSpPr>
          <p:cNvPr id="31" name="TextBox 30"/>
          <p:cNvSpPr txBox="1"/>
          <p:nvPr/>
        </p:nvSpPr>
        <p:spPr>
          <a:xfrm>
            <a:off x="7726679" y="5522976"/>
            <a:ext cx="4023360" cy="347472"/>
          </a:xfrm>
          <a:prstGeom prst="rect">
            <a:avLst/>
          </a:prstGeom>
          <a:noFill/>
        </p:spPr>
        <p:txBody>
          <a:bodyPr wrap="square">
            <a:spAutoFit/>
          </a:bodyPr>
          <a:lstStyle/>
          <a:p>
            <a:pPr algn="l"/>
            <a:r>
              <a:rPr sz="1200" b="0" i="0">
                <a:solidFill>
                  <a:srgbClr val="1A1A2E"/>
                </a:solidFill>
                <a:latin typeface="Calibri"/>
              </a:rPr>
              <a:t>  River: 0.836  ← thin strip, confused with Highway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Results — U-Net Classifier</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Test set · 4,050 images · best checkpoint at epoch 24</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en-US"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280160"/>
            <a:ext cx="2414015" cy="502920"/>
          </a:xfrm>
          <a:prstGeom prst="rect">
            <a:avLst/>
          </a:prstGeom>
          <a:noFill/>
        </p:spPr>
        <p:txBody>
          <a:bodyPr wrap="square">
            <a:spAutoFit/>
          </a:bodyPr>
          <a:lstStyle/>
          <a:p>
            <a:pPr algn="ctr"/>
            <a:r>
              <a:rPr sz="2600" b="1" i="0">
                <a:solidFill>
                  <a:srgbClr val="E88C00"/>
                </a:solidFill>
                <a:latin typeface="Calibri"/>
              </a:rPr>
              <a:t>96.10 %</a:t>
            </a:r>
          </a:p>
        </p:txBody>
      </p:sp>
      <p:sp>
        <p:nvSpPr>
          <p:cNvPr id="11" name="TextBox 10"/>
          <p:cNvSpPr txBox="1"/>
          <p:nvPr/>
        </p:nvSpPr>
        <p:spPr>
          <a:xfrm>
            <a:off x="347472" y="1783080"/>
            <a:ext cx="2414015" cy="411480"/>
          </a:xfrm>
          <a:prstGeom prst="rect">
            <a:avLst/>
          </a:prstGeom>
          <a:noFill/>
        </p:spPr>
        <p:txBody>
          <a:bodyPr wrap="square">
            <a:spAutoFit/>
          </a:bodyPr>
          <a:lstStyle/>
          <a:p>
            <a:pPr algn="ctr"/>
            <a:r>
              <a:rPr sz="1200" b="0" i="0">
                <a:solidFill>
                  <a:srgbClr val="FFFFFF"/>
                </a:solidFill>
                <a:latin typeface="Calibri"/>
              </a:rPr>
              <a:t>Test Accuracy</a:t>
            </a:r>
          </a:p>
        </p:txBody>
      </p:sp>
      <p:sp>
        <p:nvSpPr>
          <p:cNvPr id="12" name="Rectangle 11"/>
          <p:cNvSpPr/>
          <p:nvPr/>
        </p:nvSpPr>
        <p:spPr>
          <a:xfrm>
            <a:off x="30175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90672" y="1280160"/>
            <a:ext cx="2414015" cy="502920"/>
          </a:xfrm>
          <a:prstGeom prst="rect">
            <a:avLst/>
          </a:prstGeom>
          <a:noFill/>
        </p:spPr>
        <p:txBody>
          <a:bodyPr wrap="square">
            <a:spAutoFit/>
          </a:bodyPr>
          <a:lstStyle/>
          <a:p>
            <a:pPr algn="ctr"/>
            <a:r>
              <a:rPr sz="2600" b="1" i="0">
                <a:solidFill>
                  <a:srgbClr val="E88C00"/>
                </a:solidFill>
                <a:latin typeface="Calibri"/>
              </a:rPr>
              <a:t>0.9610</a:t>
            </a:r>
          </a:p>
        </p:txBody>
      </p:sp>
      <p:sp>
        <p:nvSpPr>
          <p:cNvPr id="14" name="TextBox 13"/>
          <p:cNvSpPr txBox="1"/>
          <p:nvPr/>
        </p:nvSpPr>
        <p:spPr>
          <a:xfrm>
            <a:off x="3090672" y="1783080"/>
            <a:ext cx="2414015" cy="411480"/>
          </a:xfrm>
          <a:prstGeom prst="rect">
            <a:avLst/>
          </a:prstGeom>
          <a:noFill/>
        </p:spPr>
        <p:txBody>
          <a:bodyPr wrap="square">
            <a:spAutoFit/>
          </a:bodyPr>
          <a:lstStyle/>
          <a:p>
            <a:pPr algn="ctr"/>
            <a:r>
              <a:rPr sz="1200" b="0" i="0">
                <a:solidFill>
                  <a:srgbClr val="FFFFFF"/>
                </a:solidFill>
                <a:latin typeface="Calibri"/>
              </a:rPr>
              <a:t>Weighted F1</a:t>
            </a:r>
          </a:p>
        </p:txBody>
      </p:sp>
      <p:sp>
        <p:nvSpPr>
          <p:cNvPr id="15" name="Rectangle 14"/>
          <p:cNvSpPr/>
          <p:nvPr/>
        </p:nvSpPr>
        <p:spPr>
          <a:xfrm>
            <a:off x="57607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33872" y="1280160"/>
            <a:ext cx="2414015" cy="502920"/>
          </a:xfrm>
          <a:prstGeom prst="rect">
            <a:avLst/>
          </a:prstGeom>
          <a:noFill/>
        </p:spPr>
        <p:txBody>
          <a:bodyPr wrap="square">
            <a:spAutoFit/>
          </a:bodyPr>
          <a:lstStyle/>
          <a:p>
            <a:pPr algn="ctr"/>
            <a:r>
              <a:rPr sz="2600" b="1" i="0">
                <a:solidFill>
                  <a:srgbClr val="E88C00"/>
                </a:solidFill>
                <a:latin typeface="Calibri"/>
              </a:rPr>
              <a:t>0.9613</a:t>
            </a:r>
          </a:p>
        </p:txBody>
      </p:sp>
      <p:sp>
        <p:nvSpPr>
          <p:cNvPr id="17" name="TextBox 16"/>
          <p:cNvSpPr txBox="1"/>
          <p:nvPr/>
        </p:nvSpPr>
        <p:spPr>
          <a:xfrm>
            <a:off x="5833872" y="1783080"/>
            <a:ext cx="2414015" cy="411480"/>
          </a:xfrm>
          <a:prstGeom prst="rect">
            <a:avLst/>
          </a:prstGeom>
          <a:noFill/>
        </p:spPr>
        <p:txBody>
          <a:bodyPr wrap="square">
            <a:spAutoFit/>
          </a:bodyPr>
          <a:lstStyle/>
          <a:p>
            <a:pPr algn="ctr"/>
            <a:r>
              <a:rPr sz="1200" b="0" i="0">
                <a:solidFill>
                  <a:srgbClr val="FFFFFF"/>
                </a:solidFill>
                <a:latin typeface="Calibri"/>
              </a:rPr>
              <a:t>Precision</a:t>
            </a:r>
          </a:p>
        </p:txBody>
      </p:sp>
      <p:sp>
        <p:nvSpPr>
          <p:cNvPr id="18" name="Rectangle 17"/>
          <p:cNvSpPr/>
          <p:nvPr/>
        </p:nvSpPr>
        <p:spPr>
          <a:xfrm>
            <a:off x="85039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77072" y="1280160"/>
            <a:ext cx="2414015" cy="502920"/>
          </a:xfrm>
          <a:prstGeom prst="rect">
            <a:avLst/>
          </a:prstGeom>
          <a:noFill/>
        </p:spPr>
        <p:txBody>
          <a:bodyPr wrap="square">
            <a:spAutoFit/>
          </a:bodyPr>
          <a:lstStyle/>
          <a:p>
            <a:pPr algn="ctr"/>
            <a:r>
              <a:rPr sz="2600" b="1" i="0">
                <a:solidFill>
                  <a:srgbClr val="E88C00"/>
                </a:solidFill>
                <a:latin typeface="Calibri"/>
              </a:rPr>
              <a:t>0.9610</a:t>
            </a:r>
          </a:p>
        </p:txBody>
      </p:sp>
      <p:sp>
        <p:nvSpPr>
          <p:cNvPr id="20" name="TextBox 19"/>
          <p:cNvSpPr txBox="1"/>
          <p:nvPr/>
        </p:nvSpPr>
        <p:spPr>
          <a:xfrm>
            <a:off x="8577072" y="1783080"/>
            <a:ext cx="2414015" cy="411480"/>
          </a:xfrm>
          <a:prstGeom prst="rect">
            <a:avLst/>
          </a:prstGeom>
          <a:noFill/>
        </p:spPr>
        <p:txBody>
          <a:bodyPr wrap="square">
            <a:spAutoFit/>
          </a:bodyPr>
          <a:lstStyle/>
          <a:p>
            <a:pPr algn="ctr"/>
            <a:r>
              <a:rPr sz="1200" b="0" i="0">
                <a:solidFill>
                  <a:srgbClr val="FFFFFF"/>
                </a:solidFill>
                <a:latin typeface="Calibri"/>
              </a:rPr>
              <a:t>Recall</a:t>
            </a:r>
          </a:p>
        </p:txBody>
      </p:sp>
      <p:pic>
        <p:nvPicPr>
          <p:cNvPr id="21" name="Picture 20" descr="fig4_unet_curves.png"/>
          <p:cNvPicPr>
            <a:picLocks noChangeAspect="1"/>
          </p:cNvPicPr>
          <p:nvPr/>
        </p:nvPicPr>
        <p:blipFill>
          <a:blip r:embed="rId3"/>
          <a:stretch>
            <a:fillRect/>
          </a:stretch>
        </p:blipFill>
        <p:spPr>
          <a:xfrm>
            <a:off x="274320" y="2377440"/>
            <a:ext cx="7132320" cy="2489508"/>
          </a:xfrm>
          <a:prstGeom prst="rect">
            <a:avLst/>
          </a:prstGeom>
        </p:spPr>
      </p:pic>
      <p:sp>
        <p:nvSpPr>
          <p:cNvPr id="22" name="Rectangle 21"/>
          <p:cNvSpPr/>
          <p:nvPr/>
        </p:nvSpPr>
        <p:spPr>
          <a:xfrm>
            <a:off x="7589520" y="2377440"/>
            <a:ext cx="4297680" cy="3886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26679" y="2423160"/>
            <a:ext cx="4023360" cy="365760"/>
          </a:xfrm>
          <a:prstGeom prst="rect">
            <a:avLst/>
          </a:prstGeom>
          <a:noFill/>
        </p:spPr>
        <p:txBody>
          <a:bodyPr wrap="square">
            <a:spAutoFit/>
          </a:bodyPr>
          <a:lstStyle/>
          <a:p>
            <a:pPr algn="l"/>
            <a:r>
              <a:rPr sz="1500" b="1" i="0">
                <a:solidFill>
                  <a:srgbClr val="0D2B55"/>
                </a:solidFill>
                <a:latin typeface="Calibri"/>
              </a:rPr>
              <a:t>Gains over SimpleCNN</a:t>
            </a:r>
          </a:p>
        </p:txBody>
      </p:sp>
      <p:sp>
        <p:nvSpPr>
          <p:cNvPr id="24" name="Rectangle 23"/>
          <p:cNvSpPr/>
          <p:nvPr/>
        </p:nvSpPr>
        <p:spPr>
          <a:xfrm>
            <a:off x="7726679" y="283464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18120" y="2871216"/>
            <a:ext cx="3840480" cy="292608"/>
          </a:xfrm>
          <a:prstGeom prst="rect">
            <a:avLst/>
          </a:prstGeom>
          <a:noFill/>
        </p:spPr>
        <p:txBody>
          <a:bodyPr wrap="square">
            <a:spAutoFit/>
          </a:bodyPr>
          <a:lstStyle/>
          <a:p>
            <a:pPr algn="l"/>
            <a:r>
              <a:rPr sz="1200" b="0" i="0">
                <a:solidFill>
                  <a:srgbClr val="1A1A2E"/>
                </a:solidFill>
                <a:latin typeface="Calibri"/>
              </a:rPr>
              <a:t>River: 0.836 → 0.951  (+0.115)</a:t>
            </a:r>
          </a:p>
        </p:txBody>
      </p:sp>
      <p:sp>
        <p:nvSpPr>
          <p:cNvPr id="26" name="Rectangle 25"/>
          <p:cNvSpPr/>
          <p:nvPr/>
        </p:nvSpPr>
        <p:spPr>
          <a:xfrm>
            <a:off x="7726679" y="324612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18120" y="3282696"/>
            <a:ext cx="3840480" cy="292608"/>
          </a:xfrm>
          <a:prstGeom prst="rect">
            <a:avLst/>
          </a:prstGeom>
          <a:noFill/>
        </p:spPr>
        <p:txBody>
          <a:bodyPr wrap="square">
            <a:spAutoFit/>
          </a:bodyPr>
          <a:lstStyle/>
          <a:p>
            <a:pPr algn="l"/>
            <a:r>
              <a:rPr sz="1200" b="0" i="0">
                <a:solidFill>
                  <a:srgbClr val="1A1A2E"/>
                </a:solidFill>
                <a:latin typeface="Calibri"/>
              </a:rPr>
              <a:t>PermanentCrop: 0.833 → 0.940  (+0.107)</a:t>
            </a:r>
          </a:p>
        </p:txBody>
      </p:sp>
      <p:sp>
        <p:nvSpPr>
          <p:cNvPr id="28" name="Rectangle 27"/>
          <p:cNvSpPr/>
          <p:nvPr/>
        </p:nvSpPr>
        <p:spPr>
          <a:xfrm>
            <a:off x="7726679" y="365760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18120" y="3694176"/>
            <a:ext cx="3840480" cy="292608"/>
          </a:xfrm>
          <a:prstGeom prst="rect">
            <a:avLst/>
          </a:prstGeom>
          <a:noFill/>
        </p:spPr>
        <p:txBody>
          <a:bodyPr wrap="square">
            <a:spAutoFit/>
          </a:bodyPr>
          <a:lstStyle/>
          <a:p>
            <a:pPr algn="l"/>
            <a:r>
              <a:rPr sz="1200" b="0" i="0" dirty="0" err="1">
                <a:solidFill>
                  <a:srgbClr val="1A1A2E"/>
                </a:solidFill>
                <a:latin typeface="Calibri"/>
              </a:rPr>
              <a:t>HerbaceousVeg</a:t>
            </a:r>
            <a:r>
              <a:rPr sz="1200" b="0" i="0" dirty="0">
                <a:solidFill>
                  <a:srgbClr val="1A1A2E"/>
                </a:solidFill>
                <a:latin typeface="Calibri"/>
              </a:rPr>
              <a:t>.: 0.821 → 0.939  (+0.118)</a:t>
            </a:r>
          </a:p>
        </p:txBody>
      </p:sp>
      <p:sp>
        <p:nvSpPr>
          <p:cNvPr id="30" name="Rectangle 29"/>
          <p:cNvSpPr/>
          <p:nvPr/>
        </p:nvSpPr>
        <p:spPr>
          <a:xfrm>
            <a:off x="7726679" y="406908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818120" y="4105656"/>
            <a:ext cx="3840480" cy="292608"/>
          </a:xfrm>
          <a:prstGeom prst="rect">
            <a:avLst/>
          </a:prstGeom>
          <a:noFill/>
        </p:spPr>
        <p:txBody>
          <a:bodyPr wrap="square">
            <a:spAutoFit/>
          </a:bodyPr>
          <a:lstStyle/>
          <a:p>
            <a:pPr algn="l"/>
            <a:r>
              <a:rPr sz="1200" b="0" i="0">
                <a:solidFill>
                  <a:srgbClr val="1A1A2E"/>
                </a:solidFill>
                <a:latin typeface="Calibri"/>
              </a:rPr>
              <a:t>Highway: 0.848 → 0.978  (+0.130)</a:t>
            </a:r>
          </a:p>
        </p:txBody>
      </p:sp>
      <p:sp>
        <p:nvSpPr>
          <p:cNvPr id="32" name="Rectangle 31"/>
          <p:cNvSpPr/>
          <p:nvPr/>
        </p:nvSpPr>
        <p:spPr>
          <a:xfrm>
            <a:off x="7726679" y="448056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18120" y="4517136"/>
            <a:ext cx="3840480" cy="292608"/>
          </a:xfrm>
          <a:prstGeom prst="rect">
            <a:avLst/>
          </a:prstGeom>
          <a:noFill/>
        </p:spPr>
        <p:txBody>
          <a:bodyPr wrap="square">
            <a:spAutoFit/>
          </a:bodyPr>
          <a:lstStyle/>
          <a:p>
            <a:pPr algn="l"/>
            <a:r>
              <a:rPr sz="1200" b="0" i="0">
                <a:solidFill>
                  <a:srgbClr val="1A1A2E"/>
                </a:solidFill>
                <a:latin typeface="Calibri"/>
              </a:rPr>
              <a:t>Residential: 0.939 → 0.986  (+0.047)</a:t>
            </a:r>
          </a:p>
        </p:txBody>
      </p:sp>
      <p:sp>
        <p:nvSpPr>
          <p:cNvPr id="34" name="Rectangle 33"/>
          <p:cNvSpPr/>
          <p:nvPr/>
        </p:nvSpPr>
        <p:spPr>
          <a:xfrm>
            <a:off x="7726679" y="489204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818120" y="4928616"/>
            <a:ext cx="3840480" cy="292608"/>
          </a:xfrm>
          <a:prstGeom prst="rect">
            <a:avLst/>
          </a:prstGeom>
          <a:noFill/>
        </p:spPr>
        <p:txBody>
          <a:bodyPr wrap="square">
            <a:spAutoFit/>
          </a:bodyPr>
          <a:lstStyle/>
          <a:p>
            <a:pPr algn="l"/>
            <a:r>
              <a:rPr sz="1200" b="0" i="0">
                <a:solidFill>
                  <a:srgbClr val="1A1A2E"/>
                </a:solidFill>
                <a:latin typeface="Calibri"/>
              </a:rPr>
              <a:t>SeaLake: 0.948 → 0.979  (+0.031)</a:t>
            </a:r>
          </a:p>
        </p:txBody>
      </p:sp>
      <p:sp>
        <p:nvSpPr>
          <p:cNvPr id="36" name="TextBox 35"/>
          <p:cNvSpPr txBox="1"/>
          <p:nvPr/>
        </p:nvSpPr>
        <p:spPr>
          <a:xfrm>
            <a:off x="7726679" y="5257800"/>
            <a:ext cx="4023360" cy="822960"/>
          </a:xfrm>
          <a:prstGeom prst="rect">
            <a:avLst/>
          </a:prstGeom>
          <a:noFill/>
        </p:spPr>
        <p:txBody>
          <a:bodyPr wrap="square">
            <a:spAutoFit/>
          </a:bodyPr>
          <a:lstStyle/>
          <a:p>
            <a:pPr algn="l"/>
            <a:r>
              <a:rPr sz="1300" b="0" i="0">
                <a:solidFill>
                  <a:srgbClr val="0D2B55"/>
                </a:solidFill>
                <a:latin typeface="Calibri"/>
              </a:rPr>
              <a:t>Improvement is consistent across ALL classes,
not limited to easy ones → systematic architectural gain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Results — Model Comparison</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SimpleCNN  vs.  U-Net Classifier  ·  same test set  ·  same metrics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en-US"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234440"/>
            <a:ext cx="3611880" cy="43891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289304"/>
            <a:ext cx="3474720" cy="329184"/>
          </a:xfrm>
          <a:prstGeom prst="rect">
            <a:avLst/>
          </a:prstGeom>
          <a:noFill/>
        </p:spPr>
        <p:txBody>
          <a:bodyPr wrap="square">
            <a:spAutoFit/>
          </a:bodyPr>
          <a:lstStyle/>
          <a:p>
            <a:pPr algn="l"/>
            <a:r>
              <a:rPr sz="1200" b="1" i="0">
                <a:solidFill>
                  <a:srgbClr val="FFFFFF"/>
                </a:solidFill>
                <a:latin typeface="Calibri"/>
              </a:rPr>
              <a:t>Metric</a:t>
            </a:r>
          </a:p>
        </p:txBody>
      </p:sp>
      <p:sp>
        <p:nvSpPr>
          <p:cNvPr id="11" name="Rectangle 10"/>
          <p:cNvSpPr/>
          <p:nvPr/>
        </p:nvSpPr>
        <p:spPr>
          <a:xfrm>
            <a:off x="4114800" y="1234440"/>
            <a:ext cx="2788920" cy="43891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06240" y="1289304"/>
            <a:ext cx="2651760" cy="329184"/>
          </a:xfrm>
          <a:prstGeom prst="rect">
            <a:avLst/>
          </a:prstGeom>
          <a:noFill/>
        </p:spPr>
        <p:txBody>
          <a:bodyPr wrap="square">
            <a:spAutoFit/>
          </a:bodyPr>
          <a:lstStyle/>
          <a:p>
            <a:pPr algn="l"/>
            <a:r>
              <a:rPr sz="1200" b="1" i="0">
                <a:solidFill>
                  <a:srgbClr val="FFFFFF"/>
                </a:solidFill>
                <a:latin typeface="Calibri"/>
              </a:rPr>
              <a:t>SimpleCNN</a:t>
            </a:r>
          </a:p>
        </p:txBody>
      </p:sp>
      <p:sp>
        <p:nvSpPr>
          <p:cNvPr id="13" name="Rectangle 12"/>
          <p:cNvSpPr/>
          <p:nvPr/>
        </p:nvSpPr>
        <p:spPr>
          <a:xfrm>
            <a:off x="7132320" y="1234440"/>
            <a:ext cx="2880360" cy="43891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23759" y="1289304"/>
            <a:ext cx="2743200" cy="329184"/>
          </a:xfrm>
          <a:prstGeom prst="rect">
            <a:avLst/>
          </a:prstGeom>
          <a:noFill/>
        </p:spPr>
        <p:txBody>
          <a:bodyPr wrap="square">
            <a:spAutoFit/>
          </a:bodyPr>
          <a:lstStyle/>
          <a:p>
            <a:pPr algn="l"/>
            <a:r>
              <a:rPr sz="1200" b="1" i="0">
                <a:solidFill>
                  <a:srgbClr val="FFFFFF"/>
                </a:solidFill>
                <a:latin typeface="Calibri"/>
              </a:rPr>
              <a:t>U-Net Classifier</a:t>
            </a:r>
          </a:p>
        </p:txBody>
      </p:sp>
      <p:sp>
        <p:nvSpPr>
          <p:cNvPr id="15" name="Rectangle 14"/>
          <p:cNvSpPr/>
          <p:nvPr/>
        </p:nvSpPr>
        <p:spPr>
          <a:xfrm>
            <a:off x="10241280" y="1234440"/>
            <a:ext cx="1600200" cy="43891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332719" y="1289304"/>
            <a:ext cx="1463040" cy="329184"/>
          </a:xfrm>
          <a:prstGeom prst="rect">
            <a:avLst/>
          </a:prstGeom>
          <a:noFill/>
        </p:spPr>
        <p:txBody>
          <a:bodyPr wrap="square">
            <a:spAutoFit/>
          </a:bodyPr>
          <a:lstStyle/>
          <a:p>
            <a:pPr algn="l"/>
            <a:r>
              <a:rPr sz="1200" b="1" i="0">
                <a:solidFill>
                  <a:srgbClr val="FFFFFF"/>
                </a:solidFill>
                <a:latin typeface="Calibri"/>
              </a:rPr>
              <a:t>Δ</a:t>
            </a:r>
          </a:p>
        </p:txBody>
      </p:sp>
      <p:sp>
        <p:nvSpPr>
          <p:cNvPr id="17" name="Rectangle 16"/>
          <p:cNvSpPr/>
          <p:nvPr/>
        </p:nvSpPr>
        <p:spPr>
          <a:xfrm>
            <a:off x="274320" y="1673352"/>
            <a:ext cx="3611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1728216"/>
            <a:ext cx="3474720" cy="329184"/>
          </a:xfrm>
          <a:prstGeom prst="rect">
            <a:avLst/>
          </a:prstGeom>
          <a:noFill/>
        </p:spPr>
        <p:txBody>
          <a:bodyPr wrap="square">
            <a:spAutoFit/>
          </a:bodyPr>
          <a:lstStyle/>
          <a:p>
            <a:pPr algn="l"/>
            <a:r>
              <a:rPr sz="1200" b="0" i="0">
                <a:solidFill>
                  <a:srgbClr val="1A1A2E"/>
                </a:solidFill>
                <a:latin typeface="Calibri"/>
              </a:rPr>
              <a:t>Test Accuracy</a:t>
            </a:r>
          </a:p>
        </p:txBody>
      </p:sp>
      <p:sp>
        <p:nvSpPr>
          <p:cNvPr id="19" name="Rectangle 18"/>
          <p:cNvSpPr/>
          <p:nvPr/>
        </p:nvSpPr>
        <p:spPr>
          <a:xfrm>
            <a:off x="4114800" y="1673352"/>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06240" y="1728216"/>
            <a:ext cx="2651760" cy="329184"/>
          </a:xfrm>
          <a:prstGeom prst="rect">
            <a:avLst/>
          </a:prstGeom>
          <a:noFill/>
        </p:spPr>
        <p:txBody>
          <a:bodyPr wrap="square">
            <a:spAutoFit/>
          </a:bodyPr>
          <a:lstStyle/>
          <a:p>
            <a:pPr algn="l"/>
            <a:r>
              <a:rPr sz="1200" b="0" i="0">
                <a:solidFill>
                  <a:srgbClr val="1A1A2E"/>
                </a:solidFill>
                <a:latin typeface="Calibri"/>
              </a:rPr>
              <a:t>89.23 %</a:t>
            </a:r>
          </a:p>
        </p:txBody>
      </p:sp>
      <p:sp>
        <p:nvSpPr>
          <p:cNvPr id="21" name="Rectangle 20"/>
          <p:cNvSpPr/>
          <p:nvPr/>
        </p:nvSpPr>
        <p:spPr>
          <a:xfrm>
            <a:off x="7132320" y="1673352"/>
            <a:ext cx="28803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23759" y="1728216"/>
            <a:ext cx="2743200" cy="329184"/>
          </a:xfrm>
          <a:prstGeom prst="rect">
            <a:avLst/>
          </a:prstGeom>
          <a:noFill/>
        </p:spPr>
        <p:txBody>
          <a:bodyPr wrap="square">
            <a:spAutoFit/>
          </a:bodyPr>
          <a:lstStyle/>
          <a:p>
            <a:pPr algn="l"/>
            <a:r>
              <a:rPr sz="1200" b="0" i="0">
                <a:solidFill>
                  <a:srgbClr val="1A1A2E"/>
                </a:solidFill>
                <a:latin typeface="Calibri"/>
              </a:rPr>
              <a:t>96.10 %</a:t>
            </a:r>
          </a:p>
        </p:txBody>
      </p:sp>
      <p:sp>
        <p:nvSpPr>
          <p:cNvPr id="23" name="Rectangle 22"/>
          <p:cNvSpPr/>
          <p:nvPr/>
        </p:nvSpPr>
        <p:spPr>
          <a:xfrm>
            <a:off x="10241280" y="1673352"/>
            <a:ext cx="1600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32719" y="1728216"/>
            <a:ext cx="1463040" cy="329184"/>
          </a:xfrm>
          <a:prstGeom prst="rect">
            <a:avLst/>
          </a:prstGeom>
          <a:noFill/>
        </p:spPr>
        <p:txBody>
          <a:bodyPr wrap="square">
            <a:spAutoFit/>
          </a:bodyPr>
          <a:lstStyle/>
          <a:p>
            <a:pPr algn="l"/>
            <a:r>
              <a:rPr sz="1200" b="0" i="0">
                <a:solidFill>
                  <a:srgbClr val="008800"/>
                </a:solidFill>
                <a:latin typeface="Calibri"/>
              </a:rPr>
              <a:t>+6.87 pp</a:t>
            </a:r>
          </a:p>
        </p:txBody>
      </p:sp>
      <p:sp>
        <p:nvSpPr>
          <p:cNvPr id="25" name="Rectangle 24"/>
          <p:cNvSpPr/>
          <p:nvPr/>
        </p:nvSpPr>
        <p:spPr>
          <a:xfrm>
            <a:off x="274320" y="2112264"/>
            <a:ext cx="361188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2167128"/>
            <a:ext cx="3474720" cy="329184"/>
          </a:xfrm>
          <a:prstGeom prst="rect">
            <a:avLst/>
          </a:prstGeom>
          <a:noFill/>
        </p:spPr>
        <p:txBody>
          <a:bodyPr wrap="square">
            <a:spAutoFit/>
          </a:bodyPr>
          <a:lstStyle/>
          <a:p>
            <a:pPr algn="l"/>
            <a:r>
              <a:rPr sz="1200" b="0" i="0">
                <a:solidFill>
                  <a:srgbClr val="1A1A2E"/>
                </a:solidFill>
                <a:latin typeface="Calibri"/>
              </a:rPr>
              <a:t>Weighted F1</a:t>
            </a:r>
          </a:p>
        </p:txBody>
      </p:sp>
      <p:sp>
        <p:nvSpPr>
          <p:cNvPr id="27" name="Rectangle 26"/>
          <p:cNvSpPr/>
          <p:nvPr/>
        </p:nvSpPr>
        <p:spPr>
          <a:xfrm>
            <a:off x="4114800" y="2112264"/>
            <a:ext cx="278892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06240" y="2167128"/>
            <a:ext cx="2651760" cy="329184"/>
          </a:xfrm>
          <a:prstGeom prst="rect">
            <a:avLst/>
          </a:prstGeom>
          <a:noFill/>
        </p:spPr>
        <p:txBody>
          <a:bodyPr wrap="square">
            <a:spAutoFit/>
          </a:bodyPr>
          <a:lstStyle/>
          <a:p>
            <a:pPr algn="l"/>
            <a:r>
              <a:rPr sz="1200" b="0" i="0">
                <a:solidFill>
                  <a:srgbClr val="1A1A2E"/>
                </a:solidFill>
                <a:latin typeface="Calibri"/>
              </a:rPr>
              <a:t>0.8930</a:t>
            </a:r>
          </a:p>
        </p:txBody>
      </p:sp>
      <p:sp>
        <p:nvSpPr>
          <p:cNvPr id="29" name="Rectangle 28"/>
          <p:cNvSpPr/>
          <p:nvPr/>
        </p:nvSpPr>
        <p:spPr>
          <a:xfrm>
            <a:off x="7132320" y="2112264"/>
            <a:ext cx="288036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23759" y="2167128"/>
            <a:ext cx="2743200" cy="329184"/>
          </a:xfrm>
          <a:prstGeom prst="rect">
            <a:avLst/>
          </a:prstGeom>
          <a:noFill/>
        </p:spPr>
        <p:txBody>
          <a:bodyPr wrap="square">
            <a:spAutoFit/>
          </a:bodyPr>
          <a:lstStyle/>
          <a:p>
            <a:pPr algn="l"/>
            <a:r>
              <a:rPr sz="1200" b="0" i="0">
                <a:solidFill>
                  <a:srgbClr val="1A1A2E"/>
                </a:solidFill>
                <a:latin typeface="Calibri"/>
              </a:rPr>
              <a:t>0.9610</a:t>
            </a:r>
          </a:p>
        </p:txBody>
      </p:sp>
      <p:sp>
        <p:nvSpPr>
          <p:cNvPr id="31" name="Rectangle 30"/>
          <p:cNvSpPr/>
          <p:nvPr/>
        </p:nvSpPr>
        <p:spPr>
          <a:xfrm>
            <a:off x="10241280" y="2112264"/>
            <a:ext cx="160020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332719" y="2167128"/>
            <a:ext cx="1463040" cy="329184"/>
          </a:xfrm>
          <a:prstGeom prst="rect">
            <a:avLst/>
          </a:prstGeom>
          <a:noFill/>
        </p:spPr>
        <p:txBody>
          <a:bodyPr wrap="square">
            <a:spAutoFit/>
          </a:bodyPr>
          <a:lstStyle/>
          <a:p>
            <a:pPr algn="l"/>
            <a:r>
              <a:rPr sz="1200" b="0" i="0">
                <a:solidFill>
                  <a:srgbClr val="008800"/>
                </a:solidFill>
                <a:latin typeface="Calibri"/>
              </a:rPr>
              <a:t>+0.068</a:t>
            </a:r>
          </a:p>
        </p:txBody>
      </p:sp>
      <p:sp>
        <p:nvSpPr>
          <p:cNvPr id="33" name="Rectangle 32"/>
          <p:cNvSpPr/>
          <p:nvPr/>
        </p:nvSpPr>
        <p:spPr>
          <a:xfrm>
            <a:off x="274320" y="2551176"/>
            <a:ext cx="3611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2606040"/>
            <a:ext cx="3474720" cy="329184"/>
          </a:xfrm>
          <a:prstGeom prst="rect">
            <a:avLst/>
          </a:prstGeom>
          <a:noFill/>
        </p:spPr>
        <p:txBody>
          <a:bodyPr wrap="square">
            <a:spAutoFit/>
          </a:bodyPr>
          <a:lstStyle/>
          <a:p>
            <a:pPr algn="l"/>
            <a:r>
              <a:rPr sz="1200" b="0" i="0">
                <a:solidFill>
                  <a:srgbClr val="1A1A2E"/>
                </a:solidFill>
                <a:latin typeface="Calibri"/>
              </a:rPr>
              <a:t>Weighted Precision</a:t>
            </a:r>
          </a:p>
        </p:txBody>
      </p:sp>
      <p:sp>
        <p:nvSpPr>
          <p:cNvPr id="35" name="Rectangle 34"/>
          <p:cNvSpPr/>
          <p:nvPr/>
        </p:nvSpPr>
        <p:spPr>
          <a:xfrm>
            <a:off x="4114800" y="2551176"/>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06240" y="2606040"/>
            <a:ext cx="2651760" cy="329184"/>
          </a:xfrm>
          <a:prstGeom prst="rect">
            <a:avLst/>
          </a:prstGeom>
          <a:noFill/>
        </p:spPr>
        <p:txBody>
          <a:bodyPr wrap="square">
            <a:spAutoFit/>
          </a:bodyPr>
          <a:lstStyle/>
          <a:p>
            <a:pPr algn="l"/>
            <a:r>
              <a:rPr sz="1200" b="0" i="0">
                <a:solidFill>
                  <a:srgbClr val="1A1A2E"/>
                </a:solidFill>
                <a:latin typeface="Calibri"/>
              </a:rPr>
              <a:t>0.8963</a:t>
            </a:r>
          </a:p>
        </p:txBody>
      </p:sp>
      <p:sp>
        <p:nvSpPr>
          <p:cNvPr id="37" name="Rectangle 36"/>
          <p:cNvSpPr/>
          <p:nvPr/>
        </p:nvSpPr>
        <p:spPr>
          <a:xfrm>
            <a:off x="7132320" y="2551176"/>
            <a:ext cx="28803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59" y="2606040"/>
            <a:ext cx="2743200" cy="329184"/>
          </a:xfrm>
          <a:prstGeom prst="rect">
            <a:avLst/>
          </a:prstGeom>
          <a:noFill/>
        </p:spPr>
        <p:txBody>
          <a:bodyPr wrap="square">
            <a:spAutoFit/>
          </a:bodyPr>
          <a:lstStyle/>
          <a:p>
            <a:pPr algn="l"/>
            <a:r>
              <a:rPr sz="1200" b="0" i="0">
                <a:solidFill>
                  <a:srgbClr val="1A1A2E"/>
                </a:solidFill>
                <a:latin typeface="Calibri"/>
              </a:rPr>
              <a:t>0.9613</a:t>
            </a:r>
          </a:p>
        </p:txBody>
      </p:sp>
      <p:sp>
        <p:nvSpPr>
          <p:cNvPr id="39" name="Rectangle 38"/>
          <p:cNvSpPr/>
          <p:nvPr/>
        </p:nvSpPr>
        <p:spPr>
          <a:xfrm>
            <a:off x="10241280" y="2551176"/>
            <a:ext cx="1600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332719" y="2606040"/>
            <a:ext cx="1463040" cy="329184"/>
          </a:xfrm>
          <a:prstGeom prst="rect">
            <a:avLst/>
          </a:prstGeom>
          <a:noFill/>
        </p:spPr>
        <p:txBody>
          <a:bodyPr wrap="square">
            <a:spAutoFit/>
          </a:bodyPr>
          <a:lstStyle/>
          <a:p>
            <a:pPr algn="l"/>
            <a:r>
              <a:rPr sz="1200" b="0" i="0">
                <a:solidFill>
                  <a:srgbClr val="008800"/>
                </a:solidFill>
                <a:latin typeface="Calibri"/>
              </a:rPr>
              <a:t>+0.065</a:t>
            </a:r>
          </a:p>
        </p:txBody>
      </p:sp>
      <p:sp>
        <p:nvSpPr>
          <p:cNvPr id="41" name="Rectangle 40"/>
          <p:cNvSpPr/>
          <p:nvPr/>
        </p:nvSpPr>
        <p:spPr>
          <a:xfrm>
            <a:off x="274320" y="2990088"/>
            <a:ext cx="361188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3044952"/>
            <a:ext cx="3474720" cy="329184"/>
          </a:xfrm>
          <a:prstGeom prst="rect">
            <a:avLst/>
          </a:prstGeom>
          <a:noFill/>
        </p:spPr>
        <p:txBody>
          <a:bodyPr wrap="square">
            <a:spAutoFit/>
          </a:bodyPr>
          <a:lstStyle/>
          <a:p>
            <a:pPr algn="l"/>
            <a:r>
              <a:rPr sz="1200" b="0" i="0">
                <a:solidFill>
                  <a:srgbClr val="1A1A2E"/>
                </a:solidFill>
                <a:latin typeface="Calibri"/>
              </a:rPr>
              <a:t>Weighted Recall</a:t>
            </a:r>
          </a:p>
        </p:txBody>
      </p:sp>
      <p:sp>
        <p:nvSpPr>
          <p:cNvPr id="43" name="Rectangle 42"/>
          <p:cNvSpPr/>
          <p:nvPr/>
        </p:nvSpPr>
        <p:spPr>
          <a:xfrm>
            <a:off x="4114800" y="2990088"/>
            <a:ext cx="278892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206240" y="3044952"/>
            <a:ext cx="2651760" cy="329184"/>
          </a:xfrm>
          <a:prstGeom prst="rect">
            <a:avLst/>
          </a:prstGeom>
          <a:noFill/>
        </p:spPr>
        <p:txBody>
          <a:bodyPr wrap="square">
            <a:spAutoFit/>
          </a:bodyPr>
          <a:lstStyle/>
          <a:p>
            <a:pPr algn="l"/>
            <a:r>
              <a:rPr sz="1200" b="0" i="0">
                <a:solidFill>
                  <a:srgbClr val="1A1A2E"/>
                </a:solidFill>
                <a:latin typeface="Calibri"/>
              </a:rPr>
              <a:t>0.8923</a:t>
            </a:r>
          </a:p>
        </p:txBody>
      </p:sp>
      <p:sp>
        <p:nvSpPr>
          <p:cNvPr id="45" name="Rectangle 44"/>
          <p:cNvSpPr/>
          <p:nvPr/>
        </p:nvSpPr>
        <p:spPr>
          <a:xfrm>
            <a:off x="7132320" y="2990088"/>
            <a:ext cx="288036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223759" y="3044952"/>
            <a:ext cx="2743200" cy="329184"/>
          </a:xfrm>
          <a:prstGeom prst="rect">
            <a:avLst/>
          </a:prstGeom>
          <a:noFill/>
        </p:spPr>
        <p:txBody>
          <a:bodyPr wrap="square">
            <a:spAutoFit/>
          </a:bodyPr>
          <a:lstStyle/>
          <a:p>
            <a:pPr algn="l"/>
            <a:r>
              <a:rPr sz="1200" b="0" i="0">
                <a:solidFill>
                  <a:srgbClr val="1A1A2E"/>
                </a:solidFill>
                <a:latin typeface="Calibri"/>
              </a:rPr>
              <a:t>0.9610</a:t>
            </a:r>
          </a:p>
        </p:txBody>
      </p:sp>
      <p:sp>
        <p:nvSpPr>
          <p:cNvPr id="47" name="Rectangle 46"/>
          <p:cNvSpPr/>
          <p:nvPr/>
        </p:nvSpPr>
        <p:spPr>
          <a:xfrm>
            <a:off x="10241280" y="2990088"/>
            <a:ext cx="160020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332719" y="3044952"/>
            <a:ext cx="1463040" cy="329184"/>
          </a:xfrm>
          <a:prstGeom prst="rect">
            <a:avLst/>
          </a:prstGeom>
          <a:noFill/>
        </p:spPr>
        <p:txBody>
          <a:bodyPr wrap="square">
            <a:spAutoFit/>
          </a:bodyPr>
          <a:lstStyle/>
          <a:p>
            <a:pPr algn="l"/>
            <a:r>
              <a:rPr sz="1200" b="0" i="0">
                <a:solidFill>
                  <a:srgbClr val="008800"/>
                </a:solidFill>
                <a:latin typeface="Calibri"/>
              </a:rPr>
              <a:t>+0.069</a:t>
            </a:r>
          </a:p>
        </p:txBody>
      </p:sp>
      <p:sp>
        <p:nvSpPr>
          <p:cNvPr id="49" name="Rectangle 48"/>
          <p:cNvSpPr/>
          <p:nvPr/>
        </p:nvSpPr>
        <p:spPr>
          <a:xfrm>
            <a:off x="274320" y="3429000"/>
            <a:ext cx="3611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5760" y="3483864"/>
            <a:ext cx="3474720" cy="329184"/>
          </a:xfrm>
          <a:prstGeom prst="rect">
            <a:avLst/>
          </a:prstGeom>
          <a:noFill/>
        </p:spPr>
        <p:txBody>
          <a:bodyPr wrap="square">
            <a:spAutoFit/>
          </a:bodyPr>
          <a:lstStyle/>
          <a:p>
            <a:pPr algn="l"/>
            <a:r>
              <a:rPr sz="1200" b="0" i="0">
                <a:solidFill>
                  <a:srgbClr val="1A1A2E"/>
                </a:solidFill>
                <a:latin typeface="Calibri"/>
              </a:rPr>
              <a:t>Best Val Loss</a:t>
            </a:r>
          </a:p>
        </p:txBody>
      </p:sp>
      <p:sp>
        <p:nvSpPr>
          <p:cNvPr id="51" name="Rectangle 50"/>
          <p:cNvSpPr/>
          <p:nvPr/>
        </p:nvSpPr>
        <p:spPr>
          <a:xfrm>
            <a:off x="4114800" y="3429000"/>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206240" y="3483864"/>
            <a:ext cx="2651760" cy="329184"/>
          </a:xfrm>
          <a:prstGeom prst="rect">
            <a:avLst/>
          </a:prstGeom>
          <a:noFill/>
        </p:spPr>
        <p:txBody>
          <a:bodyPr wrap="square">
            <a:spAutoFit/>
          </a:bodyPr>
          <a:lstStyle/>
          <a:p>
            <a:pPr algn="l"/>
            <a:r>
              <a:rPr sz="1200" b="0" i="0">
                <a:solidFill>
                  <a:srgbClr val="1A1A2E"/>
                </a:solidFill>
                <a:latin typeface="Calibri"/>
              </a:rPr>
              <a:t>0.3105</a:t>
            </a:r>
          </a:p>
        </p:txBody>
      </p:sp>
      <p:sp>
        <p:nvSpPr>
          <p:cNvPr id="53" name="Rectangle 52"/>
          <p:cNvSpPr/>
          <p:nvPr/>
        </p:nvSpPr>
        <p:spPr>
          <a:xfrm>
            <a:off x="7132320" y="3429000"/>
            <a:ext cx="28803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23759" y="3483864"/>
            <a:ext cx="2743200" cy="329184"/>
          </a:xfrm>
          <a:prstGeom prst="rect">
            <a:avLst/>
          </a:prstGeom>
          <a:noFill/>
        </p:spPr>
        <p:txBody>
          <a:bodyPr wrap="square">
            <a:spAutoFit/>
          </a:bodyPr>
          <a:lstStyle/>
          <a:p>
            <a:pPr algn="l"/>
            <a:r>
              <a:rPr sz="1200" b="0" i="0">
                <a:solidFill>
                  <a:srgbClr val="1A1A2E"/>
                </a:solidFill>
                <a:latin typeface="Calibri"/>
              </a:rPr>
              <a:t>0.1116</a:t>
            </a:r>
          </a:p>
        </p:txBody>
      </p:sp>
      <p:sp>
        <p:nvSpPr>
          <p:cNvPr id="55" name="Rectangle 54"/>
          <p:cNvSpPr/>
          <p:nvPr/>
        </p:nvSpPr>
        <p:spPr>
          <a:xfrm>
            <a:off x="10241280" y="3429000"/>
            <a:ext cx="1600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2719" y="3483864"/>
            <a:ext cx="1463040" cy="329184"/>
          </a:xfrm>
          <a:prstGeom prst="rect">
            <a:avLst/>
          </a:prstGeom>
          <a:noFill/>
        </p:spPr>
        <p:txBody>
          <a:bodyPr wrap="square">
            <a:spAutoFit/>
          </a:bodyPr>
          <a:lstStyle/>
          <a:p>
            <a:pPr algn="l"/>
            <a:r>
              <a:rPr sz="1200" b="0" i="0">
                <a:solidFill>
                  <a:srgbClr val="CC0000"/>
                </a:solidFill>
                <a:latin typeface="Calibri"/>
              </a:rPr>
              <a:t>−64 %</a:t>
            </a:r>
          </a:p>
        </p:txBody>
      </p:sp>
      <p:sp>
        <p:nvSpPr>
          <p:cNvPr id="57" name="Rectangle 56"/>
          <p:cNvSpPr/>
          <p:nvPr/>
        </p:nvSpPr>
        <p:spPr>
          <a:xfrm>
            <a:off x="274320" y="3867912"/>
            <a:ext cx="361188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65760" y="3922776"/>
            <a:ext cx="3474720" cy="329184"/>
          </a:xfrm>
          <a:prstGeom prst="rect">
            <a:avLst/>
          </a:prstGeom>
          <a:noFill/>
        </p:spPr>
        <p:txBody>
          <a:bodyPr wrap="square">
            <a:spAutoFit/>
          </a:bodyPr>
          <a:lstStyle/>
          <a:p>
            <a:pPr algn="l"/>
            <a:r>
              <a:rPr sz="1200" b="0" i="0">
                <a:solidFill>
                  <a:srgbClr val="1A1A2E"/>
                </a:solidFill>
                <a:latin typeface="Calibri"/>
              </a:rPr>
              <a:t>Best Epoch</a:t>
            </a:r>
          </a:p>
        </p:txBody>
      </p:sp>
      <p:sp>
        <p:nvSpPr>
          <p:cNvPr id="59" name="Rectangle 58"/>
          <p:cNvSpPr/>
          <p:nvPr/>
        </p:nvSpPr>
        <p:spPr>
          <a:xfrm>
            <a:off x="4114800" y="3867912"/>
            <a:ext cx="278892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206240" y="3922776"/>
            <a:ext cx="2651760" cy="329184"/>
          </a:xfrm>
          <a:prstGeom prst="rect">
            <a:avLst/>
          </a:prstGeom>
          <a:noFill/>
        </p:spPr>
        <p:txBody>
          <a:bodyPr wrap="square">
            <a:spAutoFit/>
          </a:bodyPr>
          <a:lstStyle/>
          <a:p>
            <a:pPr algn="l"/>
            <a:r>
              <a:rPr sz="1200" b="0" i="0">
                <a:solidFill>
                  <a:srgbClr val="1A1A2E"/>
                </a:solidFill>
                <a:latin typeface="Calibri"/>
              </a:rPr>
              <a:t>11</a:t>
            </a:r>
          </a:p>
        </p:txBody>
      </p:sp>
      <p:sp>
        <p:nvSpPr>
          <p:cNvPr id="61" name="Rectangle 60"/>
          <p:cNvSpPr/>
          <p:nvPr/>
        </p:nvSpPr>
        <p:spPr>
          <a:xfrm>
            <a:off x="7132320" y="3867912"/>
            <a:ext cx="288036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223759" y="3922776"/>
            <a:ext cx="2743200" cy="329184"/>
          </a:xfrm>
          <a:prstGeom prst="rect">
            <a:avLst/>
          </a:prstGeom>
          <a:noFill/>
        </p:spPr>
        <p:txBody>
          <a:bodyPr wrap="square">
            <a:spAutoFit/>
          </a:bodyPr>
          <a:lstStyle/>
          <a:p>
            <a:pPr algn="l"/>
            <a:r>
              <a:rPr sz="1200" b="0" i="0">
                <a:solidFill>
                  <a:srgbClr val="1A1A2E"/>
                </a:solidFill>
                <a:latin typeface="Calibri"/>
              </a:rPr>
              <a:t>24</a:t>
            </a:r>
          </a:p>
        </p:txBody>
      </p:sp>
      <p:sp>
        <p:nvSpPr>
          <p:cNvPr id="63" name="Rectangle 62"/>
          <p:cNvSpPr/>
          <p:nvPr/>
        </p:nvSpPr>
        <p:spPr>
          <a:xfrm>
            <a:off x="10241280" y="3867912"/>
            <a:ext cx="160020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332719" y="3922776"/>
            <a:ext cx="1463040" cy="329184"/>
          </a:xfrm>
          <a:prstGeom prst="rect">
            <a:avLst/>
          </a:prstGeom>
          <a:noFill/>
        </p:spPr>
        <p:txBody>
          <a:bodyPr wrap="square">
            <a:spAutoFit/>
          </a:bodyPr>
          <a:lstStyle/>
          <a:p>
            <a:pPr algn="l"/>
            <a:r>
              <a:rPr sz="1200" b="0" i="0">
                <a:solidFill>
                  <a:srgbClr val="1A1A2E"/>
                </a:solidFill>
                <a:latin typeface="Calibri"/>
              </a:rPr>
              <a:t>×2.2</a:t>
            </a:r>
          </a:p>
        </p:txBody>
      </p:sp>
      <p:sp>
        <p:nvSpPr>
          <p:cNvPr id="65" name="Rectangle 64"/>
          <p:cNvSpPr/>
          <p:nvPr/>
        </p:nvSpPr>
        <p:spPr>
          <a:xfrm>
            <a:off x="274320" y="4306824"/>
            <a:ext cx="3611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65760" y="4361688"/>
            <a:ext cx="3474720" cy="329184"/>
          </a:xfrm>
          <a:prstGeom prst="rect">
            <a:avLst/>
          </a:prstGeom>
          <a:noFill/>
        </p:spPr>
        <p:txBody>
          <a:bodyPr wrap="square">
            <a:spAutoFit/>
          </a:bodyPr>
          <a:lstStyle/>
          <a:p>
            <a:pPr algn="l"/>
            <a:r>
              <a:rPr sz="1200" b="0" i="0">
                <a:solidFill>
                  <a:srgbClr val="1A1A2E"/>
                </a:solidFill>
                <a:latin typeface="Calibri"/>
              </a:rPr>
              <a:t>Parameters</a:t>
            </a:r>
          </a:p>
        </p:txBody>
      </p:sp>
      <p:sp>
        <p:nvSpPr>
          <p:cNvPr id="67" name="Rectangle 66"/>
          <p:cNvSpPr/>
          <p:nvPr/>
        </p:nvSpPr>
        <p:spPr>
          <a:xfrm>
            <a:off x="4114800" y="4306824"/>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206240" y="4361688"/>
            <a:ext cx="2651760" cy="329184"/>
          </a:xfrm>
          <a:prstGeom prst="rect">
            <a:avLst/>
          </a:prstGeom>
          <a:noFill/>
        </p:spPr>
        <p:txBody>
          <a:bodyPr wrap="square">
            <a:spAutoFit/>
          </a:bodyPr>
          <a:lstStyle/>
          <a:p>
            <a:pPr algn="l"/>
            <a:r>
              <a:rPr sz="1200" b="0" i="0">
                <a:solidFill>
                  <a:srgbClr val="1A1A2E"/>
                </a:solidFill>
                <a:latin typeface="Calibri"/>
              </a:rPr>
              <a:t>~4.5 M</a:t>
            </a:r>
          </a:p>
        </p:txBody>
      </p:sp>
      <p:sp>
        <p:nvSpPr>
          <p:cNvPr id="69" name="Rectangle 68"/>
          <p:cNvSpPr/>
          <p:nvPr/>
        </p:nvSpPr>
        <p:spPr>
          <a:xfrm>
            <a:off x="7132320" y="4306824"/>
            <a:ext cx="28803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223759" y="4361688"/>
            <a:ext cx="2743200" cy="329184"/>
          </a:xfrm>
          <a:prstGeom prst="rect">
            <a:avLst/>
          </a:prstGeom>
          <a:noFill/>
        </p:spPr>
        <p:txBody>
          <a:bodyPr wrap="square">
            <a:spAutoFit/>
          </a:bodyPr>
          <a:lstStyle/>
          <a:p>
            <a:pPr algn="l"/>
            <a:r>
              <a:rPr sz="1200" b="0" i="0">
                <a:solidFill>
                  <a:srgbClr val="1A1A2E"/>
                </a:solidFill>
                <a:latin typeface="Calibri"/>
              </a:rPr>
              <a:t>~8.1 M</a:t>
            </a:r>
          </a:p>
        </p:txBody>
      </p:sp>
      <p:sp>
        <p:nvSpPr>
          <p:cNvPr id="71" name="Rectangle 70"/>
          <p:cNvSpPr/>
          <p:nvPr/>
        </p:nvSpPr>
        <p:spPr>
          <a:xfrm>
            <a:off x="10241280" y="4306824"/>
            <a:ext cx="1600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332719" y="4361688"/>
            <a:ext cx="1463040" cy="329184"/>
          </a:xfrm>
          <a:prstGeom prst="rect">
            <a:avLst/>
          </a:prstGeom>
          <a:noFill/>
        </p:spPr>
        <p:txBody>
          <a:bodyPr wrap="square">
            <a:spAutoFit/>
          </a:bodyPr>
          <a:lstStyle/>
          <a:p>
            <a:pPr algn="l"/>
            <a:r>
              <a:rPr sz="1200" b="0" i="0">
                <a:solidFill>
                  <a:srgbClr val="1A1A2E"/>
                </a:solidFill>
                <a:latin typeface="Calibri"/>
              </a:rPr>
              <a:t>×1.8</a:t>
            </a:r>
          </a:p>
        </p:txBody>
      </p:sp>
      <p:sp>
        <p:nvSpPr>
          <p:cNvPr id="73" name="Rectangle 72"/>
          <p:cNvSpPr/>
          <p:nvPr/>
        </p:nvSpPr>
        <p:spPr>
          <a:xfrm>
            <a:off x="274320" y="4745736"/>
            <a:ext cx="361188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65760" y="4800600"/>
            <a:ext cx="3474720" cy="329184"/>
          </a:xfrm>
          <a:prstGeom prst="rect">
            <a:avLst/>
          </a:prstGeom>
          <a:noFill/>
        </p:spPr>
        <p:txBody>
          <a:bodyPr wrap="square">
            <a:spAutoFit/>
          </a:bodyPr>
          <a:lstStyle/>
          <a:p>
            <a:pPr algn="l"/>
            <a:r>
              <a:rPr sz="1200" b="0" i="0">
                <a:solidFill>
                  <a:srgbClr val="1A1A2E"/>
                </a:solidFill>
                <a:latin typeface="Calibri"/>
              </a:rPr>
              <a:t>Model size</a:t>
            </a:r>
          </a:p>
        </p:txBody>
      </p:sp>
      <p:sp>
        <p:nvSpPr>
          <p:cNvPr id="75" name="Rectangle 74"/>
          <p:cNvSpPr/>
          <p:nvPr/>
        </p:nvSpPr>
        <p:spPr>
          <a:xfrm>
            <a:off x="4114800" y="4745736"/>
            <a:ext cx="278892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206240" y="4800600"/>
            <a:ext cx="2651760" cy="329184"/>
          </a:xfrm>
          <a:prstGeom prst="rect">
            <a:avLst/>
          </a:prstGeom>
          <a:noFill/>
        </p:spPr>
        <p:txBody>
          <a:bodyPr wrap="square">
            <a:spAutoFit/>
          </a:bodyPr>
          <a:lstStyle/>
          <a:p>
            <a:pPr algn="l"/>
            <a:r>
              <a:rPr sz="1200" b="0" i="0">
                <a:solidFill>
                  <a:srgbClr val="1A1A2E"/>
                </a:solidFill>
                <a:latin typeface="Calibri"/>
              </a:rPr>
              <a:t>17.2 MB</a:t>
            </a:r>
          </a:p>
        </p:txBody>
      </p:sp>
      <p:sp>
        <p:nvSpPr>
          <p:cNvPr id="77" name="Rectangle 76"/>
          <p:cNvSpPr/>
          <p:nvPr/>
        </p:nvSpPr>
        <p:spPr>
          <a:xfrm>
            <a:off x="7132320" y="4745736"/>
            <a:ext cx="288036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223759" y="4800600"/>
            <a:ext cx="2743200" cy="329184"/>
          </a:xfrm>
          <a:prstGeom prst="rect">
            <a:avLst/>
          </a:prstGeom>
          <a:noFill/>
        </p:spPr>
        <p:txBody>
          <a:bodyPr wrap="square">
            <a:spAutoFit/>
          </a:bodyPr>
          <a:lstStyle/>
          <a:p>
            <a:pPr algn="l"/>
            <a:r>
              <a:rPr sz="1200" b="0" i="0">
                <a:solidFill>
                  <a:srgbClr val="1A1A2E"/>
                </a:solidFill>
                <a:latin typeface="Calibri"/>
              </a:rPr>
              <a:t>30.9 MB</a:t>
            </a:r>
          </a:p>
        </p:txBody>
      </p:sp>
      <p:sp>
        <p:nvSpPr>
          <p:cNvPr id="79" name="Rectangle 78"/>
          <p:cNvSpPr/>
          <p:nvPr/>
        </p:nvSpPr>
        <p:spPr>
          <a:xfrm>
            <a:off x="10241280" y="4745736"/>
            <a:ext cx="160020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0332719" y="4800600"/>
            <a:ext cx="1463040" cy="329184"/>
          </a:xfrm>
          <a:prstGeom prst="rect">
            <a:avLst/>
          </a:prstGeom>
          <a:noFill/>
        </p:spPr>
        <p:txBody>
          <a:bodyPr wrap="square">
            <a:spAutoFit/>
          </a:bodyPr>
          <a:lstStyle/>
          <a:p>
            <a:pPr algn="l"/>
            <a:r>
              <a:rPr sz="1200" b="0" i="0">
                <a:solidFill>
                  <a:srgbClr val="1A1A2E"/>
                </a:solidFill>
                <a:latin typeface="Calibri"/>
              </a:rPr>
              <a:t>×1.8</a:t>
            </a:r>
          </a:p>
        </p:txBody>
      </p:sp>
      <p:sp>
        <p:nvSpPr>
          <p:cNvPr id="81" name="Rectangle 80"/>
          <p:cNvSpPr/>
          <p:nvPr/>
        </p:nvSpPr>
        <p:spPr>
          <a:xfrm>
            <a:off x="274320" y="5184648"/>
            <a:ext cx="3611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65760" y="5239512"/>
            <a:ext cx="3474720" cy="329184"/>
          </a:xfrm>
          <a:prstGeom prst="rect">
            <a:avLst/>
          </a:prstGeom>
          <a:noFill/>
        </p:spPr>
        <p:txBody>
          <a:bodyPr wrap="square">
            <a:spAutoFit/>
          </a:bodyPr>
          <a:lstStyle/>
          <a:p>
            <a:pPr algn="l"/>
            <a:r>
              <a:rPr sz="1200" b="0" i="0">
                <a:solidFill>
                  <a:srgbClr val="1A1A2E"/>
                </a:solidFill>
                <a:latin typeface="Calibri"/>
              </a:rPr>
              <a:t>Worst-class F1</a:t>
            </a:r>
          </a:p>
        </p:txBody>
      </p:sp>
      <p:sp>
        <p:nvSpPr>
          <p:cNvPr id="83" name="Rectangle 82"/>
          <p:cNvSpPr/>
          <p:nvPr/>
        </p:nvSpPr>
        <p:spPr>
          <a:xfrm>
            <a:off x="4114800" y="5184648"/>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206240" y="5239512"/>
            <a:ext cx="2651760" cy="329184"/>
          </a:xfrm>
          <a:prstGeom prst="rect">
            <a:avLst/>
          </a:prstGeom>
          <a:noFill/>
        </p:spPr>
        <p:txBody>
          <a:bodyPr wrap="square">
            <a:spAutoFit/>
          </a:bodyPr>
          <a:lstStyle/>
          <a:p>
            <a:pPr algn="l"/>
            <a:r>
              <a:rPr sz="1200" b="0" i="0">
                <a:solidFill>
                  <a:srgbClr val="1A1A2E"/>
                </a:solidFill>
                <a:latin typeface="Calibri"/>
              </a:rPr>
              <a:t>0.821</a:t>
            </a:r>
          </a:p>
        </p:txBody>
      </p:sp>
      <p:sp>
        <p:nvSpPr>
          <p:cNvPr id="85" name="Rectangle 84"/>
          <p:cNvSpPr/>
          <p:nvPr/>
        </p:nvSpPr>
        <p:spPr>
          <a:xfrm>
            <a:off x="7132320" y="5184648"/>
            <a:ext cx="28803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223759" y="5239512"/>
            <a:ext cx="2743200" cy="329184"/>
          </a:xfrm>
          <a:prstGeom prst="rect">
            <a:avLst/>
          </a:prstGeom>
          <a:noFill/>
        </p:spPr>
        <p:txBody>
          <a:bodyPr wrap="square">
            <a:spAutoFit/>
          </a:bodyPr>
          <a:lstStyle/>
          <a:p>
            <a:pPr algn="l"/>
            <a:r>
              <a:rPr sz="1200" b="0" i="0">
                <a:solidFill>
                  <a:srgbClr val="1A1A2E"/>
                </a:solidFill>
                <a:latin typeface="Calibri"/>
              </a:rPr>
              <a:t>0.939</a:t>
            </a:r>
          </a:p>
        </p:txBody>
      </p:sp>
      <p:sp>
        <p:nvSpPr>
          <p:cNvPr id="87" name="Rectangle 86"/>
          <p:cNvSpPr/>
          <p:nvPr/>
        </p:nvSpPr>
        <p:spPr>
          <a:xfrm>
            <a:off x="10241280" y="5184648"/>
            <a:ext cx="1600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10332719" y="5239512"/>
            <a:ext cx="1463040" cy="329184"/>
          </a:xfrm>
          <a:prstGeom prst="rect">
            <a:avLst/>
          </a:prstGeom>
          <a:noFill/>
        </p:spPr>
        <p:txBody>
          <a:bodyPr wrap="square">
            <a:spAutoFit/>
          </a:bodyPr>
          <a:lstStyle/>
          <a:p>
            <a:pPr algn="l"/>
            <a:r>
              <a:rPr sz="1200" b="0" i="0">
                <a:solidFill>
                  <a:srgbClr val="008800"/>
                </a:solidFill>
                <a:latin typeface="Calibri"/>
              </a:rPr>
              <a:t>+0.118</a:t>
            </a:r>
          </a:p>
        </p:txBody>
      </p:sp>
      <p:pic>
        <p:nvPicPr>
          <p:cNvPr id="89" name="Picture 88" descr="fig6_metrics_comparison.png"/>
          <p:cNvPicPr>
            <a:picLocks noChangeAspect="1"/>
          </p:cNvPicPr>
          <p:nvPr/>
        </p:nvPicPr>
        <p:blipFill>
          <a:blip r:embed="rId3"/>
          <a:stretch>
            <a:fillRect/>
          </a:stretch>
        </p:blipFill>
        <p:spPr>
          <a:xfrm>
            <a:off x="1252728" y="3251720"/>
            <a:ext cx="3054096" cy="16804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Conclusion</a:t>
            </a:r>
          </a:p>
        </p:txBody>
      </p:sp>
      <p:sp>
        <p:nvSpPr>
          <p:cNvPr id="5" name="Rectangle 4"/>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en-US" sz="1000" b="0" i="0" dirty="0">
                <a:solidFill>
                  <a:srgbClr val="AABBCC"/>
                </a:solidFill>
                <a:latin typeface="Calibri"/>
              </a:rPr>
              <a:t>6</a:t>
            </a:r>
            <a:endParaRPr sz="1000" b="0" i="0" dirty="0">
              <a:solidFill>
                <a:srgbClr val="AABBCC"/>
              </a:solidFill>
              <a:latin typeface="Calibri"/>
            </a:endParaRPr>
          </a:p>
        </p:txBody>
      </p:sp>
      <p:sp>
        <p:nvSpPr>
          <p:cNvPr id="8" name="TextBox 7"/>
          <p:cNvSpPr txBox="1"/>
          <p:nvPr/>
        </p:nvSpPr>
        <p:spPr>
          <a:xfrm>
            <a:off x="365760" y="1234440"/>
            <a:ext cx="5486400" cy="2744341"/>
          </a:xfrm>
          <a:prstGeom prst="rect">
            <a:avLst/>
          </a:prstGeom>
          <a:noFill/>
        </p:spPr>
        <p:txBody>
          <a:bodyPr wrap="square">
            <a:spAutoFit/>
          </a:bodyPr>
          <a:lstStyle/>
          <a:p>
            <a:pPr>
              <a:spcBef>
                <a:spcPts val="500"/>
              </a:spcBef>
            </a:pPr>
            <a:r>
              <a:rPr sz="1700" b="1" dirty="0" err="1">
                <a:solidFill>
                  <a:srgbClr val="0D2B55"/>
                </a:solidFill>
                <a:latin typeface="Calibri"/>
              </a:rPr>
              <a:t>SimpleCNN</a:t>
            </a:r>
            <a:endParaRPr sz="1700" b="1" dirty="0">
              <a:solidFill>
                <a:srgbClr val="0D2B55"/>
              </a:solidFill>
              <a:latin typeface="Calibri"/>
            </a:endParaRPr>
          </a:p>
          <a:p>
            <a:pPr>
              <a:spcBef>
                <a:spcPts val="500"/>
              </a:spcBef>
            </a:pPr>
            <a:r>
              <a:rPr sz="1500" b="0" dirty="0">
                <a:solidFill>
                  <a:srgbClr val="1A1A2E"/>
                </a:solidFill>
                <a:latin typeface="Calibri"/>
              </a:rPr>
              <a:t>▸  89.23 % accuracy  ·  F1 = 0.893</a:t>
            </a:r>
          </a:p>
          <a:p>
            <a:pPr>
              <a:spcBef>
                <a:spcPts val="500"/>
              </a:spcBef>
            </a:pPr>
            <a:r>
              <a:rPr sz="1500" b="0" dirty="0">
                <a:solidFill>
                  <a:srgbClr val="1A1A2E"/>
                </a:solidFill>
                <a:latin typeface="Calibri"/>
              </a:rPr>
              <a:t>▸  Converges in 1</a:t>
            </a:r>
            <a:r>
              <a:rPr lang="en-US" sz="1500" b="0" dirty="0">
                <a:solidFill>
                  <a:srgbClr val="1A1A2E"/>
                </a:solidFill>
                <a:latin typeface="Calibri"/>
              </a:rPr>
              <a:t>2</a:t>
            </a:r>
            <a:r>
              <a:rPr sz="1500" b="0" dirty="0">
                <a:solidFill>
                  <a:srgbClr val="1A1A2E"/>
                </a:solidFill>
                <a:latin typeface="Calibri"/>
              </a:rPr>
              <a:t> epochs  ·  4.5 M params</a:t>
            </a:r>
          </a:p>
          <a:p>
            <a:pPr>
              <a:spcBef>
                <a:spcPts val="500"/>
              </a:spcBef>
            </a:pPr>
            <a:r>
              <a:rPr sz="1500" b="0" dirty="0">
                <a:solidFill>
                  <a:srgbClr val="1A1A2E"/>
                </a:solidFill>
                <a:latin typeface="Calibri"/>
              </a:rPr>
              <a:t>▸  Fast, lightweight, practical baseline</a:t>
            </a:r>
          </a:p>
          <a:p>
            <a:pPr>
              <a:spcBef>
                <a:spcPts val="500"/>
              </a:spcBef>
            </a:pPr>
            <a:r>
              <a:rPr sz="1500" b="0" dirty="0">
                <a:solidFill>
                  <a:srgbClr val="1A1A2E"/>
                </a:solidFill>
                <a:latin typeface="Calibri"/>
              </a:rPr>
              <a:t>▸  </a:t>
            </a:r>
          </a:p>
          <a:p>
            <a:pPr>
              <a:spcBef>
                <a:spcPts val="500"/>
              </a:spcBef>
            </a:pPr>
            <a:r>
              <a:rPr sz="1700" b="1" dirty="0">
                <a:solidFill>
                  <a:srgbClr val="0D2B55"/>
                </a:solidFill>
                <a:latin typeface="Calibri"/>
              </a:rPr>
              <a:t>U-Net Classifier</a:t>
            </a:r>
          </a:p>
          <a:p>
            <a:pPr>
              <a:spcBef>
                <a:spcPts val="500"/>
              </a:spcBef>
            </a:pPr>
            <a:r>
              <a:rPr sz="1500" b="0" dirty="0">
                <a:solidFill>
                  <a:srgbClr val="1A1A2E"/>
                </a:solidFill>
                <a:latin typeface="Calibri"/>
              </a:rPr>
              <a:t>▸  96.10 % accuracy  ·  F1 = 0.961</a:t>
            </a:r>
          </a:p>
          <a:p>
            <a:pPr>
              <a:spcBef>
                <a:spcPts val="500"/>
              </a:spcBef>
            </a:pPr>
            <a:r>
              <a:rPr sz="1500" b="0" dirty="0">
                <a:solidFill>
                  <a:srgbClr val="1A1A2E"/>
                </a:solidFill>
                <a:latin typeface="Calibri"/>
              </a:rPr>
              <a:t>▸  Converges in 24 epochs  ·  8.1 M params</a:t>
            </a:r>
          </a:p>
          <a:p>
            <a:pPr>
              <a:spcBef>
                <a:spcPts val="500"/>
              </a:spcBef>
            </a:pPr>
            <a:r>
              <a:rPr sz="1500" b="0" dirty="0">
                <a:solidFill>
                  <a:srgbClr val="1A1A2E"/>
                </a:solidFill>
                <a:latin typeface="Calibri"/>
              </a:rPr>
              <a:t>▸  +6.87 pp over </a:t>
            </a:r>
            <a:r>
              <a:rPr sz="1500" b="0" dirty="0" err="1">
                <a:solidFill>
                  <a:srgbClr val="1A1A2E"/>
                </a:solidFill>
                <a:latin typeface="Calibri"/>
              </a:rPr>
              <a:t>SimpleCNN</a:t>
            </a:r>
            <a:r>
              <a:rPr sz="1500" b="0" dirty="0">
                <a:solidFill>
                  <a:srgbClr val="1A1A2E"/>
                </a:solidFill>
                <a:latin typeface="Calibri"/>
              </a:rPr>
              <a:t> across all classes</a:t>
            </a:r>
          </a:p>
        </p:txBody>
      </p:sp>
      <p:sp>
        <p:nvSpPr>
          <p:cNvPr id="9" name="Rectangle 8"/>
          <p:cNvSpPr/>
          <p:nvPr/>
        </p:nvSpPr>
        <p:spPr>
          <a:xfrm>
            <a:off x="6126480" y="1234440"/>
            <a:ext cx="5760720" cy="50292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280160"/>
            <a:ext cx="5394960" cy="4846320"/>
          </a:xfrm>
          <a:prstGeom prst="rect">
            <a:avLst/>
          </a:prstGeom>
          <a:noFill/>
        </p:spPr>
        <p:txBody>
          <a:bodyPr wrap="square">
            <a:spAutoFit/>
          </a:bodyPr>
          <a:lstStyle/>
          <a:p>
            <a:pPr>
              <a:spcBef>
                <a:spcPts val="400"/>
              </a:spcBef>
            </a:pPr>
            <a:r>
              <a:rPr sz="1600" b="1">
                <a:solidFill>
                  <a:srgbClr val="E88C00"/>
                </a:solidFill>
                <a:latin typeface="Calibri"/>
              </a:rPr>
              <a:t>Key Lessons</a:t>
            </a:r>
          </a:p>
          <a:p>
            <a:pPr>
              <a:spcBef>
                <a:spcPts val="400"/>
              </a:spcBef>
            </a:pPr>
            <a:r>
              <a:rPr sz="1300" b="0">
                <a:solidFill>
                  <a:srgbClr val="FFFFFF"/>
                </a:solidFill>
                <a:latin typeface="Calibri"/>
              </a:rPr>
              <a:t>▸  Skip connections + hierarchical reuse = best architectural choice for satellite imagery</a:t>
            </a:r>
          </a:p>
          <a:p>
            <a:pPr>
              <a:spcBef>
                <a:spcPts val="400"/>
              </a:spcBef>
            </a:pPr>
            <a:r>
              <a:rPr sz="1300" b="0">
                <a:solidFill>
                  <a:srgbClr val="FFFFFF"/>
                </a:solidFill>
                <a:latin typeface="Calibri"/>
              </a:rPr>
              <a:t>▸  U-Net naturally combines local texture and global context</a:t>
            </a:r>
          </a:p>
          <a:p>
            <a:pPr>
              <a:spcBef>
                <a:spcPts val="400"/>
              </a:spcBef>
            </a:pPr>
            <a:r>
              <a:rPr sz="1300" b="0">
                <a:solidFill>
                  <a:srgbClr val="FFFFFF"/>
                </a:solidFill>
                <a:latin typeface="Calibri"/>
              </a:rPr>
              <a:t>▸  Batch Normalization critical: +3 pp accuracy, faster convergence</a:t>
            </a:r>
          </a:p>
          <a:p>
            <a:pPr>
              <a:spcBef>
                <a:spcPts val="400"/>
              </a:spcBef>
            </a:pPr>
            <a:r>
              <a:rPr sz="1300" b="0">
                <a:solidFill>
                  <a:srgbClr val="FFFFFF"/>
                </a:solidFill>
                <a:latin typeface="Calibri"/>
              </a:rPr>
              <a:t>▸  Early stopping + fixed seed → reproducible, robust evaluation</a:t>
            </a:r>
          </a:p>
          <a:p>
            <a:pPr>
              <a:spcBef>
                <a:spcPts val="400"/>
              </a:spcBef>
            </a:pPr>
            <a:endParaRPr sz="1300" b="0">
              <a:solidFill>
                <a:srgbClr val="FFFFFF"/>
              </a:solidFill>
              <a:latin typeface="Calibri"/>
            </a:endParaRPr>
          </a:p>
          <a:p>
            <a:pPr>
              <a:spcBef>
                <a:spcPts val="400"/>
              </a:spcBef>
            </a:pPr>
            <a:r>
              <a:rPr sz="1600" b="1">
                <a:solidFill>
                  <a:srgbClr val="E88C00"/>
                </a:solidFill>
                <a:latin typeface="Calibri"/>
              </a:rPr>
              <a:t>Future Work</a:t>
            </a:r>
          </a:p>
          <a:p>
            <a:pPr>
              <a:spcBef>
                <a:spcPts val="400"/>
              </a:spcBef>
            </a:pPr>
            <a:r>
              <a:rPr sz="1300" b="0">
                <a:solidFill>
                  <a:srgbClr val="FFFFFF"/>
                </a:solidFill>
                <a:latin typeface="Calibri"/>
              </a:rPr>
              <a:t>▸  Use all 13 Sentinel-2 bands (NIR/SWIR boost vegetation classes)</a:t>
            </a:r>
          </a:p>
          <a:p>
            <a:pPr>
              <a:spcBef>
                <a:spcPts val="400"/>
              </a:spcBef>
            </a:pPr>
            <a:r>
              <a:rPr sz="1300" b="0">
                <a:solidFill>
                  <a:srgbClr val="FFFFFF"/>
                </a:solidFill>
                <a:latin typeface="Calibri"/>
              </a:rPr>
              <a:t>▸  Data augmentation (flips, rotation) especially for Pasture</a:t>
            </a:r>
          </a:p>
          <a:p>
            <a:pPr>
              <a:spcBef>
                <a:spcPts val="400"/>
              </a:spcBef>
            </a:pPr>
            <a:r>
              <a:rPr sz="1300" b="0">
                <a:solidFill>
                  <a:srgbClr val="FFFFFF"/>
                </a:solidFill>
                <a:latin typeface="Calibri"/>
              </a:rPr>
              <a:t>▸  Transfer learning: ResNet/EfficientNet backbone fine-tuning</a:t>
            </a:r>
          </a:p>
          <a:p>
            <a:pPr>
              <a:spcBef>
                <a:spcPts val="400"/>
              </a:spcBef>
            </a:pPr>
            <a:r>
              <a:rPr sz="1300" b="0">
                <a:solidFill>
                  <a:srgbClr val="FFFFFF"/>
                </a:solidFill>
                <a:latin typeface="Calibri"/>
              </a:rPr>
              <a:t>▸  Temporal fusion: multi-date stack for seasonal dynamics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References</a:t>
            </a:r>
          </a:p>
        </p:txBody>
      </p:sp>
      <p:sp>
        <p:nvSpPr>
          <p:cNvPr id="5" name="Rectangle 4"/>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8" name="TextBox 7"/>
          <p:cNvSpPr txBox="1"/>
          <p:nvPr/>
        </p:nvSpPr>
        <p:spPr>
          <a:xfrm>
            <a:off x="365760" y="1234440"/>
            <a:ext cx="11430000" cy="5303520"/>
          </a:xfrm>
          <a:prstGeom prst="rect">
            <a:avLst/>
          </a:prstGeom>
          <a:noFill/>
        </p:spPr>
        <p:txBody>
          <a:bodyPr wrap="square">
            <a:spAutoFit/>
          </a:bodyPr>
          <a:lstStyle/>
          <a:p>
            <a:pPr>
              <a:spcBef>
                <a:spcPts val="700"/>
              </a:spcBef>
            </a:pPr>
            <a:r>
              <a:rPr sz="1400">
                <a:solidFill>
                  <a:srgbClr val="1A1A2E"/>
                </a:solidFill>
                <a:latin typeface="Calibri"/>
              </a:rPr>
              <a:t>[1]  P. Helber, B. Bischke, A. Dengel, D. Borth. "EuroSAT: A Novel Dataset and Deep Learning Benchmark for Land Use and Land Cover Classification." IEEE JSTARS, 2019.</a:t>
            </a:r>
          </a:p>
          <a:p>
            <a:pPr>
              <a:spcBef>
                <a:spcPts val="700"/>
              </a:spcBef>
            </a:pPr>
            <a:r>
              <a:rPr sz="1400">
                <a:solidFill>
                  <a:srgbClr val="1A1A2E"/>
                </a:solidFill>
                <a:latin typeface="Calibri"/>
              </a:rPr>
              <a:t>[2]  O. Ronneberger, P. Fischer, T. Brox. "U-Net: Convolutional Networks for Biomedical Image Segmentation." MICCAI, 2015.</a:t>
            </a:r>
          </a:p>
          <a:p>
            <a:pPr>
              <a:spcBef>
                <a:spcPts val="700"/>
              </a:spcBef>
            </a:pPr>
            <a:r>
              <a:rPr sz="1400">
                <a:solidFill>
                  <a:srgbClr val="1A1A2E"/>
                </a:solidFill>
                <a:latin typeface="Calibri"/>
              </a:rPr>
              <a:t>[3]  K. He, X. Zhang, S. Ren, J. Sun. "Deep Residual Learning for Image Recognition." CVPR, 2016.</a:t>
            </a:r>
          </a:p>
          <a:p>
            <a:pPr>
              <a:spcBef>
                <a:spcPts val="700"/>
              </a:spcBef>
            </a:pPr>
            <a:r>
              <a:rPr sz="1400">
                <a:solidFill>
                  <a:srgbClr val="1A1A2E"/>
                </a:solidFill>
                <a:latin typeface="Calibri"/>
              </a:rPr>
              <a:t>[4]  E. Maggiori, Y. Tarabalka, G. Charpiat, P. Alliez. "Convolutional Neural Networks for Large-Scale Remote-Sensing Image Classification." IEEE TGRS, 2017.</a:t>
            </a:r>
          </a:p>
          <a:p>
            <a:pPr>
              <a:spcBef>
                <a:spcPts val="700"/>
              </a:spcBef>
            </a:pPr>
            <a:r>
              <a:rPr sz="1400">
                <a:solidFill>
                  <a:srgbClr val="1A1A2E"/>
                </a:solidFill>
                <a:latin typeface="Calibri"/>
              </a:rPr>
              <a:t>[5]  K. S. Nogueira et al. "Exploiting EfficientNet and Transfer Learning for Land Use Classification." Remote Sensing, 2019.</a:t>
            </a:r>
          </a:p>
          <a:p>
            <a:pPr>
              <a:spcBef>
                <a:spcPts val="700"/>
              </a:spcBef>
            </a:pPr>
            <a:r>
              <a:rPr sz="1400">
                <a:solidFill>
                  <a:srgbClr val="1A1A2E"/>
                </a:solidFill>
                <a:latin typeface="Calibri"/>
              </a:rPr>
              <a:t>[6]  Y. Li et al. "Deep Learning for Remote Sensing Image Classification: A Survey." Wiley WIREs Data Mining, 2018.</a:t>
            </a:r>
          </a:p>
          <a:p>
            <a:pPr>
              <a:spcBef>
                <a:spcPts val="700"/>
              </a:spcBef>
            </a:pPr>
            <a:r>
              <a:rPr sz="1400">
                <a:solidFill>
                  <a:srgbClr val="1A1A2E"/>
                </a:solidFill>
                <a:latin typeface="Calibri"/>
              </a:rPr>
              <a:t>[7]  S. Ioffe, C. Szegedy. "Batch Normalization: Accelerating Deep Network Training." ICML, 2015.</a:t>
            </a:r>
          </a:p>
          <a:p>
            <a:pPr>
              <a:spcBef>
                <a:spcPts val="700"/>
              </a:spcBef>
            </a:pPr>
            <a:r>
              <a:rPr sz="1400">
                <a:solidFill>
                  <a:srgbClr val="1A1A2E"/>
                </a:solidFill>
                <a:latin typeface="Calibri"/>
              </a:rPr>
              <a:t>[8]  D. P. Kingma, J. Ba. "Adam: A Method for Stochastic Optimization." ICLR, 2015.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4861</Words>
  <Application>Microsoft Office PowerPoint</Application>
  <PresentationFormat>Произвольный</PresentationFormat>
  <Paragraphs>477</Paragraphs>
  <Slides>21</Slides>
  <Notes>21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21</vt:i4>
      </vt:variant>
    </vt:vector>
  </HeadingPairs>
  <TitlesOfParts>
    <vt:vector size="25" baseType="lpstr">
      <vt:lpstr>Arial</vt:lpstr>
      <vt:lpstr>Calibri</vt:lpstr>
      <vt:lpstr>Courier New</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мария шмелева</cp:lastModifiedBy>
  <cp:revision>5</cp:revision>
  <dcterms:created xsi:type="dcterms:W3CDTF">2013-01-27T09:14:16Z</dcterms:created>
  <dcterms:modified xsi:type="dcterms:W3CDTF">2026-04-17T16:39:26Z</dcterms:modified>
  <cp:category/>
</cp:coreProperties>
</file>